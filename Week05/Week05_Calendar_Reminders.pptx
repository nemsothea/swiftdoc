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Welcome! Today we build the Calendar &amp; Reminders tab of the Smart Farmer Assistant. By the end, students will have a working month grid, a FarmActivity Core Data model, local notifications that survive app relaunches, and deep-link navigation from a notification tap. Everything is pure SwiftUI — no AppDelegate. UI suggestion: open with the finished app on screen so learners see the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five lessons briefly — do NOT deep-dive yet. Set expectations: by lesson 5.5 everything will click together via NotificationCenter. UI suggestion: 2-column layout — objectives on the left, scrollable lesson chips on the right. Animation: fade in the chips one-by-one.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we do not use the stock DatePicker(.graphical): we need a custom 'has-activity' dot under each day, Khmer month labels, and control over blank leading cells. Call out the two pieces of state — selectedDate is a @Binding owned by CalendarTabView, displayedMonth is @State private to the grid. UI suggestion: side-by-side — bullet list on the left, live mock calendar on the right. Animation: build-in day cells with a quick fade-cascade (Keynote: 'Appear' by object, 0.05s delay).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attribute and why it exists. Emphasise that `id: UUID?` does double duty as the notification request identifier — this is how we later cancel or replace the pending notification. Show Xcode's Data Model Inspector and point to Codegen → Manual/None. UI suggestion: image-left (attribute cards) + code-right. Animation: slide-from-left for cards, slide-from-right for the code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permission prompt fires ONCE. After that, requestAuthorization returns the stored answer without UI. This is why we ask only when the student first toggles 'បើកការរំលឹក' — not at app launch. Also call out the main-thread hop: the callback runs on a background queue and @Published updates must happen on the main thread. UI suggestion: image-right with an iPhone-style mock of the permission dialog. Animation: zoom-in on the dialog card after the 5 flow steps fade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Three objects working together: Content (what), Trigger (when), Request (combine + add). Stress the guard on `date &gt; Date()` — iOS silently drops past-date requests. Explain why identifier = UUID string: re-saving an activity REPLACES the old request; deleting an activity can cancel its reminder precisely. UI suggestion: 2-column — concept cards left, annotated Swift code right. Animation: slide-from-right for the code block to imply 'code as the destination'.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delegate is the 'publisher' side; the two views are 'subscribers'. Foundation's NotificationCenter is a decoupled event bus — great fit because the service doesn't import SwiftUI. Remind students: delegate is already set in init() from Lesson 5.3, so no AppDelegate or UIApplicationDelegateAdaptor is needed. UI suggestion: 2-column — flow + callout left, delegate code right, subscriber code at bottom. Animation: fade the bullets, then slide-from-right for the delegate code, then fade the subscriber snippet.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money slide. Trace a single activityID from save → schedule → deliver → tap → both subscribers. Ask the class: 'what if we forgot to put activityID in userInfo?' (Answer: deep-linking breaks — we can switch tabs but can't select the right date.) UI suggestion: full-width horizontal pipeline with a payload strip underneath. Animation: appear each node left-to-right with a 0.15s delay; arrows wipe-right after each node.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 line-by-line. Pause on line 6 (identifier = UUID string) — this is the trick that makes update/delete free. Also pause on line 1 to reinforce: early-return is the SwiftUI way, don't throw from here. UI suggestion: numbered list of code+commentary cards, 7 rows. Animation: cascading fade-in (0.1s stagger), Keynote calls this 'Appear by Object'.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48640"/>
            <a:ext cx="1463040" cy="14630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3108960"/>
            <a:ext cx="822960" cy="8229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045075" y="2425065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5486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" tIns="20000" rIns="40000" bIns="20000" rtlCol="0" anchor="ctr"/>
          <a:lstStyle/>
          <a:p>
            <a:pPr algn="ctr"/>
            <a:r>
              <a:rPr sz="1100" b="1">
                <a:solidFill>
                  <a:srgbClr val="0A84FF"/>
                </a:solidFill>
                <a:latin typeface="SF Pro Text"/>
              </a:rPr>
              <a:t>iOS · SwiftUI · Week 5</a:t>
            </a:r>
            <a:endParaRPr sz="11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13716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F Pro Display"/>
              </a:rPr>
              <a:t>Building Calendar &amp; Reminder</a:t>
            </a:r>
            <a:endParaRPr sz="5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1372215" cy="8788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F Pro Display"/>
              </a:rPr>
              <a:t>Feature in iOS</a:t>
            </a:r>
            <a:endParaRPr sz="5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28625" y="3052445"/>
            <a:ext cx="1097280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F Pro Text"/>
              </a:rPr>
              <a:t>SwiftUI  ·  Core Data  ·  Local Notifications</a:t>
            </a:r>
            <a:endParaRPr sz="2200" b="0">
              <a:solidFill>
                <a:srgbClr val="FFFFFF"/>
              </a:solidFill>
              <a:latin typeface="SF Pro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548640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8E8E93"/>
                </a:solidFill>
                <a:latin typeface="SF Pro Text"/>
              </a:rPr>
              <a:t>AUDIENCE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5486400" cy="3860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lang="en-US" sz="2000" b="1">
                <a:solidFill>
                  <a:srgbClr val="1C1C1E"/>
                </a:solidFill>
                <a:latin typeface="SF Pro Display"/>
              </a:rPr>
              <a:t>Advance </a:t>
            </a:r>
            <a:r>
              <a:rPr sz="2000" b="1">
                <a:solidFill>
                  <a:srgbClr val="1C1C1E"/>
                </a:solidFill>
                <a:latin typeface="SF Pro Display"/>
              </a:rPr>
              <a:t>iOS Developers</a:t>
            </a:r>
            <a:endParaRPr sz="2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6400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8E8E93"/>
                </a:solidFill>
                <a:latin typeface="SF Pro Text"/>
              </a:rPr>
              <a:t>Month grid · FarmActivity entity · UNUserNotificationCenter · Deep-linking</a:t>
            </a:r>
            <a:endParaRPr sz="13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0" y="4709160"/>
            <a:ext cx="438912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100" b="1">
                <a:solidFill>
                  <a:srgbClr val="8E8E93"/>
                </a:solidFill>
                <a:latin typeface="SF Pro Text"/>
              </a:rPr>
              <a:t>PROJECT 2 — SMART FARMER ASSISTANT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0" y="4983480"/>
            <a:ext cx="438912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2000" b="1">
                <a:solidFill>
                  <a:srgbClr val="1C1C1E"/>
                </a:solidFill>
                <a:latin typeface="SF Pro Display"/>
              </a:rPr>
              <a:t>CalendarReminders Module</a:t>
            </a:r>
            <a:endParaRPr sz="2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0" y="5440680"/>
            <a:ext cx="438912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300" b="0">
                <a:solidFill>
                  <a:srgbClr val="8E8E93"/>
                </a:solidFill>
                <a:latin typeface="SF Pro Text"/>
              </a:rPr>
              <a:t>iOS 13+ compatible — ObservableObject · NavigationView</a:t>
            </a:r>
            <a:endParaRPr sz="13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AGENDA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What you'll build this week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LEARNING OBJECTIVES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577840" cy="411480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Build a month calendar with DatePicker + custom LazyVGrid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Model FarmActivity in Core Data (date, type, notes, reminder)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Request notification permission the right way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Schedule local reminders with UNUserNotificationCenter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Deep-link from a notification tap back to the activity</a:t>
            </a:r>
            <a:endParaRPr sz="17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1874520"/>
            <a:ext cx="607695" cy="50419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5.1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69480" y="1920240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Calendar View — DatePicker &amp; Grid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39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2743200"/>
            <a:ext cx="617855" cy="497205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5.2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9480" y="2788919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FarmActivity Core Data Model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347472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3611880"/>
            <a:ext cx="639445" cy="514985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5.3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69480" y="3657600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Notification Permission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92240" y="434340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480560"/>
            <a:ext cx="654050" cy="55753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5.4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69480" y="4526280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Scheduling Local Notifications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5212079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5349240"/>
            <a:ext cx="654050" cy="58674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5.5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69480" y="5394959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Deep-linking on Notification Tap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2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5.1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Calendar UI — DatePicker + Custom Grid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486400" cy="438912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Month header with ‹ › chevrons (previousMonth / nextMonth)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LazyVGrid with 7 columns — Sun → Sat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firstWeekdayOffset renders blank leading cells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DayCellView shows selection, today, and a green 'has activity' dot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selectedDate is @Binding — taps drive the filtered list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displayedMonth is @State local to the grid — chevrons never move the user's pick</a:t>
            </a:r>
            <a:endParaRPr sz="16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0" y="1737360"/>
            <a:ext cx="4754880" cy="4480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0" y="1920240"/>
            <a:ext cx="47548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800" b="1">
                <a:solidFill>
                  <a:srgbClr val="1C1C1E"/>
                </a:solidFill>
                <a:latin typeface="SF Pro Display"/>
              </a:rPr>
              <a:t>‹     មេសា  2026     ›</a:t>
            </a:r>
            <a:endParaRPr sz="18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95160" y="2468880"/>
            <a:ext cx="603504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1">
                <a:solidFill>
                  <a:srgbClr val="8E8E93"/>
                </a:solidFill>
                <a:latin typeface="SF Pro Text"/>
              </a:rPr>
              <a:t>អា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98664" y="2468880"/>
            <a:ext cx="603504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1">
                <a:solidFill>
                  <a:srgbClr val="8E8E93"/>
                </a:solidFill>
                <a:latin typeface="SF Pro Text"/>
              </a:rPr>
              <a:t>ច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02168" y="2468880"/>
            <a:ext cx="603504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1">
                <a:solidFill>
                  <a:srgbClr val="8E8E93"/>
                </a:solidFill>
                <a:latin typeface="SF Pro Text"/>
              </a:rPr>
              <a:t>អ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05672" y="2468880"/>
            <a:ext cx="603504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1">
                <a:solidFill>
                  <a:srgbClr val="8E8E93"/>
                </a:solidFill>
                <a:latin typeface="SF Pro Text"/>
              </a:rPr>
              <a:t>ពុ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09176" y="2468880"/>
            <a:ext cx="603504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1">
                <a:solidFill>
                  <a:srgbClr val="8E8E93"/>
                </a:solidFill>
                <a:latin typeface="SF Pro Text"/>
              </a:rPr>
              <a:t>ព្រ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012680" y="2468880"/>
            <a:ext cx="603504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1">
                <a:solidFill>
                  <a:srgbClr val="8E8E93"/>
                </a:solidFill>
                <a:latin typeface="SF Pro Text"/>
              </a:rPr>
              <a:t>សុ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616184" y="2468880"/>
            <a:ext cx="603504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1">
                <a:solidFill>
                  <a:srgbClr val="8E8E93"/>
                </a:solidFill>
                <a:latin typeface="SF Pro Text"/>
              </a:rPr>
              <a:t>ស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8878824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9482328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10085832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3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10268712" y="3264408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689336" y="2788920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4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1" name="Oval 20"/>
          <p:cNvSpPr/>
          <p:nvPr/>
        </p:nvSpPr>
        <p:spPr>
          <a:xfrm>
            <a:off x="7068312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5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7671816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6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8275320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7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8458200" y="3831336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78824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8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6" name="Oval 25"/>
          <p:cNvSpPr/>
          <p:nvPr/>
        </p:nvSpPr>
        <p:spPr>
          <a:xfrm>
            <a:off x="9482328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9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10085832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10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8" name="Oval 27"/>
          <p:cNvSpPr/>
          <p:nvPr/>
        </p:nvSpPr>
        <p:spPr>
          <a:xfrm>
            <a:off x="10689336" y="3355848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11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7068312" y="392277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12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7671816" y="392277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13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1" name="Oval 30"/>
          <p:cNvSpPr/>
          <p:nvPr/>
        </p:nvSpPr>
        <p:spPr>
          <a:xfrm>
            <a:off x="8275320" y="392277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14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2" name="Oval 31"/>
          <p:cNvSpPr/>
          <p:nvPr/>
        </p:nvSpPr>
        <p:spPr>
          <a:xfrm>
            <a:off x="8878824" y="3922775"/>
            <a:ext cx="457200" cy="45720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Text"/>
              </a:rPr>
              <a:t>15</a:t>
            </a:r>
            <a:endParaRPr sz="1200" b="1">
              <a:solidFill>
                <a:srgbClr val="FFFFFF"/>
              </a:solidFill>
              <a:latin typeface="SF Pro Text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9061704" y="4398263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482328" y="392277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16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5" name="Oval 34"/>
          <p:cNvSpPr/>
          <p:nvPr/>
        </p:nvSpPr>
        <p:spPr>
          <a:xfrm>
            <a:off x="10085832" y="392277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17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0689336" y="3922775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18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7" name="Oval 36"/>
          <p:cNvSpPr/>
          <p:nvPr/>
        </p:nvSpPr>
        <p:spPr>
          <a:xfrm>
            <a:off x="7068312" y="448970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19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8" name="Oval 37"/>
          <p:cNvSpPr/>
          <p:nvPr/>
        </p:nvSpPr>
        <p:spPr>
          <a:xfrm>
            <a:off x="7671816" y="448970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20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8275320" y="448970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21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0" name="Oval 39"/>
          <p:cNvSpPr/>
          <p:nvPr/>
        </p:nvSpPr>
        <p:spPr>
          <a:xfrm>
            <a:off x="8878824" y="4489704"/>
            <a:ext cx="457200" cy="457200"/>
          </a:xfrm>
          <a:prstGeom prst="ellipse">
            <a:avLst/>
          </a:prstGeom>
          <a:solidFill>
            <a:srgbClr val="D6E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1">
                <a:solidFill>
                  <a:srgbClr val="0A84FF"/>
                </a:solidFill>
                <a:latin typeface="SF Pro Text"/>
              </a:rPr>
              <a:t>22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41" name="Oval 40"/>
          <p:cNvSpPr/>
          <p:nvPr/>
        </p:nvSpPr>
        <p:spPr>
          <a:xfrm>
            <a:off x="9061704" y="4965192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482328" y="448970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23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3" name="Oval 42"/>
          <p:cNvSpPr/>
          <p:nvPr/>
        </p:nvSpPr>
        <p:spPr>
          <a:xfrm>
            <a:off x="10085832" y="448970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24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4" name="Oval 43"/>
          <p:cNvSpPr/>
          <p:nvPr/>
        </p:nvSpPr>
        <p:spPr>
          <a:xfrm>
            <a:off x="10689336" y="4489704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25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10872216" y="4965192"/>
            <a:ext cx="91440" cy="9144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068312" y="5056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26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7" name="Oval 46"/>
          <p:cNvSpPr/>
          <p:nvPr/>
        </p:nvSpPr>
        <p:spPr>
          <a:xfrm>
            <a:off x="7671816" y="5056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27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8" name="Oval 47"/>
          <p:cNvSpPr/>
          <p:nvPr/>
        </p:nvSpPr>
        <p:spPr>
          <a:xfrm>
            <a:off x="8275320" y="5056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28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878824" y="5056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29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9482328" y="5056632"/>
            <a:ext cx="457200" cy="457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30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7132320" y="5714999"/>
            <a:ext cx="4389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SF Pro Text"/>
              </a:rPr>
              <a:t>●  has activity    ●  today    ●  selected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3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5.2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Core Data Model — FarmActivity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4864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ATTRIBUTES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id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6040" y="2121408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UUID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2121408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Unique ID (also notification identifier)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62432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title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6040" y="2688336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0" y="2688336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Shown in the activity list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3191256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55264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activityType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06040" y="3255264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3255264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ដាំដំណាំ · ស្រោចទឹក · បាញ់ថ្នាំ · ច្រូតកាត់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3758184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2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date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6040" y="3822192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Date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0" y="3822192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Day + time — drives the trigger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4325112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notes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06040" y="4389120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0" y="4389120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Optional description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56048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isCompleted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06040" y="4956048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Bool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74720" y="4956048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Checkbox state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85800" y="545896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522976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reminderEnabled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06040" y="5522976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Bool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74720" y="5522976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Whether a local notification is scheduled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29400" y="1920240"/>
            <a:ext cx="4983480" cy="292608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1920240"/>
            <a:ext cx="4983480" cy="2926080"/>
          </a:xfrm>
          <a:prstGeom prst="rect">
            <a:avLst/>
          </a:prstGeom>
          <a:noFill/>
        </p:spPr>
        <p:txBody>
          <a:bodyPr wrap="square" lIns="140000" tIns="100000" rIns="80000">
            <a:spAutoFit/>
          </a:bodyPr>
          <a:lstStyle/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// FarmActivity+CoreDataProperties.swift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extension FarmActivity {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id: UUID?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title: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activityType: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date: Date?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notes: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isCompleted: Bool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reminderEnabled: Bool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}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extension FarmActivity: Identifiable {}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629400" y="4983480"/>
            <a:ext cx="4983480" cy="118872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5074920"/>
            <a:ext cx="45720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FF9500"/>
                </a:solidFill>
                <a:latin typeface="SF Pro Display"/>
              </a:rPr>
              <a:t>⚠️  Codegen: Manual / None</a:t>
            </a:r>
            <a:endParaRPr sz="1300" b="1">
              <a:solidFill>
                <a:srgbClr val="FF9500"/>
              </a:solidFill>
              <a:latin typeface="SF Pro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0" y="5394960"/>
            <a:ext cx="457200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Set this in the Data Model Inspector — otherwise Xcode auto-generates the class and you'll get duplicate-symbol errors.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4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5.3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Notification Permission Flow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Oval 5"/>
          <p:cNvSpPr/>
          <p:nvPr/>
        </p:nvSpPr>
        <p:spPr>
          <a:xfrm>
            <a:off x="685800" y="1856232"/>
            <a:ext cx="502920" cy="5029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1</a:t>
            </a:r>
            <a:endParaRPr sz="16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25880" y="1920240"/>
            <a:ext cx="493776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SF Pro Text"/>
              </a:rPr>
              <a:t>App launches → NotificationManager.shared as @StateObject</a:t>
            </a:r>
            <a:endParaRPr sz="14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8" name="Oval 7"/>
          <p:cNvSpPr/>
          <p:nvPr/>
        </p:nvSpPr>
        <p:spPr>
          <a:xfrm>
            <a:off x="685800" y="2633472"/>
            <a:ext cx="502920" cy="5029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2</a:t>
            </a:r>
            <a:endParaRPr sz="16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880" y="2697480"/>
            <a:ext cx="493776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SF Pro Text"/>
              </a:rPr>
              <a:t>init() sets self as UNUserNotificationCenter delegate</a:t>
            </a:r>
            <a:endParaRPr sz="14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85800" y="3410712"/>
            <a:ext cx="502920" cy="5029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3</a:t>
            </a:r>
            <a:endParaRPr sz="16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25880" y="3474720"/>
            <a:ext cx="493776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SF Pro Text"/>
              </a:rPr>
              <a:t>User toggles 'បើកការរំលឹក' on an activity</a:t>
            </a:r>
            <a:endParaRPr sz="14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685800" y="4187952"/>
            <a:ext cx="502920" cy="5029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4</a:t>
            </a:r>
            <a:endParaRPr sz="16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5880" y="4251960"/>
            <a:ext cx="493776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SF Pro Text"/>
              </a:rPr>
              <a:t>requestPermission(options: [.alert, .badge, .sound])</a:t>
            </a:r>
            <a:endParaRPr sz="14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85800" y="4965192"/>
            <a:ext cx="502920" cy="50292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F Pro Display"/>
              </a:rPr>
              <a:t>5</a:t>
            </a:r>
            <a:endParaRPr sz="16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325880" y="5029200"/>
            <a:ext cx="493776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0">
                <a:solidFill>
                  <a:srgbClr val="1C1C1E"/>
                </a:solidFill>
                <a:latin typeface="SF Pro Text"/>
              </a:rPr>
              <a:t>Allow → isAuthorized = true   ·   Deny → open Settings alert</a:t>
            </a:r>
            <a:endParaRPr sz="14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589520" y="1737360"/>
            <a:ext cx="3566160" cy="448056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818120" y="2560320"/>
            <a:ext cx="3108960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06840" y="2788920"/>
            <a:ext cx="731520" cy="73152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>
                <a:latin typeface="SF Pro Text"/>
              </a:rPr>
              <a:t>🔔</a:t>
            </a:r>
            <a:endParaRPr sz="2800">
              <a:latin typeface="SF Pro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63840" y="3611879"/>
            <a:ext cx="301752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400" b="1">
                <a:solidFill>
                  <a:srgbClr val="1C1C1E"/>
                </a:solidFill>
                <a:latin typeface="SF Pro Display"/>
              </a:rPr>
              <a:t>"SmartFarmer" Would Like to</a:t>
            </a:r>
            <a:endParaRPr sz="14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63840" y="3931920"/>
            <a:ext cx="301752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400" b="1">
                <a:solidFill>
                  <a:srgbClr val="1C1C1E"/>
                </a:solidFill>
                <a:latin typeface="SF Pro Display"/>
              </a:rPr>
              <a:t>Send You Notifications</a:t>
            </a:r>
            <a:endParaRPr sz="14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863840" y="4343400"/>
            <a:ext cx="301752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100" b="0">
                <a:solidFill>
                  <a:srgbClr val="8E8E93"/>
                </a:solidFill>
                <a:latin typeface="SF Pro Text"/>
              </a:rPr>
              <a:t>Reminders for your farm activities will appear on the lock screen.</a:t>
            </a:r>
            <a:endParaRPr sz="11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7863840" y="50749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solidFill>
              <a:srgbClr val="D1D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0A84FF"/>
                </a:solidFill>
                <a:latin typeface="SF Pro Text"/>
              </a:rPr>
              <a:t>Don't Allow</a:t>
            </a:r>
            <a:endParaRPr sz="1100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9281160" y="5074920"/>
            <a:ext cx="1325880" cy="347472"/>
          </a:xfrm>
          <a:prstGeom prst="roundRect">
            <a:avLst>
              <a:gd name="adj" fmla="val 5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SF Pro Text"/>
              </a:rPr>
              <a:t>Allow</a:t>
            </a:r>
            <a:endParaRPr sz="1100" b="1">
              <a:solidFill>
                <a:srgbClr val="FFFFFF"/>
              </a:solidFill>
              <a:latin typeface="SF Pro Tex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863840" y="5669280"/>
            <a:ext cx="3017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000" b="0">
                <a:solidFill>
                  <a:srgbClr val="8E8E93"/>
                </a:solidFill>
                <a:latin typeface="SF Pro Text"/>
              </a:rPr>
              <a:t>System-level dialog — shows once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5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5.4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Scheduling Local Notifications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5577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5303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UNMutableNotificationContent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530352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1C1C1E"/>
                </a:solidFill>
                <a:latin typeface="SF Pro Text"/>
              </a:rPr>
              <a:t>What the user sees</a:t>
            </a:r>
            <a:endParaRPr sz="1100" b="1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395728"/>
            <a:ext cx="530352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Menlo" panose="020B0609030804020204"/>
              </a:rPr>
              <a:t>title · body · sound · userInfo["activityID"]</a:t>
            </a:r>
            <a:endParaRPr sz="10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971800"/>
            <a:ext cx="5577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63240"/>
            <a:ext cx="5303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UNCalendarNotificationTrigger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68680" y="3355848"/>
            <a:ext cx="530352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1C1C1E"/>
                </a:solidFill>
                <a:latin typeface="SF Pro Text"/>
              </a:rPr>
              <a:t>When it fires</a:t>
            </a:r>
            <a:endParaRPr sz="1100" b="1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630168"/>
            <a:ext cx="530352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Menlo" panose="020B0609030804020204"/>
              </a:rPr>
              <a:t>dateMatching: [.year, .month, .day, .hour, .minute]</a:t>
            </a:r>
            <a:endParaRPr sz="10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4206240"/>
            <a:ext cx="55778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297680"/>
            <a:ext cx="5303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UNNotificationRequest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590288"/>
            <a:ext cx="530352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1C1C1E"/>
                </a:solidFill>
                <a:latin typeface="SF Pro Text"/>
              </a:rPr>
              <a:t>Content + trigger</a:t>
            </a:r>
            <a:endParaRPr sz="1100" b="1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68680" y="4864608"/>
            <a:ext cx="530352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Menlo" panose="020B0609030804020204"/>
              </a:rPr>
              <a:t>identifier = activity.id.uuidString  (same ID replaces previous)</a:t>
            </a:r>
            <a:endParaRPr sz="10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0" y="1737360"/>
            <a:ext cx="5029200" cy="448056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1737360"/>
            <a:ext cx="5029200" cy="4480560"/>
          </a:xfrm>
          <a:prstGeom prst="rect">
            <a:avLst/>
          </a:prstGeom>
          <a:noFill/>
        </p:spPr>
        <p:txBody>
          <a:bodyPr wrap="square" lIns="140000" tIns="100000" rIns="80000">
            <a:spAutoFit/>
          </a:bodyPr>
          <a:lstStyle/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func scheduleNotification(for activity: FarmActivity) {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guard let id    = activity.id,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      let title = activity.title,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      let date  = activity.date else { return }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guard date &gt; Date() else { return }     // skip past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let content = UNMutableNotificationContent()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content.title = "🌾 កម្មវិធីកសិកម្ម"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content.body  = title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content.sound = .default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content.userInfo = ["activityID": id.uuidString]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let comps = Calendar.current.dateComponents(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  [.year,.month,.day,.hour,.minute], from: date)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let trigger = UNCalendarNotificationTrigger(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  dateMatching: comps, repeats: false)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let request = UNNotificationRequest(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  identifier: id.uuidString,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  content: content, trigger: trigger)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  UNUserNotificationCenter.current().add(request)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000">
                <a:solidFill>
                  <a:srgbClr val="F2F2F7"/>
                </a:solidFill>
                <a:latin typeface="Menlo" panose="020B0609030804020204"/>
              </a:rPr>
              <a:t>}</a:t>
            </a:r>
            <a:endParaRPr sz="1000">
              <a:solidFill>
                <a:srgbClr val="F2F2F7"/>
              </a:solidFill>
              <a:latin typeface="Menlo" panose="020B0609030804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6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5.5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Notification Tap → Deep Link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577840" cy="429768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NotificationManager implements UNUserNotificationCenterDelegate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didReceive(response:) reads activityID from userInfo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Posts .didTapActivityNotification via Foundation NotificationCenter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MainTabView.onReceive → selectedTab = 1 (Calendar)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CalendarTabView.onReceive → selectedDate = activity.date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Decoupled: the service has no SwiftUI dependencies</a:t>
            </a:r>
            <a:endParaRPr sz="15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4937760"/>
            <a:ext cx="5577840" cy="1280160"/>
          </a:xfrm>
          <a:prstGeom prst="roundRect">
            <a:avLst>
              <a:gd name="adj" fmla="val 6000"/>
            </a:avLst>
          </a:prstGeom>
          <a:solidFill>
            <a:srgbClr val="E6F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5029200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0A84FF"/>
                </a:solidFill>
                <a:latin typeface="SF Pro Display"/>
              </a:rPr>
              <a:t>💡  Why NotificationCenter (not direct references)?</a:t>
            </a:r>
            <a:endParaRPr sz="1300" b="1">
              <a:solidFill>
                <a:srgbClr val="0A84FF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5349240"/>
            <a:ext cx="5212080" cy="7772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NotificationManager doesn't know about views. An event bus keeps the service testable and the views independent subscribers.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583680" y="1737360"/>
            <a:ext cx="5029200" cy="384048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737360"/>
            <a:ext cx="5029200" cy="3840480"/>
          </a:xfrm>
          <a:prstGeom prst="rect">
            <a:avLst/>
          </a:prstGeom>
          <a:noFill/>
        </p:spPr>
        <p:txBody>
          <a:bodyPr wrap="square" lIns="140000" tIns="100000" rIns="80000">
            <a:spAutoFit/>
          </a:bodyPr>
          <a:lstStyle/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func userNotificationCenter(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_ center: UNUserNotificationCenter,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didReceive response: UNNotificationResponse,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withCompletionHandler done: @escaping () -&gt; Void) {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let info = response.notification.request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              .content.userInfo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if let s  = info["activityID"] as? String,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 let id = UUID(uuidString: s) {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DispatchQueue.main.async {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  NotificationCenter.default.post(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    name: .didTapActivityNotification,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    object: nil,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    userInfo: ["activityID": id])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}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}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done()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}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583680" y="5669280"/>
            <a:ext cx="5029200" cy="54864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669280"/>
            <a:ext cx="5029200" cy="548640"/>
          </a:xfrm>
          <a:prstGeom prst="rect">
            <a:avLst/>
          </a:prstGeom>
          <a:noFill/>
        </p:spPr>
        <p:txBody>
          <a:bodyPr wrap="square" lIns="140000" tIns="100000" rIns="80000">
            <a:spAutoFit/>
          </a:bodyPr>
          <a:lstStyle/>
          <a:p>
            <a:pPr algn="l"/>
            <a:r>
              <a:rPr sz="900">
                <a:solidFill>
                  <a:srgbClr val="F2F2F7"/>
                </a:solidFill>
                <a:latin typeface="Menlo" panose="020B0609030804020204"/>
              </a:rPr>
              <a:t>.onReceive(NotificationCenter.default</a:t>
            </a:r>
            <a:endParaRPr sz="9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900">
                <a:solidFill>
                  <a:srgbClr val="F2F2F7"/>
                </a:solidFill>
                <a:latin typeface="Menlo" panose="020B0609030804020204"/>
              </a:rPr>
              <a:t>  .publisher(for: .didTapActivityNotification)) { note in</a:t>
            </a:r>
            <a:endParaRPr sz="9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900">
                <a:solidFill>
                  <a:srgbClr val="F2F2F7"/>
                </a:solidFill>
                <a:latin typeface="Menlo" panose="020B0609030804020204"/>
              </a:rPr>
              <a:t>    if let id = note.userInfo?["activityID"] as? UUID,</a:t>
            </a:r>
            <a:endParaRPr sz="9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900">
                <a:solidFill>
                  <a:srgbClr val="F2F2F7"/>
                </a:solidFill>
                <a:latin typeface="Menlo" panose="020B0609030804020204"/>
              </a:rPr>
              <a:t>       let a = activities.first(where: { $0.id == id }),</a:t>
            </a:r>
            <a:endParaRPr sz="9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900">
                <a:solidFill>
                  <a:srgbClr val="F2F2F7"/>
                </a:solidFill>
                <a:latin typeface="Menlo" panose="020B0609030804020204"/>
              </a:rPr>
              <a:t>       let d = a.date { selectedDate = d }</a:t>
            </a:r>
            <a:endParaRPr sz="9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900">
                <a:solidFill>
                  <a:srgbClr val="F2F2F7"/>
                </a:solidFill>
                <a:latin typeface="Menlo" panose="020B0609030804020204"/>
              </a:rPr>
              <a:t>}</a:t>
            </a:r>
            <a:endParaRPr sz="900">
              <a:solidFill>
                <a:srgbClr val="F2F2F7"/>
              </a:solidFill>
              <a:latin typeface="Menlo" panose="020B0609030804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7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DIAGRAM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End-to-end Notification Flow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103120"/>
            <a:ext cx="1691640" cy="201168"/>
          </a:xfrm>
          <a:prstGeom prst="roundRect">
            <a:avLst>
              <a:gd name="adj" fmla="val 4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2176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84FF"/>
                </a:solidFill>
                <a:latin typeface="SF Pro Display"/>
              </a:rPr>
              <a:t>1</a:t>
            </a:r>
            <a:endParaRPr sz="1000" b="1">
              <a:solidFill>
                <a:srgbClr val="0A84FF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1C1C1E"/>
                </a:solidFill>
                <a:latin typeface="SF Pro Display"/>
              </a:rPr>
              <a:t>User saves</a:t>
            </a:r>
            <a:endParaRPr sz="13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697479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 panose="020B0609030804020204"/>
              </a:rPr>
              <a:t>AddActivityView</a:t>
            </a:r>
            <a:endParaRPr sz="9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249424" y="2468879"/>
            <a:ext cx="146304" cy="182880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04872" y="2103120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404872" y="2103120"/>
            <a:ext cx="1691640" cy="201168"/>
          </a:xfrm>
          <a:prstGeom prst="roundRect">
            <a:avLst>
              <a:gd name="adj" fmla="val 40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96312" y="2176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A84FF"/>
                </a:solidFill>
                <a:latin typeface="SF Pro Display"/>
              </a:rPr>
              <a:t>2</a:t>
            </a:r>
            <a:endParaRPr sz="1000" b="1">
              <a:solidFill>
                <a:srgbClr val="0A84FF"/>
              </a:solidFill>
              <a:latin typeface="SF Pro Display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04872" y="2423160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1C1C1E"/>
                </a:solidFill>
                <a:latin typeface="SF Pro Display"/>
              </a:rPr>
              <a:t>Core Data</a:t>
            </a:r>
            <a:endParaRPr sz="13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404872" y="2697479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 panose="020B0609030804020204"/>
              </a:rPr>
              <a:t>FarmActivity.save()</a:t>
            </a:r>
            <a:endParaRPr sz="9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105656" y="2468879"/>
            <a:ext cx="146304" cy="182880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61104" y="2103120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61104" y="2103120"/>
            <a:ext cx="1691640" cy="201168"/>
          </a:xfrm>
          <a:prstGeom prst="roundRect">
            <a:avLst>
              <a:gd name="adj" fmla="val 4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52544" y="2176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9500"/>
                </a:solidFill>
                <a:latin typeface="SF Pro Display"/>
              </a:rPr>
              <a:t>3</a:t>
            </a:r>
            <a:endParaRPr sz="1000" b="1">
              <a:solidFill>
                <a:srgbClr val="FF9500"/>
              </a:solidFill>
              <a:latin typeface="SF Pro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61104" y="2423160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1C1C1E"/>
                </a:solidFill>
                <a:latin typeface="SF Pro Display"/>
              </a:rPr>
              <a:t>Schedule</a:t>
            </a:r>
            <a:endParaRPr sz="13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261104" y="2697479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 panose="020B0609030804020204"/>
              </a:rPr>
              <a:t>UNUserNotificationCenter</a:t>
            </a:r>
            <a:endParaRPr sz="9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23" name="Right Arrow 22"/>
          <p:cNvSpPr/>
          <p:nvPr/>
        </p:nvSpPr>
        <p:spPr>
          <a:xfrm>
            <a:off x="5961888" y="2468879"/>
            <a:ext cx="146304" cy="182880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17336" y="2103120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17336" y="2103120"/>
            <a:ext cx="1691640" cy="201168"/>
          </a:xfrm>
          <a:prstGeom prst="roundRect">
            <a:avLst>
              <a:gd name="adj" fmla="val 40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208776" y="2176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9500"/>
                </a:solidFill>
                <a:latin typeface="SF Pro Display"/>
              </a:rPr>
              <a:t>4</a:t>
            </a:r>
            <a:endParaRPr sz="1000" b="1">
              <a:solidFill>
                <a:srgbClr val="FF9500"/>
              </a:solidFill>
              <a:latin typeface="SF Pro Display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117336" y="2423160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1C1C1E"/>
                </a:solidFill>
                <a:latin typeface="SF Pro Display"/>
              </a:rPr>
              <a:t>Deliver</a:t>
            </a:r>
            <a:endParaRPr sz="13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117336" y="2697479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 panose="020B0609030804020204"/>
              </a:rPr>
              <a:t>iOS at trigger time</a:t>
            </a:r>
            <a:endParaRPr sz="9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7818120" y="2468879"/>
            <a:ext cx="146304" cy="182880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973568" y="2103120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973568" y="2103120"/>
            <a:ext cx="1691640" cy="201168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065008" y="2176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4C759"/>
                </a:solidFill>
                <a:latin typeface="SF Pro Display"/>
              </a:rPr>
              <a:t>5</a:t>
            </a:r>
            <a:endParaRPr sz="10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973568" y="2423160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1C1C1E"/>
                </a:solidFill>
                <a:latin typeface="SF Pro Display"/>
              </a:rPr>
              <a:t>Tap</a:t>
            </a:r>
            <a:endParaRPr sz="13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973568" y="2697479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 panose="020B0609030804020204"/>
              </a:rPr>
              <a:t>didReceive(response:)</a:t>
            </a:r>
            <a:endParaRPr sz="9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35" name="Right Arrow 34"/>
          <p:cNvSpPr/>
          <p:nvPr/>
        </p:nvSpPr>
        <p:spPr>
          <a:xfrm>
            <a:off x="9674352" y="2468879"/>
            <a:ext cx="146304" cy="182880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829800" y="2103120"/>
            <a:ext cx="1691640" cy="9144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829800" y="2103120"/>
            <a:ext cx="1691640" cy="201168"/>
          </a:xfrm>
          <a:prstGeom prst="roundRect">
            <a:avLst>
              <a:gd name="adj" fmla="val 40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921240" y="2176272"/>
            <a:ext cx="274320" cy="2743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34C759"/>
                </a:solidFill>
                <a:latin typeface="SF Pro Display"/>
              </a:rPr>
              <a:t>6</a:t>
            </a:r>
            <a:endParaRPr sz="10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9829800" y="2423160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1C1C1E"/>
                </a:solidFill>
                <a:latin typeface="SF Pro Display"/>
              </a:rPr>
              <a:t>Deep-link</a:t>
            </a:r>
            <a:endParaRPr sz="13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829800" y="2697479"/>
            <a:ext cx="16916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900" b="0">
                <a:solidFill>
                  <a:srgbClr val="8E8E93"/>
                </a:solidFill>
                <a:latin typeface="Menlo" panose="020B0609030804020204"/>
              </a:rPr>
              <a:t>.didTapActivityNotification</a:t>
            </a:r>
            <a:endParaRPr sz="9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548640" y="3657600"/>
            <a:ext cx="11064240" cy="105156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3749039"/>
            <a:ext cx="100584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FF9500"/>
                </a:solidFill>
                <a:latin typeface="SF Pro Display"/>
              </a:rPr>
              <a:t>📦  Payload travelling through every step</a:t>
            </a:r>
            <a:endParaRPr sz="1300" b="1">
              <a:solidFill>
                <a:srgbClr val="FF9500"/>
              </a:solidFill>
              <a:latin typeface="SF Pro Display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7240" y="4069080"/>
            <a:ext cx="10058400" cy="5943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Menlo" panose="020B0609030804020204"/>
              </a:rPr>
              <a:t>userInfo: ["activityID": UUID.uuidString]  →  carried on UNNotificationContent, read in didReceive, re-posted via NotificationCenter so the Calendar tab can find the row.</a:t>
            </a:r>
            <a:endParaRPr sz="1100" b="0">
              <a:solidFill>
                <a:srgbClr val="1C1C1E"/>
              </a:solidFill>
              <a:latin typeface="Menlo" panose="020B0609030804020204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548640" y="489204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4983480"/>
            <a:ext cx="48463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0A84FF"/>
                </a:solidFill>
                <a:latin typeface="SF Pro Display"/>
              </a:rPr>
              <a:t>Subscriber 1 · MainTabView</a:t>
            </a:r>
            <a:endParaRPr sz="1300" b="1">
              <a:solidFill>
                <a:srgbClr val="0A84FF"/>
              </a:solidFill>
              <a:latin typeface="SF Pro Display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7240" y="5257800"/>
            <a:ext cx="5029200" cy="7772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Menlo" panose="020B0609030804020204"/>
              </a:rPr>
              <a:t>selectedTab = 1  →  switches to Calendar tab</a:t>
            </a:r>
            <a:endParaRPr sz="1100" b="0">
              <a:solidFill>
                <a:srgbClr val="1C1C1E"/>
              </a:solidFill>
              <a:latin typeface="Menlo" panose="020B0609030804020204"/>
            </a:endParaRPr>
          </a:p>
        </p:txBody>
      </p:sp>
      <p:sp>
        <p:nvSpPr>
          <p:cNvPr id="47" name="Rounded Rectangle 46"/>
          <p:cNvSpPr/>
          <p:nvPr/>
        </p:nvSpPr>
        <p:spPr>
          <a:xfrm>
            <a:off x="6217920" y="4892040"/>
            <a:ext cx="539496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4983480"/>
            <a:ext cx="48463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34C759"/>
                </a:solidFill>
                <a:latin typeface="SF Pro Display"/>
              </a:rPr>
              <a:t>Subscriber 2 · CalendarTabView</a:t>
            </a:r>
            <a:endParaRPr sz="13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6446520" y="5257800"/>
            <a:ext cx="5029200" cy="7772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Menlo" panose="020B0609030804020204"/>
              </a:rPr>
              <a:t>selectedDate = activity.date  →  filters list to that day</a:t>
            </a:r>
            <a:endParaRPr sz="1100" b="0">
              <a:solidFill>
                <a:srgbClr val="1C1C1E"/>
              </a:solidFill>
              <a:latin typeface="Menlo" panose="020B0609030804020204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8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CODE WALKTHROUGH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scheduleNotification(for:) — line by line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111099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85800" y="1911095"/>
            <a:ext cx="365760" cy="36576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Display"/>
              </a:rPr>
              <a:t>1</a:t>
            </a:r>
            <a:endParaRPr sz="1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88720" y="1856231"/>
            <a:ext cx="60350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0A84FF"/>
                </a:solidFill>
                <a:latin typeface="Menlo" panose="020B0609030804020204"/>
              </a:rPr>
              <a:t>guard let id = activity.id, …,</a:t>
            </a:r>
            <a:endParaRPr sz="11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88720" y="2112264"/>
            <a:ext cx="6035040" cy="292608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Reject if any required field is nil — a malformed request would crash later.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406640" y="1984248"/>
            <a:ext cx="4114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1">
                <a:solidFill>
                  <a:srgbClr val="34C759"/>
                </a:solidFill>
                <a:latin typeface="SF Pro Text"/>
              </a:rPr>
              <a:t>✓ Beginner takeaway</a:t>
            </a:r>
            <a:endParaRPr sz="10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2441448"/>
            <a:ext cx="111099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85800" y="2569464"/>
            <a:ext cx="365760" cy="36576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Display"/>
              </a:rPr>
              <a:t>2</a:t>
            </a:r>
            <a:endParaRPr sz="1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88720" y="2514600"/>
            <a:ext cx="60350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0A84FF"/>
                </a:solidFill>
                <a:latin typeface="Menlo" panose="020B0609030804020204"/>
              </a:rPr>
              <a:t>guard date &gt; Date() else { return }</a:t>
            </a:r>
            <a:endParaRPr sz="11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2770632"/>
            <a:ext cx="6035040" cy="292608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Skip past-date activities. iOS would drop them anyway; we fail loudly in debug.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06640" y="2642616"/>
            <a:ext cx="4114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1">
                <a:solidFill>
                  <a:srgbClr val="34C759"/>
                </a:solidFill>
                <a:latin typeface="SF Pro Text"/>
              </a:rPr>
              <a:t>✓ Beginner takeaway</a:t>
            </a:r>
            <a:endParaRPr sz="10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48640" y="3099815"/>
            <a:ext cx="111099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85800" y="3227832"/>
            <a:ext cx="365760" cy="36576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Display"/>
              </a:rPr>
              <a:t>3</a:t>
            </a:r>
            <a:endParaRPr sz="1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188720" y="3172968"/>
            <a:ext cx="60350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0A84FF"/>
                </a:solidFill>
                <a:latin typeface="Menlo" panose="020B0609030804020204"/>
              </a:rPr>
              <a:t>content.userInfo = ["activityID": id.uuidString]</a:t>
            </a:r>
            <a:endParaRPr sz="11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88720" y="3428999"/>
            <a:ext cx="6035040" cy="292608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Breadcrumb the activity UUID so the tap handler can deep-link back to the row.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06640" y="3300984"/>
            <a:ext cx="4114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1">
                <a:solidFill>
                  <a:srgbClr val="34C759"/>
                </a:solidFill>
                <a:latin typeface="SF Pro Text"/>
              </a:rPr>
              <a:t>✓ Beginner takeaway</a:t>
            </a:r>
            <a:endParaRPr sz="10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48640" y="3758183"/>
            <a:ext cx="111099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5800" y="3886199"/>
            <a:ext cx="365760" cy="36576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Display"/>
              </a:rPr>
              <a:t>4</a:t>
            </a:r>
            <a:endParaRPr sz="1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8720" y="3831335"/>
            <a:ext cx="60350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0A84FF"/>
                </a:solidFill>
                <a:latin typeface="Menlo" panose="020B0609030804020204"/>
              </a:rPr>
              <a:t>dateComponents([.year,.month,.day,.hour,.minute], from: date)</a:t>
            </a:r>
            <a:endParaRPr sz="11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188720" y="4087368"/>
            <a:ext cx="6035040" cy="292608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Fire EXACTLY at the merged date+reminderTime. We ignore seconds on purpose.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06640" y="3959351"/>
            <a:ext cx="4114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1">
                <a:solidFill>
                  <a:srgbClr val="34C759"/>
                </a:solidFill>
                <a:latin typeface="SF Pro Text"/>
              </a:rPr>
              <a:t>✓ Beginner takeaway</a:t>
            </a:r>
            <a:endParaRPr sz="10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48640" y="4416551"/>
            <a:ext cx="111099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85800" y="4544567"/>
            <a:ext cx="365760" cy="36576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Display"/>
              </a:rPr>
              <a:t>5</a:t>
            </a:r>
            <a:endParaRPr sz="1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1188720" y="4489703"/>
            <a:ext cx="60350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0A84FF"/>
                </a:solidFill>
                <a:latin typeface="Menlo" panose="020B0609030804020204"/>
              </a:rPr>
              <a:t>UNCalendarNotificationTrigger(dateMatching:, repeats: false)</a:t>
            </a:r>
            <a:endParaRPr sz="11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188720" y="4745736"/>
            <a:ext cx="6035040" cy="292608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One-shot reminder. repeats:true would require partial components — different use case.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7406640" y="4617719"/>
            <a:ext cx="4114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1">
                <a:solidFill>
                  <a:srgbClr val="34C759"/>
                </a:solidFill>
                <a:latin typeface="SF Pro Text"/>
              </a:rPr>
              <a:t>✓ Beginner takeaway</a:t>
            </a:r>
            <a:endParaRPr sz="10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19"/>
            <a:ext cx="111099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85800" y="5202935"/>
            <a:ext cx="365760" cy="36576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Display"/>
              </a:rPr>
              <a:t>6</a:t>
            </a:r>
            <a:endParaRPr sz="1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88720" y="5148071"/>
            <a:ext cx="60350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0A84FF"/>
                </a:solidFill>
                <a:latin typeface="Menlo" panose="020B0609030804020204"/>
              </a:rPr>
              <a:t>UNNotificationRequest(identifier: id.uuidString, …)</a:t>
            </a:r>
            <a:endParaRPr sz="11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188720" y="5404103"/>
            <a:ext cx="6035040" cy="292608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Same identifier = iOS replaces the old pending request — free idempotency.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406640" y="5276087"/>
            <a:ext cx="4114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1">
                <a:solidFill>
                  <a:srgbClr val="34C759"/>
                </a:solidFill>
                <a:latin typeface="SF Pro Text"/>
              </a:rPr>
              <a:t>✓ Beginner takeaway</a:t>
            </a:r>
            <a:endParaRPr sz="10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548640" y="5733287"/>
            <a:ext cx="11109960" cy="6217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85800" y="5861303"/>
            <a:ext cx="365760" cy="36576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SF Pro Display"/>
              </a:rPr>
              <a:t>7</a:t>
            </a:r>
            <a:endParaRPr sz="1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88720" y="5806439"/>
            <a:ext cx="60350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0A84FF"/>
                </a:solidFill>
                <a:latin typeface="Menlo" panose="020B0609030804020204"/>
              </a:rPr>
              <a:t>UNUserNotificationCenter.current().add(request)</a:t>
            </a:r>
            <a:endParaRPr sz="11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188720" y="6062471"/>
            <a:ext cx="6035040" cy="292608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Hands the request to the system; survives app relaunch and reboot.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06640" y="5934455"/>
            <a:ext cx="4114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1">
                <a:solidFill>
                  <a:srgbClr val="34C759"/>
                </a:solidFill>
                <a:latin typeface="SF Pro Text"/>
              </a:rPr>
              <a:t>✓ Beginner takeaway</a:t>
            </a:r>
            <a:endParaRPr sz="10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5 · Calendar &amp; Reminders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9 / 10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7269</Words>
  <Application>WPS Presentation</Application>
  <PresentationFormat>On-screen Show (4:3)</PresentationFormat>
  <Paragraphs>478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6" baseType="lpstr">
      <vt:lpstr>Arial</vt:lpstr>
      <vt:lpstr>SimSun</vt:lpstr>
      <vt:lpstr>Wingdings</vt:lpstr>
      <vt:lpstr>Arial</vt:lpstr>
      <vt:lpstr>SF Pro Text</vt:lpstr>
      <vt:lpstr>SF Pro Display</vt:lpstr>
      <vt:lpstr>Menlo</vt:lpstr>
      <vt:lpstr>Calibri</vt:lpstr>
      <vt:lpstr>Helvetica Neue</vt:lpstr>
      <vt:lpstr>Microsoft YaHei</vt:lpstr>
      <vt:lpstr>汉仪旗黑</vt:lpstr>
      <vt:lpstr>Arial Unicode MS</vt:lpstr>
      <vt:lpstr>Battambang</vt:lpstr>
      <vt:lpstr>宋体-简</vt:lpstr>
      <vt:lpstr>Noto Sans KR</vt:lpstr>
      <vt:lpstr>Apple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sothea007</cp:lastModifiedBy>
  <cp:revision>3</cp:revision>
  <dcterms:created xsi:type="dcterms:W3CDTF">2026-04-22T08:44:55Z</dcterms:created>
  <dcterms:modified xsi:type="dcterms:W3CDTF">2026-04-22T08:44:55Z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1033-12.1.25867.25867</vt:lpwstr>
  </property>
  <property fmtid="{D5CDD505-2E9C-101B-9397-08002B2CF9AE}" pid="3" name="ICV">
    <vt:lpwstr>B7F6E634EBC7DB1D3B8AE869E287D8D1_42</vt:lpwstr>
  </property>
</Properties>
</file>