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1"/>
  </p:handoutMasterIdLst>
  <p:sldIdLst>
    <p:sldId id="257" r:id="rId3"/>
    <p:sldId id="295" r:id="rId4"/>
    <p:sldId id="310" r:id="rId5"/>
    <p:sldId id="296" r:id="rId6"/>
    <p:sldId id="297" r:id="rId8"/>
    <p:sldId id="298" r:id="rId9"/>
    <p:sldId id="299" r:id="rId10"/>
    <p:sldId id="300" r:id="rId11"/>
    <p:sldId id="301" r:id="rId12"/>
    <p:sldId id="302" r:id="rId13"/>
    <p:sldId id="303" r:id="rId14"/>
    <p:sldId id="304" r:id="rId15"/>
    <p:sldId id="307" r:id="rId16"/>
    <p:sldId id="311" r:id="rId17"/>
    <p:sldId id="313" r:id="rId18"/>
    <p:sldId id="312" r:id="rId19"/>
    <p:sldId id="308" r:id="rId20"/>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Calibri"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Calibri"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itchFamily="34" charset="0"/>
        <a:ea typeface="SimSun"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m path" initials="authorId_54098778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601"/>
    <p:restoredTop sz="94660"/>
  </p:normalViewPr>
  <p:slideViewPr>
    <p:cSldViewPr snapToGrid="0" showGuides="1">
      <p:cViewPr varScale="1">
        <p:scale>
          <a:sx n="70" d="100"/>
          <a:sy n="70" d="100"/>
        </p:scale>
        <p:origin x="-750" y="-108"/>
      </p:cViewPr>
      <p:guideLst>
        <p:guide orient="horz" pos="2160"/>
        <p:guide pos="3820"/>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itchFamily="34" charset="0"/>
                <a:ea typeface="SimSun"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base" latinLnBrk="0" hangingPunct="1">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Calibri" pitchFamily="34" charset="0"/>
                <a:ea typeface="SimSun"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778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2200" y="2505075"/>
            <a:ext cx="51831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90000"/>
              </a:lnSpc>
              <a:spcBef>
                <a:spcPts val="1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fontAlgn="base" hangingPunct="1"/>
            <a:fld id="{9A0DB2DC-4C9A-4742-B13C-FB6460FD3503}" type="slidenum">
              <a:rPr lang="zh-CN" altLang="en-US" strike="noStrike" noProof="1" dirty="0">
                <a:latin typeface="Calibri" pitchFamily="34" charset="0"/>
                <a:ea typeface="SimSun" pitchFamily="2" charset="-122"/>
                <a:cs typeface="+mn-cs"/>
              </a:rPr>
            </a:fld>
            <a:endParaRPr lang="zh-CN" altLang="en-US" strike="noStrike" noProof="1"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SimSun" pitchFamily="2" charset="-122"/>
        </a:defRPr>
      </a:lvl2pPr>
      <a:lvl3pPr algn="l" rtl="0" fontAlgn="base">
        <a:lnSpc>
          <a:spcPct val="90000"/>
        </a:lnSpc>
        <a:spcBef>
          <a:spcPct val="0"/>
        </a:spcBef>
        <a:spcAft>
          <a:spcPct val="0"/>
        </a:spcAft>
        <a:defRPr sz="4400">
          <a:solidFill>
            <a:schemeClr val="tx1"/>
          </a:solidFill>
          <a:latin typeface="Calibri Light" pitchFamily="34" charset="0"/>
          <a:ea typeface="SimSun" pitchFamily="2" charset="-122"/>
        </a:defRPr>
      </a:lvl3pPr>
      <a:lvl4pPr algn="l" rtl="0" fontAlgn="base">
        <a:lnSpc>
          <a:spcPct val="90000"/>
        </a:lnSpc>
        <a:spcBef>
          <a:spcPct val="0"/>
        </a:spcBef>
        <a:spcAft>
          <a:spcPct val="0"/>
        </a:spcAft>
        <a:defRPr sz="4400">
          <a:solidFill>
            <a:schemeClr val="tx1"/>
          </a:solidFill>
          <a:latin typeface="Calibri Light" pitchFamily="34" charset="0"/>
          <a:ea typeface="SimSun" pitchFamily="2" charset="-122"/>
        </a:defRPr>
      </a:lvl4pPr>
      <a:lvl5pPr algn="l" rtl="0" fontAlgn="base">
        <a:lnSpc>
          <a:spcPct val="90000"/>
        </a:lnSpc>
        <a:spcBef>
          <a:spcPct val="0"/>
        </a:spcBef>
        <a:spcAft>
          <a:spcPct val="0"/>
        </a:spcAft>
        <a:defRPr sz="4400">
          <a:solidFill>
            <a:schemeClr val="tx1"/>
          </a:solidFill>
          <a:latin typeface="Calibri Light" pitchFamily="34" charset="0"/>
          <a:ea typeface="SimSun"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SimSun"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SimSun"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SimSun"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SimSun" pitchFamily="2" charset="-122"/>
        </a:defRPr>
      </a:lvl9pPr>
    </p:titleStyle>
    <p:bodyStyle>
      <a:lvl1pPr marL="228600" indent="-228600" algn="l" rtl="0" fontAlgn="base">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webp"/></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47625"/>
            <a:ext cx="12192000" cy="6858000"/>
          </a:xfrm>
          <a:prstGeom prst="rect">
            <a:avLst/>
          </a:prstGeom>
          <a:noFill/>
          <a:ln w="9525">
            <a:noFill/>
          </a:ln>
        </p:spPr>
      </p:pic>
      <p:sp>
        <p:nvSpPr>
          <p:cNvPr id="18" name="矩形 5"/>
          <p:cNvSpPr/>
          <p:nvPr/>
        </p:nvSpPr>
        <p:spPr>
          <a:xfrm flipH="1">
            <a:off x="0" y="2192338"/>
            <a:ext cx="6908800" cy="2162175"/>
          </a:xfrm>
          <a:custGeom>
            <a:avLst/>
            <a:gdLst>
              <a:gd name="connsiteX0" fmla="*/ 0 w 8485632"/>
              <a:gd name="connsiteY0" fmla="*/ 0 h 1490472"/>
              <a:gd name="connsiteX1" fmla="*/ 8485632 w 8485632"/>
              <a:gd name="connsiteY1" fmla="*/ 0 h 1490472"/>
              <a:gd name="connsiteX2" fmla="*/ 8485632 w 8485632"/>
              <a:gd name="connsiteY2" fmla="*/ 1490472 h 1490472"/>
              <a:gd name="connsiteX3" fmla="*/ 0 w 8485632"/>
              <a:gd name="connsiteY3" fmla="*/ 1490472 h 1490472"/>
              <a:gd name="connsiteX4" fmla="*/ 0 w 8485632"/>
              <a:gd name="connsiteY4" fmla="*/ 0 h 1490472"/>
              <a:gd name="connsiteX0-1" fmla="*/ 0 w 8485632"/>
              <a:gd name="connsiteY0-2" fmla="*/ 0 h 1490472"/>
              <a:gd name="connsiteX1-3" fmla="*/ 8485632 w 8485632"/>
              <a:gd name="connsiteY1-4" fmla="*/ 0 h 1490472"/>
              <a:gd name="connsiteX2-5" fmla="*/ 8485632 w 8485632"/>
              <a:gd name="connsiteY2-6" fmla="*/ 1490472 h 1490472"/>
              <a:gd name="connsiteX3-7" fmla="*/ 0 w 8485632"/>
              <a:gd name="connsiteY3-8" fmla="*/ 1490472 h 1490472"/>
              <a:gd name="connsiteX4-9" fmla="*/ 0 w 8485632"/>
              <a:gd name="connsiteY4-10" fmla="*/ 0 h 1490472"/>
              <a:gd name="connsiteX0-11" fmla="*/ 491744 w 8977376"/>
              <a:gd name="connsiteY0-12" fmla="*/ 0 h 1490472"/>
              <a:gd name="connsiteX1-13" fmla="*/ 8977376 w 8977376"/>
              <a:gd name="connsiteY1-14" fmla="*/ 0 h 1490472"/>
              <a:gd name="connsiteX2-15" fmla="*/ 8977376 w 8977376"/>
              <a:gd name="connsiteY2-16" fmla="*/ 1490472 h 1490472"/>
              <a:gd name="connsiteX3-17" fmla="*/ 491744 w 8977376"/>
              <a:gd name="connsiteY3-18" fmla="*/ 1490472 h 1490472"/>
              <a:gd name="connsiteX4-19" fmla="*/ 491744 w 8977376"/>
              <a:gd name="connsiteY4-20" fmla="*/ 0 h 1490472"/>
              <a:gd name="connsiteX0-21" fmla="*/ 617932 w 9103564"/>
              <a:gd name="connsiteY0-22" fmla="*/ 0 h 1490472"/>
              <a:gd name="connsiteX1-23" fmla="*/ 9103564 w 9103564"/>
              <a:gd name="connsiteY1-24" fmla="*/ 0 h 1490472"/>
              <a:gd name="connsiteX2-25" fmla="*/ 9103564 w 9103564"/>
              <a:gd name="connsiteY2-26" fmla="*/ 1490472 h 1490472"/>
              <a:gd name="connsiteX3-27" fmla="*/ 617932 w 9103564"/>
              <a:gd name="connsiteY3-28" fmla="*/ 1490472 h 1490472"/>
              <a:gd name="connsiteX4-29" fmla="*/ 617932 w 9103564"/>
              <a:gd name="connsiteY4-30" fmla="*/ 0 h 1490472"/>
              <a:gd name="connsiteX0-31" fmla="*/ 471887 w 8957519"/>
              <a:gd name="connsiteY0-32" fmla="*/ 0 h 1490472"/>
              <a:gd name="connsiteX1-33" fmla="*/ 8957519 w 8957519"/>
              <a:gd name="connsiteY1-34" fmla="*/ 0 h 1490472"/>
              <a:gd name="connsiteX2-35" fmla="*/ 8957519 w 8957519"/>
              <a:gd name="connsiteY2-36" fmla="*/ 1490472 h 1490472"/>
              <a:gd name="connsiteX3-37" fmla="*/ 471887 w 8957519"/>
              <a:gd name="connsiteY3-38" fmla="*/ 1490472 h 1490472"/>
              <a:gd name="connsiteX4-39" fmla="*/ 471887 w 8957519"/>
              <a:gd name="connsiteY4-40" fmla="*/ 0 h 1490472"/>
              <a:gd name="connsiteX0-41" fmla="*/ 542128 w 9027760"/>
              <a:gd name="connsiteY0-42" fmla="*/ 0 h 1490472"/>
              <a:gd name="connsiteX1-43" fmla="*/ 9027760 w 9027760"/>
              <a:gd name="connsiteY1-44" fmla="*/ 0 h 1490472"/>
              <a:gd name="connsiteX2-45" fmla="*/ 9027760 w 9027760"/>
              <a:gd name="connsiteY2-46" fmla="*/ 1490472 h 1490472"/>
              <a:gd name="connsiteX3-47" fmla="*/ 542128 w 9027760"/>
              <a:gd name="connsiteY3-48" fmla="*/ 1490472 h 1490472"/>
              <a:gd name="connsiteX4-49" fmla="*/ 542128 w 9027760"/>
              <a:gd name="connsiteY4-50" fmla="*/ 0 h 1490472"/>
              <a:gd name="connsiteX0-51" fmla="*/ 531634 w 9017266"/>
              <a:gd name="connsiteY0-52" fmla="*/ 0 h 1490472"/>
              <a:gd name="connsiteX1-53" fmla="*/ 9017266 w 9017266"/>
              <a:gd name="connsiteY1-54" fmla="*/ 0 h 1490472"/>
              <a:gd name="connsiteX2-55" fmla="*/ 9017266 w 9017266"/>
              <a:gd name="connsiteY2-56" fmla="*/ 1490472 h 1490472"/>
              <a:gd name="connsiteX3-57" fmla="*/ 531634 w 9017266"/>
              <a:gd name="connsiteY3-58" fmla="*/ 1490472 h 1490472"/>
              <a:gd name="connsiteX4-59" fmla="*/ 531634 w 9017266"/>
              <a:gd name="connsiteY4-60" fmla="*/ 0 h 14904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017266" h="1490472">
                <a:moveTo>
                  <a:pt x="531634" y="0"/>
                </a:moveTo>
                <a:lnTo>
                  <a:pt x="9017266" y="0"/>
                </a:lnTo>
                <a:lnTo>
                  <a:pt x="9017266" y="1490472"/>
                </a:lnTo>
                <a:lnTo>
                  <a:pt x="531634" y="1490472"/>
                </a:lnTo>
                <a:cubicBezTo>
                  <a:pt x="-199886" y="1432560"/>
                  <a:pt x="-154166" y="76200"/>
                  <a:pt x="531634" y="0"/>
                </a:cubicBezTo>
                <a:close/>
              </a:path>
            </a:pathLst>
          </a:cu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3" name="文本框 13"/>
          <p:cNvSpPr txBox="1"/>
          <p:nvPr/>
        </p:nvSpPr>
        <p:spPr>
          <a:xfrm>
            <a:off x="551180" y="2389505"/>
            <a:ext cx="11120120" cy="768350"/>
          </a:xfrm>
          <a:prstGeom prst="rect">
            <a:avLst/>
          </a:prstGeom>
          <a:noFill/>
          <a:ln w="9525">
            <a:noFill/>
          </a:ln>
        </p:spPr>
        <p:txBody>
          <a:bodyPr wrap="square" anchor="t" anchorCtr="0">
            <a:spAutoFit/>
          </a:bodyPr>
          <a:p>
            <a:r>
              <a:rPr lang="en-US" altLang="en-US" sz="4400" b="1" dirty="0">
                <a:solidFill>
                  <a:srgbClr val="00B0F0"/>
                </a:solidFill>
                <a:latin typeface="Microsoft YaHei" pitchFamily="34" charset="-122"/>
                <a:ea typeface="Microsoft YaHei" pitchFamily="34" charset="-122"/>
              </a:rPr>
              <a:t> Week03 - The ViewController Lifecycle</a:t>
            </a:r>
            <a:endParaRPr lang="en-US" altLang="en-US" sz="4400" b="1" dirty="0">
              <a:solidFill>
                <a:srgbClr val="00B0F0"/>
              </a:solidFill>
              <a:latin typeface="Microsoft YaHei" pitchFamily="34" charset="-122"/>
              <a:ea typeface="Microsoft YaHei" pitchFamily="34" charset="-122"/>
            </a:endParaRPr>
          </a:p>
        </p:txBody>
      </p:sp>
      <p:cxnSp>
        <p:nvCxnSpPr>
          <p:cNvPr id="15" name="直接连接符 14"/>
          <p:cNvCxnSpPr/>
          <p:nvPr/>
        </p:nvCxnSpPr>
        <p:spPr>
          <a:xfrm>
            <a:off x="625158" y="3263583"/>
            <a:ext cx="788860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125" name="文本框 15"/>
          <p:cNvSpPr txBox="1"/>
          <p:nvPr/>
        </p:nvSpPr>
        <p:spPr>
          <a:xfrm>
            <a:off x="588963" y="3400425"/>
            <a:ext cx="4481512" cy="368300"/>
          </a:xfrm>
          <a:prstGeom prst="rect">
            <a:avLst/>
          </a:prstGeom>
          <a:noFill/>
          <a:ln w="9525">
            <a:noFill/>
          </a:ln>
        </p:spPr>
        <p:txBody>
          <a:bodyPr anchor="t" anchorCtr="0">
            <a:spAutoFit/>
          </a:bodyPr>
          <a:p>
            <a:r>
              <a:rPr lang="en-US" altLang="zh-CN" dirty="0">
                <a:solidFill>
                  <a:schemeClr val="bg1"/>
                </a:solidFill>
                <a:latin typeface="Microsoft YaHei" pitchFamily="34" charset="-122"/>
                <a:ea typeface="Microsoft YaHei" pitchFamily="34" charset="-122"/>
              </a:rPr>
              <a:t>In the AI Era(Swift + SwiftUI)</a:t>
            </a:r>
            <a:endParaRPr lang="en-US" altLang="zh-CN" dirty="0">
              <a:solidFill>
                <a:schemeClr val="bg1"/>
              </a:solidFill>
              <a:latin typeface="Microsoft YaHei" pitchFamily="34" charset="-122"/>
              <a:ea typeface="Microsoft YaHei" pitchFamily="34" charset="-122"/>
            </a:endParaRPr>
          </a:p>
        </p:txBody>
      </p:sp>
      <p:sp>
        <p:nvSpPr>
          <p:cNvPr id="2" name="文本框 15"/>
          <p:cNvSpPr txBox="1"/>
          <p:nvPr/>
        </p:nvSpPr>
        <p:spPr>
          <a:xfrm>
            <a:off x="7103428" y="5876925"/>
            <a:ext cx="4481512" cy="368300"/>
          </a:xfrm>
          <a:prstGeom prst="rect">
            <a:avLst/>
          </a:prstGeom>
          <a:noFill/>
          <a:ln w="9525">
            <a:noFill/>
          </a:ln>
        </p:spPr>
        <p:txBody>
          <a:bodyPr anchor="t" anchorCtr="0">
            <a:spAutoFit/>
          </a:bodyPr>
          <a:p>
            <a:r>
              <a:rPr lang="en-US" altLang="en-US" dirty="0">
                <a:solidFill>
                  <a:schemeClr val="bg1"/>
                </a:solidFill>
                <a:latin typeface="Microsoft YaHei" pitchFamily="34" charset="-122"/>
                <a:ea typeface="Microsoft YaHei" pitchFamily="34" charset="-122"/>
              </a:rPr>
              <a:t>Instructor : </a:t>
            </a:r>
            <a:r>
              <a:rPr lang="en-US" altLang="zh-CN" dirty="0">
                <a:solidFill>
                  <a:schemeClr val="bg1"/>
                </a:solidFill>
                <a:latin typeface="Microsoft YaHei" pitchFamily="34" charset="-122"/>
                <a:ea typeface="Microsoft YaHei" pitchFamily="34" charset="-122"/>
              </a:rPr>
              <a:t>Mr. Nem Sothea</a:t>
            </a:r>
            <a:endParaRPr lang="en-US" altLang="zh-CN" dirty="0">
              <a:solidFill>
                <a:schemeClr val="bg1"/>
              </a:solidFill>
              <a:latin typeface="Microsoft YaHei" pitchFamily="34" charset="-122"/>
              <a:ea typeface="Microsoft YaHei" pitchFamily="34" charset="-122"/>
            </a:endParaRPr>
          </a:p>
        </p:txBody>
      </p:sp>
      <p:sp>
        <p:nvSpPr>
          <p:cNvPr id="3" name="文本框 15"/>
          <p:cNvSpPr txBox="1"/>
          <p:nvPr/>
        </p:nvSpPr>
        <p:spPr>
          <a:xfrm>
            <a:off x="8331200" y="6189980"/>
            <a:ext cx="3339465" cy="337185"/>
          </a:xfrm>
          <a:prstGeom prst="rect">
            <a:avLst/>
          </a:prstGeom>
          <a:noFill/>
          <a:ln w="9525">
            <a:noFill/>
          </a:ln>
        </p:spPr>
        <p:txBody>
          <a:bodyPr wrap="square" anchor="t" anchorCtr="0">
            <a:spAutoFit/>
          </a:bodyPr>
          <a:p>
            <a:pPr algn="l"/>
            <a:r>
              <a:rPr lang="en-US" altLang="zh-CN" sz="1600" dirty="0">
                <a:solidFill>
                  <a:schemeClr val="bg1"/>
                </a:solidFill>
                <a:latin typeface="Microsoft YaHei" pitchFamily="34" charset="-122"/>
                <a:ea typeface="Microsoft YaHei" pitchFamily="34" charset="-122"/>
              </a:rPr>
              <a:t>nemsothea13@gmail.com</a:t>
            </a:r>
            <a:endParaRPr lang="en-US" altLang="zh-CN" sz="1600" dirty="0">
              <a:solidFill>
                <a:schemeClr val="bg1"/>
              </a:solidFill>
              <a:latin typeface="Microsoft YaHei" pitchFamily="34" charset="-122"/>
              <a:ea typeface="Microsoft YaHei" pitchFamily="34" charset="-122"/>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3275"/>
            <a:ext cx="76606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How Your Screens Load, Appear, and Disappear</a:t>
            </a:r>
            <a:endParaRPr lang="en-US" altLang="en-US" sz="2400" b="0" i="0">
              <a:solidFill>
                <a:srgbClr val="F8FAFF"/>
              </a:solidFill>
              <a:latin typeface="Microsoft YaHei" charset="0"/>
              <a:ea typeface="quote-cjk-patch"/>
              <a:cs typeface="Microsoft YaHei" charset="0"/>
            </a:endParaRPr>
          </a:p>
        </p:txBody>
      </p:sp>
      <p:pic>
        <p:nvPicPr>
          <p:cNvPr id="3" name="Picture 2"/>
          <p:cNvPicPr/>
          <p:nvPr/>
        </p:nvPicPr>
        <p:blipFill>
          <a:blip r:embed="rId3"/>
          <a:srcRect l="17089" t="20787" r="17530" b="21704"/>
          <a:stretch>
            <a:fillRect/>
          </a:stretch>
        </p:blipFill>
        <p:spPr>
          <a:xfrm>
            <a:off x="1064895" y="1972945"/>
            <a:ext cx="5287645" cy="2632710"/>
          </a:xfrm>
          <a:prstGeom prst="rect">
            <a:avLst/>
          </a:prstGeom>
        </p:spPr>
      </p:pic>
      <p:pic>
        <p:nvPicPr>
          <p:cNvPr id="4" name="Picture 3"/>
          <p:cNvPicPr/>
          <p:nvPr/>
        </p:nvPicPr>
        <p:blipFill>
          <a:blip r:embed="rId4"/>
          <a:srcRect l="25504" t="10128" r="25342" b="11154"/>
          <a:stretch>
            <a:fillRect/>
          </a:stretch>
        </p:blipFill>
        <p:spPr>
          <a:xfrm>
            <a:off x="6784340" y="1972945"/>
            <a:ext cx="3651885" cy="3898900"/>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3275"/>
            <a:ext cx="76606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How Your Screens Load, Appear, and Disappear</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89330" y="1328420"/>
            <a:ext cx="8298815" cy="5019040"/>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viewWillDisappear(_: )</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400" i="1">
                <a:solidFill>
                  <a:srgbClr val="F8FAFF"/>
                </a:solidFill>
                <a:latin typeface="quote-cjk-patch"/>
                <a:ea typeface="quote-cjk-patch"/>
              </a:rPr>
              <a:t>This is a good place to save user data and cancel network tasks since it is called just before it is about to disappear from the view hierarchy.</a:t>
            </a:r>
            <a:endParaRPr lang="en-US" altLang="en-US" sz="14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viewDidDisappear(_: )</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400" i="1">
                <a:solidFill>
                  <a:srgbClr val="F8FAFF"/>
                </a:solidFill>
                <a:latin typeface="quote-cjk-patch"/>
                <a:ea typeface="quote-cjk-patch"/>
              </a:rPr>
              <a:t>This function is called when the view disappears from the view hierarchy. Thus, the view is already disappeared from the user's view. Tasks like cancelling the data or ending the analytic events can be performed once the view is disappeared.</a:t>
            </a:r>
            <a:endParaRPr lang="en-US" altLang="en-US" sz="14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1">
                <a:solidFill>
                  <a:srgbClr val="F8FAFF"/>
                </a:solidFill>
                <a:latin typeface="quote-cjk-patch"/>
                <a:ea typeface="quote-cjk-patch"/>
              </a:rPr>
              <a:t>Conclusion:</a:t>
            </a:r>
            <a:endParaRPr lang="en-US" altLang="en-US" sz="1600" b="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Understanding the life cycle functions are important to make the most of these functions. </a:t>
            </a:r>
            <a:endParaRPr lang="en-US" altLang="en-US" sz="1600" i="1">
              <a:solidFill>
                <a:srgbClr val="F8FAFF"/>
              </a:solidFill>
              <a:latin typeface="quote-cjk-patch"/>
              <a:ea typeface="quote-cjk-patch"/>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89330" y="802958"/>
            <a:ext cx="5080000" cy="460375"/>
          </a:xfrm>
          <a:prstGeom prst="rect">
            <a:avLst/>
          </a:prstGeom>
        </p:spPr>
        <p:txBody>
          <a:bodyPr>
            <a:spAutoFit/>
          </a:bodyPr>
          <a:p>
            <a:pPr marL="0" indent="0"/>
            <a:r>
              <a:rPr lang="en-US" altLang="en-US" sz="2400" b="0" i="0">
                <a:solidFill>
                  <a:srgbClr val="F8FAFF"/>
                </a:solidFill>
                <a:latin typeface="Microsoft YaHei" charset="0"/>
                <a:ea typeface="quote-cjk-patch"/>
                <a:cs typeface="Microsoft YaHei" charset="0"/>
              </a:rPr>
              <a:t>What is a ViewController?</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89330" y="1328420"/>
            <a:ext cx="9234170" cy="362394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A UIViewController manages a single "screen" or a portion of a screen in your app.</a:t>
            </a:r>
            <a:endParaRPr lang="en-US" altLang="en-US" sz="16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It's responsible for:</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Managing Views: Creating, arranging, and updating the UI elements</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Handling User Interaction: Responding to taps, swipes, and other evens.</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Coordinating with Data: Loading and displaying the data for that screen.</a:t>
            </a:r>
            <a:endParaRPr lang="en-US" altLang="en-US" sz="16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Think of it as the boss of its area of the screen.</a:t>
            </a:r>
            <a:endParaRPr lang="en-US" altLang="en-US" sz="1600" i="1">
              <a:solidFill>
                <a:srgbClr val="F8FAFF"/>
              </a:solidFill>
              <a:latin typeface="quote-cjk-patch"/>
              <a:ea typeface="quote-cjk-patch"/>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06780" y="803275"/>
            <a:ext cx="633603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The Concept of a "Lifecycle"</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12495" y="1263650"/>
            <a:ext cx="10078720" cy="5149850"/>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A ViewController doesn't just appear and disappeared.</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It goes through a well-defined sequence of steps from the moment it's created until it's destroyed.</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Why does this matter?</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Performance: You want to do expensive tasks (like loading data) at the right time.</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Memory: You need to clean up when you're done to avoid memory leaks.</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User Experience: You want the UI to be smooth and responsive.</a:t>
            </a:r>
            <a:endParaRPr lang="en-US" altLang="en-US" sz="1600" b="0" i="0">
              <a:solidFill>
                <a:srgbClr val="F8FAFF"/>
              </a:solidFill>
              <a:latin typeface="quote-cjk-patch"/>
              <a:ea typeface="quote-cjk-patch"/>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915035" y="803275"/>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The Key Lifecycle Methods</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12495" y="1263650"/>
            <a:ext cx="9584055" cy="533971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UIKit calls these methods on your ViewController automatically.</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Your job is to override them to add your own custom behavior.</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The main ones we care about:</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viewDidLoad()</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viewWillAppear(_:)</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viewDidAppear(_:)</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viewWillDisappear(_:)</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viewDidDisappear(_:)</a:t>
            </a:r>
            <a:endParaRPr lang="en-US" altLang="en-US" sz="1600" b="0" i="0">
              <a:solidFill>
                <a:srgbClr val="F8FAFF"/>
              </a:solidFill>
              <a:latin typeface="quote-cjk-patch"/>
              <a:ea typeface="quote-cjk-patch"/>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54735" y="809625"/>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viewDidLoad() - The "Setup" Phase</a:t>
            </a:r>
            <a:endParaRPr lang="en-US" altLang="en-US" sz="2400" b="0" i="0">
              <a:solidFill>
                <a:srgbClr val="F8FAFF"/>
              </a:solidFill>
              <a:latin typeface="Microsoft YaHei" charset="0"/>
              <a:ea typeface="quote-cjk-patch"/>
              <a:cs typeface="Microsoft YaHei" charset="0"/>
            </a:endParaRPr>
          </a:p>
        </p:txBody>
      </p:sp>
      <p:sp>
        <p:nvSpPr>
          <p:cNvPr id="13" name="Text Box 12"/>
          <p:cNvSpPr txBox="1"/>
          <p:nvPr/>
        </p:nvSpPr>
        <p:spPr>
          <a:xfrm>
            <a:off x="988695" y="1351915"/>
            <a:ext cx="7787640" cy="3392170"/>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Called once: When the ViewController's view is first loaded into memory.</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The view property is available, but the view is not yet on the screen.</a:t>
            </a:r>
            <a:endParaRPr lang="en-US" altLang="en-US" sz="1600" b="0" i="0">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Perfect for:</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One-time initial setup.</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Setting up your UI elements (outlets are connected!).</a:t>
            </a:r>
            <a:endParaRPr lang="en-US" altLang="en-US" sz="1600" b="0" i="0">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600" b="0" i="0">
                <a:solidFill>
                  <a:srgbClr val="F8FAFF"/>
                </a:solidFill>
                <a:latin typeface="quote-cjk-patch"/>
                <a:ea typeface="quote-cjk-patch"/>
              </a:rPr>
              <a:t>Starting to fetch data from a network or database.</a:t>
            </a:r>
            <a:endParaRPr lang="en-US" altLang="en-US" sz="1600" b="0" i="0">
              <a:solidFill>
                <a:srgbClr val="F8FAFF"/>
              </a:solidFill>
              <a:latin typeface="quote-cjk-patch"/>
              <a:ea typeface="quote-cjk-patch"/>
            </a:endParaRPr>
          </a:p>
        </p:txBody>
      </p:sp>
      <p:sp>
        <p:nvSpPr>
          <p:cNvPr id="3" name="Text Box 2"/>
          <p:cNvSpPr txBox="1"/>
          <p:nvPr/>
        </p:nvSpPr>
        <p:spPr>
          <a:xfrm>
            <a:off x="1054735" y="4744085"/>
            <a:ext cx="5080000" cy="2030095"/>
          </a:xfrm>
          <a:prstGeom prst="rect">
            <a:avLst/>
          </a:prstGeom>
        </p:spPr>
        <p:txBody>
          <a:bodyPr>
            <a:spAutoFit/>
          </a:bodyPr>
          <a:p>
            <a:pPr marL="0" indent="0">
              <a:spcBef>
                <a:spcPct val="0"/>
              </a:spcBef>
              <a:spcAft>
                <a:spcPct val="0"/>
              </a:spcAft>
            </a:pPr>
            <a:r>
              <a:rPr lang="en-US" altLang="zh-CN" sz="1800">
                <a:solidFill>
                  <a:srgbClr val="FC6BAA"/>
                </a:solidFill>
              </a:rPr>
              <a:t>overridefunc </a:t>
            </a:r>
            <a:r>
              <a:rPr lang="en-US" altLang="zh-CN" sz="1800">
                <a:solidFill>
                  <a:srgbClr val="42B8E0"/>
                </a:solidFill>
              </a:rPr>
              <a:t>viewDidLoad</a:t>
            </a:r>
            <a:r>
              <a:rPr lang="en-US" altLang="zh-CN" sz="1800">
                <a:solidFill>
                  <a:srgbClr val="FFFFFF"/>
                </a:solidFill>
              </a:rPr>
              <a:t>() {</a:t>
            </a:r>
            <a:endParaRPr lang="en-US" altLang="zh-CN" sz="1800">
              <a:solidFill>
                <a:srgbClr val="FFFFFF"/>
              </a:solidFill>
            </a:endParaRPr>
          </a:p>
          <a:p>
            <a:pPr marL="0" indent="0">
              <a:spcBef>
                <a:spcPct val="0"/>
              </a:spcBef>
              <a:spcAft>
                <a:spcPct val="0"/>
              </a:spcAft>
            </a:pPr>
            <a:endParaRPr lang="en-US" altLang="zh-CN" sz="1800">
              <a:solidFill>
                <a:srgbClr val="FFFFFF"/>
              </a:solidFill>
            </a:endParaRPr>
          </a:p>
          <a:p>
            <a:r>
              <a:rPr lang="en-US" altLang="zh-CN" sz="1800"/>
              <a:t>    </a:t>
            </a:r>
            <a:r>
              <a:rPr lang="en-US" altLang="zh-CN" sz="1800">
                <a:solidFill>
                  <a:srgbClr val="FC6BAA"/>
                </a:solidFill>
              </a:rPr>
              <a:t>super</a:t>
            </a:r>
            <a:r>
              <a:rPr lang="en-US" altLang="zh-CN" sz="1800">
                <a:solidFill>
                  <a:srgbClr val="FFFFFF"/>
                </a:solidFill>
              </a:rPr>
              <a:t>.</a:t>
            </a:r>
            <a:r>
              <a:rPr lang="en-US" altLang="zh-CN" sz="1800">
                <a:solidFill>
                  <a:srgbClr val="72BFAE"/>
                </a:solidFill>
              </a:rPr>
              <a:t>viewDidLoad</a:t>
            </a:r>
            <a:r>
              <a:rPr lang="en-US" altLang="zh-CN" sz="1800">
                <a:solidFill>
                  <a:srgbClr val="FFFFFF"/>
                </a:solidFill>
              </a:rPr>
              <a:t>( ) </a:t>
            </a:r>
            <a:r>
              <a:rPr lang="en-US" altLang="zh-CN" sz="1800">
                <a:solidFill>
                  <a:srgbClr val="7CB554"/>
                </a:solidFill>
              </a:rPr>
              <a:t>// MUST call super first</a:t>
            </a:r>
            <a:endParaRPr lang="en-US" altLang="zh-CN" sz="1800">
              <a:solidFill>
                <a:srgbClr val="7CB554"/>
              </a:solidFill>
            </a:endParaRPr>
          </a:p>
          <a:p>
            <a:r>
              <a:rPr lang="en-US" altLang="zh-CN" sz="1800"/>
              <a:t>    </a:t>
            </a:r>
            <a:r>
              <a:rPr lang="en-US" altLang="zh-CN" sz="1800">
                <a:solidFill>
                  <a:srgbClr val="FFFFFF"/>
                </a:solidFill>
              </a:rPr>
              <a:t>print(</a:t>
            </a:r>
            <a:r>
              <a:rPr lang="en-US" altLang="zh-CN" sz="1800">
                <a:solidFill>
                  <a:srgbClr val="FC7467"/>
                </a:solidFill>
              </a:rPr>
              <a:t>"The view has loaded!"</a:t>
            </a:r>
            <a:r>
              <a:rPr lang="en-US" altLang="zh-CN" sz="1800">
                <a:solidFill>
                  <a:srgbClr val="FFFFFF"/>
                </a:solidFill>
              </a:rPr>
              <a:t>)</a:t>
            </a:r>
            <a:endParaRPr lang="en-US" altLang="zh-CN" sz="1800">
              <a:solidFill>
                <a:srgbClr val="FFFFFF"/>
              </a:solidFill>
            </a:endParaRPr>
          </a:p>
          <a:p>
            <a:r>
              <a:rPr lang="en-US" altLang="zh-CN" sz="1800"/>
              <a:t>    </a:t>
            </a:r>
            <a:r>
              <a:rPr lang="en-US" altLang="zh-CN" sz="1800">
                <a:solidFill>
                  <a:srgbClr val="FFFFFF"/>
                </a:solidFill>
              </a:rPr>
              <a:t>titleLabel.text = </a:t>
            </a:r>
            <a:r>
              <a:rPr lang="en-US" altLang="zh-CN" sz="1800">
                <a:solidFill>
                  <a:srgbClr val="FC7467"/>
                </a:solidFill>
              </a:rPr>
              <a:t>"Welcome!"</a:t>
            </a:r>
            <a:endParaRPr lang="en-US" altLang="zh-CN" sz="1800">
              <a:solidFill>
                <a:srgbClr val="FC7467"/>
              </a:solidFill>
            </a:endParaRPr>
          </a:p>
          <a:p>
            <a:r>
              <a:rPr lang="en-US" altLang="zh-CN" sz="1800"/>
              <a:t>    </a:t>
            </a:r>
            <a:r>
              <a:rPr lang="en-US" altLang="zh-CN" sz="1800">
                <a:solidFill>
                  <a:srgbClr val="FFFFFF"/>
                </a:solidFill>
              </a:rPr>
              <a:t>fetchUserData() </a:t>
            </a:r>
            <a:r>
              <a:rPr lang="en-US" altLang="zh-CN" sz="1800">
                <a:solidFill>
                  <a:srgbClr val="7CB554"/>
                </a:solidFill>
              </a:rPr>
              <a:t>// Kick off a network call</a:t>
            </a:r>
            <a:endParaRPr lang="en-US" altLang="zh-CN" sz="1800">
              <a:solidFill>
                <a:srgbClr val="7CB554"/>
              </a:solidFill>
            </a:endParaRPr>
          </a:p>
          <a:p>
            <a:pPr marL="0" indent="0">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978662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viewWillAppear(_:) - The "About to Show" Phase</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626870"/>
            <a:ext cx="10612120" cy="326009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Called every time the view is about to be added to the screen and become visible.</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The view is loaded, but not yet visible.</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Perfect for :</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Refreshing data that might have changed (e.g., on a screen you're returning to).</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Starting animations that should begin as the view appears.</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Hiding/showing UI elements based on the current state.</a:t>
            </a:r>
            <a:endParaRPr lang="en-US" altLang="en-US" sz="1600">
              <a:solidFill>
                <a:srgbClr val="F8FAFF"/>
              </a:solidFill>
              <a:latin typeface="quote-cjk-patch"/>
              <a:ea typeface="quote-cjk-patch"/>
              <a:sym typeface="+mn-ea"/>
            </a:endParaRPr>
          </a:p>
        </p:txBody>
      </p:sp>
      <p:sp>
        <p:nvSpPr>
          <p:cNvPr id="3" name="Text Box 2"/>
          <p:cNvSpPr txBox="1"/>
          <p:nvPr/>
        </p:nvSpPr>
        <p:spPr>
          <a:xfrm>
            <a:off x="1065530" y="4886643"/>
            <a:ext cx="5080000" cy="1753235"/>
          </a:xfrm>
          <a:prstGeom prst="rect">
            <a:avLst/>
          </a:prstGeom>
        </p:spPr>
        <p:txBody>
          <a:bodyPr>
            <a:spAutoFit/>
          </a:bodyPr>
          <a:p>
            <a:r>
              <a:rPr lang="en-US" altLang="zh-CN" sz="1800">
                <a:solidFill>
                  <a:srgbClr val="FC6BAA"/>
                </a:solidFill>
              </a:rPr>
              <a:t>overridefunc </a:t>
            </a:r>
            <a:r>
              <a:rPr lang="en-US" altLang="zh-CN" sz="1800">
                <a:solidFill>
                  <a:srgbClr val="42B8E0"/>
                </a:solidFill>
              </a:rPr>
              <a:t>viewWillAppear</a:t>
            </a:r>
            <a:r>
              <a:rPr lang="en-US" altLang="zh-CN" sz="1800">
                <a:solidFill>
                  <a:srgbClr val="FFFFFF"/>
                </a:solidFill>
              </a:rPr>
              <a:t>(</a:t>
            </a:r>
            <a:r>
              <a:rPr lang="en-US" altLang="zh-CN" sz="1800">
                <a:solidFill>
                  <a:srgbClr val="42B8E0"/>
                </a:solidFill>
              </a:rPr>
              <a:t>_</a:t>
            </a:r>
            <a:r>
              <a:rPr lang="en-US" altLang="zh-CN" sz="1800">
                <a:solidFill>
                  <a:srgbClr val="FFFFFF"/>
                </a:solidFill>
              </a:rPr>
              <a:t> animated: </a:t>
            </a:r>
            <a:r>
              <a:rPr lang="en-US" altLang="zh-CN" sz="1800">
                <a:solidFill>
                  <a:srgbClr val="DEC1FF"/>
                </a:solidFill>
              </a:rPr>
              <a:t>Bool</a:t>
            </a:r>
            <a:r>
              <a:rPr lang="en-US" altLang="zh-CN" sz="1800">
                <a:solidFill>
                  <a:srgbClr val="FFFFFF"/>
                </a:solidFill>
              </a:rPr>
              <a:t>) {</a:t>
            </a:r>
            <a:endParaRPr lang="en-US" altLang="zh-CN" sz="1800">
              <a:solidFill>
                <a:srgbClr val="FFFFFF"/>
              </a:solidFill>
            </a:endParaRPr>
          </a:p>
          <a:p>
            <a:r>
              <a:rPr lang="en-US" altLang="zh-CN" sz="1800"/>
              <a:t>    </a:t>
            </a:r>
            <a:r>
              <a:rPr lang="en-US" altLang="zh-CN" sz="1800">
                <a:solidFill>
                  <a:srgbClr val="FC6BAA"/>
                </a:solidFill>
              </a:rPr>
              <a:t>super</a:t>
            </a:r>
            <a:r>
              <a:rPr lang="en-US" altLang="zh-CN" sz="1800">
                <a:solidFill>
                  <a:srgbClr val="FFFFFF"/>
                </a:solidFill>
              </a:rPr>
              <a:t>.</a:t>
            </a:r>
            <a:r>
              <a:rPr lang="en-US" altLang="zh-CN" sz="1800">
                <a:solidFill>
                  <a:srgbClr val="72BFAE"/>
                </a:solidFill>
              </a:rPr>
              <a:t>viewWillAppear</a:t>
            </a:r>
            <a:r>
              <a:rPr lang="en-US" altLang="zh-CN" sz="1800">
                <a:solidFill>
                  <a:srgbClr val="FFFFFF"/>
                </a:solidFill>
              </a:rPr>
              <a:t>(animated)</a:t>
            </a:r>
            <a:endParaRPr lang="en-US" altLang="zh-CN" sz="1800">
              <a:solidFill>
                <a:srgbClr val="FFFFFF"/>
              </a:solidFill>
            </a:endParaRPr>
          </a:p>
          <a:p>
            <a:endParaRPr lang="en-US" altLang="zh-CN" sz="1800">
              <a:solidFill>
                <a:srgbClr val="FFFFFF"/>
              </a:solidFill>
            </a:endParaRPr>
          </a:p>
          <a:p>
            <a:r>
              <a:rPr lang="en-US" altLang="zh-CN" sz="1800"/>
              <a:t>    </a:t>
            </a:r>
            <a:r>
              <a:rPr lang="en-US" altLang="zh-CN" sz="1800">
                <a:solidFill>
                  <a:srgbClr val="FFFFFF"/>
                </a:solidFill>
              </a:rPr>
              <a:t>print(</a:t>
            </a:r>
            <a:r>
              <a:rPr lang="en-US" altLang="zh-CN" sz="1800">
                <a:solidFill>
                  <a:srgbClr val="FC7467"/>
                </a:solidFill>
              </a:rPr>
              <a:t>"The view is about to appear!"</a:t>
            </a:r>
            <a:r>
              <a:rPr lang="en-US" altLang="zh-CN" sz="1800">
                <a:solidFill>
                  <a:srgbClr val="FFFFFF"/>
                </a:solidFill>
              </a:rPr>
              <a:t>)</a:t>
            </a:r>
            <a:endParaRPr lang="en-US" altLang="zh-CN" sz="1800">
              <a:solidFill>
                <a:srgbClr val="FFFFFF"/>
              </a:solidFill>
            </a:endParaRPr>
          </a:p>
          <a:p>
            <a:r>
              <a:rPr lang="en-US" altLang="zh-CN" sz="1800"/>
              <a:t>    </a:t>
            </a:r>
            <a:r>
              <a:rPr lang="en-US" altLang="zh-CN" sz="1800">
                <a:solidFill>
                  <a:srgbClr val="FFFFFF"/>
                </a:solidFill>
              </a:rPr>
              <a:t>updateUserStatusDisplay() </a:t>
            </a:r>
            <a:r>
              <a:rPr lang="en-US" altLang="zh-CN" sz="1800">
                <a:solidFill>
                  <a:srgbClr val="7CB554"/>
                </a:solidFill>
              </a:rPr>
              <a:t>// Refresh the UI</a:t>
            </a:r>
            <a:endParaRPr lang="en-US" altLang="zh-CN" sz="1800">
              <a:solidFill>
                <a:srgbClr val="7CB554"/>
              </a:solidFill>
            </a:endParaRPr>
          </a:p>
          <a:p>
            <a:pPr marL="0" indent="0">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678815"/>
            <a:ext cx="831596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viewDidAppear(_:) - The "Now Visible" Phase</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221740"/>
            <a:ext cx="9533890" cy="3314700"/>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Called after the view has been fully transitioned onto the screen.</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The view is now fully visible and interactive.</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Perfect for:</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Starting long-running animations.</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Starting tasks that require the user's attention (like playing a video).</a:t>
            </a:r>
            <a:endParaRPr lang="en-US" altLang="en-US" sz="1600">
              <a:solidFill>
                <a:srgbClr val="F8FAFF"/>
              </a:solidFill>
              <a:latin typeface="quote-cjk-patch"/>
              <a:ea typeface="quote-cjk-patch"/>
              <a:sym typeface="+mn-ea"/>
            </a:endParaRPr>
          </a:p>
          <a:p>
            <a:pPr marL="742950" lvl="1"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Careful: This is often too late for initial data loading (use viewDidLoad).</a:t>
            </a:r>
            <a:endParaRPr lang="en-US" altLang="en-US" sz="1600">
              <a:solidFill>
                <a:srgbClr val="F8FAFF"/>
              </a:solidFill>
              <a:latin typeface="quote-cjk-patch"/>
              <a:ea typeface="quote-cjk-patch"/>
              <a:sym typeface="+mn-ea"/>
            </a:endParaRPr>
          </a:p>
        </p:txBody>
      </p:sp>
      <p:sp>
        <p:nvSpPr>
          <p:cNvPr id="4" name="Text Box 3"/>
          <p:cNvSpPr txBox="1"/>
          <p:nvPr/>
        </p:nvSpPr>
        <p:spPr>
          <a:xfrm>
            <a:off x="1016000" y="4355783"/>
            <a:ext cx="5080000" cy="1753235"/>
          </a:xfrm>
          <a:prstGeom prst="rect">
            <a:avLst/>
          </a:prstGeom>
        </p:spPr>
        <p:txBody>
          <a:bodyPr>
            <a:spAutoFit/>
          </a:bodyPr>
          <a:p>
            <a:r>
              <a:rPr lang="en-US" altLang="zh-CN" sz="1800">
                <a:solidFill>
                  <a:srgbClr val="FC6BAA"/>
                </a:solidFill>
              </a:rPr>
              <a:t>overridefunc </a:t>
            </a:r>
            <a:r>
              <a:rPr lang="en-US" altLang="zh-CN" sz="1800">
                <a:solidFill>
                  <a:srgbClr val="42B8E0"/>
                </a:solidFill>
              </a:rPr>
              <a:t>viewDidAppear</a:t>
            </a:r>
            <a:r>
              <a:rPr lang="en-US" altLang="zh-CN" sz="1800">
                <a:solidFill>
                  <a:srgbClr val="FFFFFF"/>
                </a:solidFill>
              </a:rPr>
              <a:t>(</a:t>
            </a:r>
            <a:r>
              <a:rPr lang="en-US" altLang="zh-CN" sz="1800">
                <a:solidFill>
                  <a:srgbClr val="42B8E0"/>
                </a:solidFill>
              </a:rPr>
              <a:t>_</a:t>
            </a:r>
            <a:r>
              <a:rPr lang="en-US" altLang="zh-CN" sz="1800">
                <a:solidFill>
                  <a:srgbClr val="FFFFFF"/>
                </a:solidFill>
              </a:rPr>
              <a:t> animated: </a:t>
            </a:r>
            <a:r>
              <a:rPr lang="en-US" altLang="zh-CN" sz="1800">
                <a:solidFill>
                  <a:srgbClr val="DEC1FF"/>
                </a:solidFill>
              </a:rPr>
              <a:t>Bool</a:t>
            </a:r>
            <a:r>
              <a:rPr lang="en-US" altLang="zh-CN" sz="1800">
                <a:solidFill>
                  <a:srgbClr val="FFFFFF"/>
                </a:solidFill>
              </a:rPr>
              <a:t>) {</a:t>
            </a:r>
            <a:endParaRPr lang="en-US" altLang="zh-CN" sz="1800">
              <a:solidFill>
                <a:srgbClr val="FFFFFF"/>
              </a:solidFill>
            </a:endParaRPr>
          </a:p>
          <a:p>
            <a:r>
              <a:rPr lang="en-US" altLang="zh-CN" sz="1800"/>
              <a:t>    </a:t>
            </a:r>
            <a:r>
              <a:rPr lang="en-US" altLang="zh-CN" sz="1800">
                <a:solidFill>
                  <a:srgbClr val="FC6BAA"/>
                </a:solidFill>
              </a:rPr>
              <a:t>super</a:t>
            </a:r>
            <a:r>
              <a:rPr lang="en-US" altLang="zh-CN" sz="1800">
                <a:solidFill>
                  <a:srgbClr val="FFFFFF"/>
                </a:solidFill>
              </a:rPr>
              <a:t>.</a:t>
            </a:r>
            <a:r>
              <a:rPr lang="en-US" altLang="zh-CN" sz="1800">
                <a:solidFill>
                  <a:srgbClr val="72BFAE"/>
                </a:solidFill>
              </a:rPr>
              <a:t>viewDidAppear</a:t>
            </a:r>
            <a:r>
              <a:rPr lang="en-US" altLang="zh-CN" sz="1800">
                <a:solidFill>
                  <a:srgbClr val="FFFFFF"/>
                </a:solidFill>
              </a:rPr>
              <a:t>(animated)</a:t>
            </a:r>
            <a:endParaRPr lang="en-US" altLang="zh-CN" sz="1800">
              <a:solidFill>
                <a:srgbClr val="FFFFFF"/>
              </a:solidFill>
            </a:endParaRPr>
          </a:p>
          <a:p>
            <a:endParaRPr lang="en-US" altLang="zh-CN" sz="1800">
              <a:solidFill>
                <a:srgbClr val="FFFFFF"/>
              </a:solidFill>
            </a:endParaRPr>
          </a:p>
          <a:p>
            <a:r>
              <a:rPr lang="en-US" altLang="zh-CN" sz="1800"/>
              <a:t>    </a:t>
            </a:r>
            <a:r>
              <a:rPr lang="en-US" altLang="zh-CN" sz="1800">
                <a:solidFill>
                  <a:srgbClr val="FFFFFF"/>
                </a:solidFill>
              </a:rPr>
              <a:t>print(</a:t>
            </a:r>
            <a:r>
              <a:rPr lang="en-US" altLang="zh-CN" sz="1800">
                <a:solidFill>
                  <a:srgbClr val="FC7467"/>
                </a:solidFill>
              </a:rPr>
              <a:t>"The view is now visible!"</a:t>
            </a:r>
            <a:r>
              <a:rPr lang="en-US" altLang="zh-CN" sz="1800">
                <a:solidFill>
                  <a:srgbClr val="FFFFFF"/>
                </a:solidFill>
              </a:rPr>
              <a:t>)</a:t>
            </a:r>
            <a:endParaRPr lang="en-US" altLang="zh-CN" sz="1800">
              <a:solidFill>
                <a:srgbClr val="FFFFFF"/>
              </a:solidFill>
            </a:endParaRPr>
          </a:p>
          <a:p>
            <a:r>
              <a:rPr lang="en-US" altLang="zh-CN" sz="1800"/>
              <a:t>    </a:t>
            </a:r>
            <a:r>
              <a:rPr lang="en-US" altLang="zh-CN" sz="1800">
                <a:solidFill>
                  <a:srgbClr val="FFFFFF"/>
                </a:solidFill>
              </a:rPr>
              <a:t>startBackgroundAnimation()</a:t>
            </a:r>
            <a:endParaRPr lang="en-US" altLang="zh-CN" sz="1800">
              <a:solidFill>
                <a:srgbClr val="FFFFFF"/>
              </a:solidFill>
            </a:endParaRPr>
          </a:p>
          <a:p>
            <a:pPr marL="0" indent="0">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The Disappear Sequence</a:t>
            </a:r>
            <a:endParaRPr lang="en-US" altLang="en-US" sz="2400" b="0" i="0">
              <a:solidFill>
                <a:srgbClr val="F8FAFF"/>
              </a:solidFill>
              <a:latin typeface="Microsoft YaHei" charset="0"/>
              <a:ea typeface="quote-cjk-patch"/>
              <a:cs typeface="Microsoft YaHei" charset="0"/>
            </a:endParaRPr>
          </a:p>
        </p:txBody>
      </p:sp>
      <p:sp>
        <p:nvSpPr>
          <p:cNvPr id="2" name="Text Box 1"/>
          <p:cNvSpPr txBox="1"/>
          <p:nvPr/>
        </p:nvSpPr>
        <p:spPr>
          <a:xfrm>
            <a:off x="1016000" y="1748790"/>
            <a:ext cx="11011535" cy="2390775"/>
          </a:xfrm>
          <a:prstGeom prst="rect">
            <a:avLst/>
          </a:prstGeom>
        </p:spPr>
        <p:txBody>
          <a:bodyPr>
            <a:noAutofit/>
          </a:bodyPr>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viewWillDisappear(_:): Called just before the view is removed from the screen. Perfect for pausing tasks or saving user input.</a:t>
            </a:r>
            <a:endParaRPr lang="en-US" altLang="en-US" sz="1600">
              <a:solidFill>
                <a:srgbClr val="F8FAFF"/>
              </a:solidFill>
              <a:latin typeface="quote-cjk-patch"/>
              <a:ea typeface="quote-cjk-patch"/>
              <a:sym typeface="+mn-ea"/>
            </a:endParaRPr>
          </a:p>
          <a:p>
            <a:pPr marL="285750" lvl="0" indent="-285750" algn="l">
              <a:lnSpc>
                <a:spcPct val="200000"/>
              </a:lnSpc>
              <a:buClrTx/>
              <a:buSzTx/>
              <a:buFont typeface="Wingdings" panose="05000000000000000000" charset="0"/>
              <a:buChar char=""/>
            </a:pPr>
            <a:r>
              <a:rPr lang="en-US" altLang="en-US" sz="1600">
                <a:solidFill>
                  <a:srgbClr val="F8FAFF"/>
                </a:solidFill>
                <a:latin typeface="quote-cjk-patch"/>
                <a:ea typeface="quote-cjk-patch"/>
                <a:sym typeface="+mn-ea"/>
              </a:rPr>
              <a:t>viewDidDisappear(_:): Called after the view has been fully removed. Good for cleaning up resources that are no longer needed.</a:t>
            </a:r>
            <a:endParaRPr lang="en-US" altLang="en-US" sz="1600">
              <a:solidFill>
                <a:srgbClr val="F8FAFF"/>
              </a:solidFill>
              <a:latin typeface="quote-cjk-patch"/>
              <a:ea typeface="quote-cjk-patch"/>
              <a:sym typeface="+mn-ea"/>
            </a:endParaRPr>
          </a:p>
        </p:txBody>
      </p:sp>
      <p:sp>
        <p:nvSpPr>
          <p:cNvPr id="4" name="Text Box 3"/>
          <p:cNvSpPr txBox="1"/>
          <p:nvPr/>
        </p:nvSpPr>
        <p:spPr>
          <a:xfrm>
            <a:off x="1066165" y="4063365"/>
            <a:ext cx="8681085" cy="2553335"/>
          </a:xfrm>
          <a:prstGeom prst="rect">
            <a:avLst/>
          </a:prstGeom>
        </p:spPr>
        <p:txBody>
          <a:bodyPr wrap="square">
            <a:spAutoFit/>
          </a:bodyPr>
          <a:p>
            <a:r>
              <a:rPr lang="en-US" altLang="zh-CN" sz="1600">
                <a:solidFill>
                  <a:srgbClr val="FC6BAA"/>
                </a:solidFill>
              </a:rPr>
              <a:t>overridefunc </a:t>
            </a:r>
            <a:r>
              <a:rPr lang="en-US" altLang="zh-CN" sz="1600">
                <a:solidFill>
                  <a:srgbClr val="42B8E0"/>
                </a:solidFill>
              </a:rPr>
              <a:t>viewWillDisappear</a:t>
            </a:r>
            <a:r>
              <a:rPr lang="en-US" altLang="zh-CN" sz="1600">
                <a:solidFill>
                  <a:srgbClr val="FFFFFF"/>
                </a:solidFill>
              </a:rPr>
              <a:t>(</a:t>
            </a:r>
            <a:r>
              <a:rPr lang="en-US" altLang="zh-CN" sz="1600">
                <a:solidFill>
                  <a:srgbClr val="42B8E0"/>
                </a:solidFill>
              </a:rPr>
              <a:t>_</a:t>
            </a:r>
            <a:r>
              <a:rPr lang="en-US" altLang="zh-CN" sz="1600">
                <a:solidFill>
                  <a:srgbClr val="FFFFFF"/>
                </a:solidFill>
              </a:rPr>
              <a:t> animated: </a:t>
            </a:r>
            <a:r>
              <a:rPr lang="en-US" altLang="zh-CN" sz="1600">
                <a:solidFill>
                  <a:srgbClr val="DEC1FF"/>
                </a:solidFill>
              </a:rPr>
              <a:t>Bool</a:t>
            </a:r>
            <a:r>
              <a:rPr lang="en-US" altLang="zh-CN" sz="1600">
                <a:solidFill>
                  <a:srgbClr val="FFFFFF"/>
                </a:solidFill>
              </a:rPr>
              <a:t>) {</a:t>
            </a:r>
            <a:endParaRPr lang="en-US" altLang="zh-CN" sz="1600">
              <a:solidFill>
                <a:srgbClr val="FFFFFF"/>
              </a:solidFill>
            </a:endParaRPr>
          </a:p>
          <a:p>
            <a:r>
              <a:rPr lang="en-US" altLang="zh-CN" sz="1600"/>
              <a:t>    </a:t>
            </a:r>
            <a:r>
              <a:rPr lang="en-US" altLang="zh-CN" sz="1600">
                <a:solidFill>
                  <a:srgbClr val="FC6BAA"/>
                </a:solidFill>
              </a:rPr>
              <a:t>super</a:t>
            </a:r>
            <a:r>
              <a:rPr lang="en-US" altLang="zh-CN" sz="1600">
                <a:solidFill>
                  <a:srgbClr val="FFFFFF"/>
                </a:solidFill>
              </a:rPr>
              <a:t>.</a:t>
            </a:r>
            <a:r>
              <a:rPr lang="en-US" altLang="zh-CN" sz="1600">
                <a:solidFill>
                  <a:srgbClr val="72BFAE"/>
                </a:solidFill>
              </a:rPr>
              <a:t>viewWillDisappear</a:t>
            </a:r>
            <a:r>
              <a:rPr lang="en-US" altLang="zh-CN" sz="1600">
                <a:solidFill>
                  <a:srgbClr val="FFFFFF"/>
                </a:solidFill>
              </a:rPr>
              <a:t>(animated)</a:t>
            </a:r>
            <a:endParaRPr lang="en-US" altLang="zh-CN" sz="1600">
              <a:solidFill>
                <a:srgbClr val="FFFFFF"/>
              </a:solidFill>
            </a:endParaRPr>
          </a:p>
          <a:p>
            <a:r>
              <a:rPr lang="en-US" altLang="zh-CN" sz="1600"/>
              <a:t>    </a:t>
            </a:r>
            <a:r>
              <a:rPr lang="en-US" altLang="zh-CN" sz="1600">
                <a:solidFill>
                  <a:srgbClr val="FFFFFF"/>
                </a:solidFill>
              </a:rPr>
              <a:t>print(</a:t>
            </a:r>
            <a:r>
              <a:rPr lang="en-US" altLang="zh-CN" sz="1600">
                <a:solidFill>
                  <a:srgbClr val="FC7467"/>
                </a:solidFill>
              </a:rPr>
              <a:t>"Goodbye! The view will disappear."</a:t>
            </a:r>
            <a:r>
              <a:rPr lang="en-US" altLang="zh-CN" sz="1600">
                <a:solidFill>
                  <a:srgbClr val="FFFFFF"/>
                </a:solidFill>
              </a:rPr>
              <a:t>)</a:t>
            </a:r>
            <a:endParaRPr lang="en-US" altLang="zh-CN" sz="1600">
              <a:solidFill>
                <a:srgbClr val="FFFFFF"/>
              </a:solidFill>
            </a:endParaRPr>
          </a:p>
          <a:p>
            <a:r>
              <a:rPr lang="en-US" altLang="zh-CN" sz="1600"/>
              <a:t>    </a:t>
            </a:r>
            <a:r>
              <a:rPr lang="en-US" altLang="zh-CN" sz="1600">
                <a:solidFill>
                  <a:srgbClr val="FFFFFF"/>
                </a:solidFill>
              </a:rPr>
              <a:t>saveFormData() </a:t>
            </a:r>
            <a:r>
              <a:rPr lang="en-US" altLang="zh-CN" sz="1600">
                <a:solidFill>
                  <a:srgbClr val="7CB554"/>
                </a:solidFill>
              </a:rPr>
              <a:t>// Save the user's work</a:t>
            </a:r>
            <a:endParaRPr lang="en-US" altLang="zh-CN" sz="1600">
              <a:solidFill>
                <a:srgbClr val="7CB554"/>
              </a:solidFill>
            </a:endParaRPr>
          </a:p>
          <a:p>
            <a:pPr marL="0" indent="0">
              <a:spcBef>
                <a:spcPct val="0"/>
              </a:spcBef>
              <a:spcAft>
                <a:spcPct val="0"/>
              </a:spcAft>
            </a:pPr>
            <a:r>
              <a:rPr lang="en-US" altLang="zh-CN" sz="1600">
                <a:solidFill>
                  <a:srgbClr val="FFFFFF"/>
                </a:solidFill>
              </a:rPr>
              <a:t>}</a:t>
            </a:r>
            <a:endParaRPr lang="en-US" altLang="zh-CN" sz="1600">
              <a:solidFill>
                <a:srgbClr val="FFFFFF"/>
              </a:solidFill>
            </a:endParaRPr>
          </a:p>
          <a:p>
            <a:r>
              <a:rPr lang="en-US" altLang="zh-CN" sz="1600">
                <a:solidFill>
                  <a:srgbClr val="FC6BAA"/>
                </a:solidFill>
              </a:rPr>
              <a:t>overridefunc </a:t>
            </a:r>
            <a:r>
              <a:rPr lang="en-US" altLang="zh-CN" sz="1600">
                <a:solidFill>
                  <a:srgbClr val="42B8E0"/>
                </a:solidFill>
              </a:rPr>
              <a:t>viewDidDisappear</a:t>
            </a:r>
            <a:r>
              <a:rPr lang="en-US" altLang="zh-CN" sz="1600">
                <a:solidFill>
                  <a:srgbClr val="FFFFFF"/>
                </a:solidFill>
              </a:rPr>
              <a:t>(</a:t>
            </a:r>
            <a:r>
              <a:rPr lang="en-US" altLang="zh-CN" sz="1600">
                <a:solidFill>
                  <a:srgbClr val="42B8E0"/>
                </a:solidFill>
              </a:rPr>
              <a:t>_</a:t>
            </a:r>
            <a:r>
              <a:rPr lang="en-US" altLang="zh-CN" sz="1600">
                <a:solidFill>
                  <a:srgbClr val="FFFFFF"/>
                </a:solidFill>
              </a:rPr>
              <a:t> animated: </a:t>
            </a:r>
            <a:r>
              <a:rPr lang="en-US" altLang="zh-CN" sz="1600">
                <a:solidFill>
                  <a:srgbClr val="DEC1FF"/>
                </a:solidFill>
              </a:rPr>
              <a:t>Bool</a:t>
            </a:r>
            <a:r>
              <a:rPr lang="en-US" altLang="zh-CN" sz="1600">
                <a:solidFill>
                  <a:srgbClr val="FFFFFF"/>
                </a:solidFill>
              </a:rPr>
              <a:t>) {</a:t>
            </a:r>
            <a:endParaRPr lang="en-US" altLang="zh-CN" sz="1600">
              <a:solidFill>
                <a:srgbClr val="FFFFFF"/>
              </a:solidFill>
            </a:endParaRPr>
          </a:p>
          <a:p>
            <a:r>
              <a:rPr lang="en-US" altLang="zh-CN" sz="1600"/>
              <a:t>    </a:t>
            </a:r>
            <a:r>
              <a:rPr lang="en-US" altLang="zh-CN" sz="1600">
                <a:solidFill>
                  <a:srgbClr val="FC6BAA"/>
                </a:solidFill>
              </a:rPr>
              <a:t>super</a:t>
            </a:r>
            <a:r>
              <a:rPr lang="en-US" altLang="zh-CN" sz="1600">
                <a:solidFill>
                  <a:srgbClr val="FFFFFF"/>
                </a:solidFill>
              </a:rPr>
              <a:t>.</a:t>
            </a:r>
            <a:r>
              <a:rPr lang="en-US" altLang="zh-CN" sz="1600">
                <a:solidFill>
                  <a:srgbClr val="72BFAE"/>
                </a:solidFill>
              </a:rPr>
              <a:t>viewDidDisappear</a:t>
            </a:r>
            <a:r>
              <a:rPr lang="en-US" altLang="zh-CN" sz="1600">
                <a:solidFill>
                  <a:srgbClr val="FFFFFF"/>
                </a:solidFill>
              </a:rPr>
              <a:t>(animated)</a:t>
            </a:r>
            <a:endParaRPr lang="en-US" altLang="zh-CN" sz="1600">
              <a:solidFill>
                <a:srgbClr val="FFFFFF"/>
              </a:solidFill>
            </a:endParaRPr>
          </a:p>
          <a:p>
            <a:r>
              <a:rPr lang="en-US" altLang="zh-CN" sz="1600"/>
              <a:t>    </a:t>
            </a:r>
            <a:r>
              <a:rPr lang="en-US" altLang="zh-CN" sz="1600">
                <a:solidFill>
                  <a:srgbClr val="FFFFFF"/>
                </a:solidFill>
              </a:rPr>
              <a:t>print(</a:t>
            </a:r>
            <a:r>
              <a:rPr lang="en-US" altLang="zh-CN" sz="1600">
                <a:solidFill>
                  <a:srgbClr val="FC7467"/>
                </a:solidFill>
              </a:rPr>
              <a:t>"The view is gone."</a:t>
            </a:r>
            <a:r>
              <a:rPr lang="en-US" altLang="zh-CN" sz="1600">
                <a:solidFill>
                  <a:srgbClr val="FFFFFF"/>
                </a:solidFill>
              </a:rPr>
              <a:t>)</a:t>
            </a:r>
            <a:endParaRPr lang="en-US" altLang="zh-CN" sz="1600">
              <a:solidFill>
                <a:srgbClr val="FFFFFF"/>
              </a:solidFill>
            </a:endParaRPr>
          </a:p>
          <a:p>
            <a:r>
              <a:rPr lang="en-US" altLang="zh-CN" sz="1600"/>
              <a:t>    </a:t>
            </a:r>
            <a:r>
              <a:rPr lang="en-US" altLang="zh-CN" sz="1600">
                <a:solidFill>
                  <a:srgbClr val="FFFFFF"/>
                </a:solidFill>
              </a:rPr>
              <a:t>stopVideoPlayer() </a:t>
            </a:r>
            <a:r>
              <a:rPr lang="en-US" altLang="zh-CN" sz="1600">
                <a:solidFill>
                  <a:srgbClr val="7CB554"/>
                </a:solidFill>
              </a:rPr>
              <a:t>// Clean up resources</a:t>
            </a:r>
            <a:endParaRPr lang="en-US" altLang="zh-CN" sz="1600">
              <a:solidFill>
                <a:srgbClr val="7CB554"/>
              </a:solidFill>
            </a:endParaRPr>
          </a:p>
          <a:p>
            <a:pPr marL="0" indent="0">
              <a:spcBef>
                <a:spcPct val="0"/>
              </a:spcBef>
              <a:spcAft>
                <a:spcPct val="0"/>
              </a:spcAft>
            </a:pPr>
            <a:r>
              <a:rPr lang="en-US" altLang="zh-CN" sz="1600">
                <a:solidFill>
                  <a:srgbClr val="FFFFFF"/>
                </a:solidFill>
              </a:rPr>
              <a:t>}</a:t>
            </a:r>
            <a:endParaRPr lang="en-US" altLang="zh-CN" sz="1600">
              <a:solidFill>
                <a:srgbClr val="FFFFFF"/>
              </a:solidFill>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770255"/>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Visualizing the Lifecycle</a:t>
            </a:r>
            <a:endParaRPr lang="en-US" altLang="en-US" sz="2400" b="0" i="0">
              <a:solidFill>
                <a:srgbClr val="F8FAFF"/>
              </a:solidFill>
              <a:latin typeface="Microsoft YaHei" charset="0"/>
              <a:ea typeface="quote-cjk-patch"/>
              <a:cs typeface="Microsoft YaHei" charset="0"/>
            </a:endParaRPr>
          </a:p>
        </p:txBody>
      </p:sp>
      <p:sp>
        <p:nvSpPr>
          <p:cNvPr id="3" name="Text Box 2"/>
          <p:cNvSpPr txBox="1"/>
          <p:nvPr/>
        </p:nvSpPr>
        <p:spPr>
          <a:xfrm>
            <a:off x="8272145" y="1275715"/>
            <a:ext cx="2844800" cy="368300"/>
          </a:xfrm>
          <a:prstGeom prst="rect">
            <a:avLst/>
          </a:prstGeom>
        </p:spPr>
        <p:style>
          <a:lnRef idx="2">
            <a:schemeClr val="lt1"/>
          </a:lnRef>
          <a:fillRef idx="1">
            <a:schemeClr val="accent1"/>
          </a:fillRef>
          <a:effectRef idx="1">
            <a:schemeClr val="accent1"/>
          </a:effectRef>
          <a:fontRef idx="minor">
            <a:schemeClr val="lt1"/>
          </a:fontRef>
        </p:style>
        <p:txBody>
          <a:bodyPr wrap="square" rtlCol="0">
            <a:spAutoFit/>
          </a:bodyPr>
          <a:p>
            <a:r>
              <a:rPr lang="en-US" altLang="en-US"/>
              <a:t>  [ViewController Created]</a:t>
            </a:r>
            <a:endParaRPr lang="en-US" altLang="en-US"/>
          </a:p>
        </p:txBody>
      </p:sp>
      <p:sp>
        <p:nvSpPr>
          <p:cNvPr id="4" name="Text Box 3"/>
          <p:cNvSpPr txBox="1"/>
          <p:nvPr/>
        </p:nvSpPr>
        <p:spPr>
          <a:xfrm>
            <a:off x="8272145" y="2011680"/>
            <a:ext cx="2844800" cy="368300"/>
          </a:xfrm>
          <a:prstGeom prst="rect">
            <a:avLst/>
          </a:prstGeom>
        </p:spPr>
        <p:style>
          <a:lnRef idx="2">
            <a:schemeClr val="lt1"/>
          </a:lnRef>
          <a:fillRef idx="1">
            <a:schemeClr val="accent1"/>
          </a:fillRef>
          <a:effectRef idx="1">
            <a:schemeClr val="accent1"/>
          </a:effectRef>
          <a:fontRef idx="minor">
            <a:schemeClr val="lt1"/>
          </a:fontRef>
        </p:style>
        <p:txBody>
          <a:bodyPr wrap="square" rtlCol="0">
            <a:spAutoFit/>
          </a:bodyPr>
          <a:p>
            <a:r>
              <a:rPr lang="en-US" altLang="en-US"/>
              <a:t>viewDidLoad() (Once)</a:t>
            </a:r>
            <a:endParaRPr lang="en-US" altLang="en-US"/>
          </a:p>
        </p:txBody>
      </p:sp>
      <p:sp>
        <p:nvSpPr>
          <p:cNvPr id="6" name="Text Box 5"/>
          <p:cNvSpPr txBox="1"/>
          <p:nvPr/>
        </p:nvSpPr>
        <p:spPr>
          <a:xfrm>
            <a:off x="8221980" y="2747645"/>
            <a:ext cx="3604895" cy="368300"/>
          </a:xfrm>
          <a:prstGeom prst="rect">
            <a:avLst/>
          </a:prstGeom>
        </p:spPr>
        <p:style>
          <a:lnRef idx="2">
            <a:schemeClr val="lt1"/>
          </a:lnRef>
          <a:fillRef idx="1">
            <a:schemeClr val="accent1"/>
          </a:fillRef>
          <a:effectRef idx="1">
            <a:schemeClr val="accent1"/>
          </a:effectRef>
          <a:fontRef idx="minor">
            <a:schemeClr val="lt1"/>
          </a:fontRef>
        </p:style>
        <p:txBody>
          <a:bodyPr wrap="square" rtlCol="0">
            <a:spAutoFit/>
          </a:bodyPr>
          <a:p>
            <a:r>
              <a:rPr lang="en-US" altLang="en-US"/>
              <a:t> viewWillAppear(_:) (Every time)</a:t>
            </a:r>
            <a:endParaRPr lang="en-US" altLang="en-US"/>
          </a:p>
        </p:txBody>
      </p:sp>
      <p:sp>
        <p:nvSpPr>
          <p:cNvPr id="13" name="Text Box 12"/>
          <p:cNvSpPr txBox="1"/>
          <p:nvPr/>
        </p:nvSpPr>
        <p:spPr>
          <a:xfrm>
            <a:off x="1016000" y="1275715"/>
            <a:ext cx="6970395" cy="4831715"/>
          </a:xfrm>
          <a:prstGeom prst="rect">
            <a:avLst/>
          </a:prstGeom>
        </p:spPr>
        <p:txBody>
          <a:bodyPr>
            <a:noAutofit/>
          </a:bodyPr>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State Transition Functions</a:t>
            </a:r>
            <a:endParaRPr lang="en-US" altLang="en-US" sz="16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viewDidLoad()</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400" i="1">
                <a:solidFill>
                  <a:srgbClr val="F8FAFF"/>
                </a:solidFill>
                <a:latin typeface="quote-cjk-patch"/>
                <a:ea typeface="quote-cjk-patch"/>
              </a:rPr>
              <a:t>This is called after the view is loaded in to memory, and is commonly thought of as the first method that will be called. Majority of the view configurations and API setups are done here</a:t>
            </a:r>
            <a:endParaRPr lang="en-US" altLang="en-US" sz="1400" i="1">
              <a:solidFill>
                <a:srgbClr val="F8FAFF"/>
              </a:solidFill>
              <a:latin typeface="quote-cjk-patch"/>
              <a:ea typeface="quote-cjk-patch"/>
            </a:endParaRPr>
          </a:p>
          <a:p>
            <a:pPr marL="285750" indent="-285750">
              <a:lnSpc>
                <a:spcPct val="200000"/>
              </a:lnSpc>
              <a:spcBef>
                <a:spcPct val="0"/>
              </a:spcBef>
              <a:spcAft>
                <a:spcPct val="0"/>
              </a:spcAft>
              <a:buFont typeface="Wingdings" panose="05000000000000000000" charset="0"/>
              <a:buChar char=""/>
            </a:pPr>
            <a:r>
              <a:rPr lang="en-US" altLang="en-US" sz="1600" i="1">
                <a:solidFill>
                  <a:srgbClr val="F8FAFF"/>
                </a:solidFill>
                <a:latin typeface="quote-cjk-patch"/>
                <a:ea typeface="quote-cjk-patch"/>
              </a:rPr>
              <a:t>viewWillAppear(_: )</a:t>
            </a:r>
            <a:endParaRPr lang="en-US" altLang="en-US" sz="1600" i="1">
              <a:solidFill>
                <a:srgbClr val="F8FAFF"/>
              </a:solidFill>
              <a:latin typeface="quote-cjk-patch"/>
              <a:ea typeface="quote-cjk-patch"/>
            </a:endParaRPr>
          </a:p>
          <a:p>
            <a:pPr marL="742950" lvl="1" indent="-285750">
              <a:lnSpc>
                <a:spcPct val="200000"/>
              </a:lnSpc>
              <a:spcBef>
                <a:spcPct val="0"/>
              </a:spcBef>
              <a:spcAft>
                <a:spcPct val="0"/>
              </a:spcAft>
              <a:buFont typeface="Wingdings" panose="05000000000000000000" charset="0"/>
              <a:buChar char=""/>
            </a:pPr>
            <a:r>
              <a:rPr lang="en-US" altLang="en-US" sz="1400" i="1">
                <a:solidFill>
                  <a:srgbClr val="F8FAFF"/>
                </a:solidFill>
                <a:latin typeface="quote-cjk-patch"/>
                <a:ea typeface="quote-cjk-patch"/>
              </a:rPr>
              <a:t>This method is called use before the View Controller is added to the view hierarchy. The frame and bounds of the view controller are all set. This function is called each time the view is presented on screen.</a:t>
            </a:r>
            <a:endParaRPr lang="en-US" altLang="en-US" sz="1600" i="1">
              <a:solidFill>
                <a:srgbClr val="F8FAFF"/>
              </a:solidFill>
              <a:latin typeface="quote-cjk-patch"/>
              <a:ea typeface="quote-cjk-patch"/>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651000" y="1762125"/>
            <a:ext cx="9290685" cy="2553335"/>
          </a:xfrm>
          <a:prstGeom prst="rect">
            <a:avLst/>
          </a:prstGeom>
        </p:spPr>
        <p:txBody>
          <a:bodyPr wrap="square">
            <a:spAutoFit/>
          </a:bodyPr>
          <a:p>
            <a:pPr marL="0" indent="0" algn="ctr"/>
            <a:r>
              <a:rPr lang="en-US" altLang="en-US" sz="8000" b="0" i="0">
                <a:solidFill>
                  <a:srgbClr val="F8FAFF"/>
                </a:solidFill>
                <a:latin typeface="Microsoft YaHei" charset="0"/>
                <a:ea typeface="quote-cjk-patch"/>
                <a:cs typeface="Microsoft YaHei" charset="0"/>
              </a:rPr>
              <a:t>Live Demo:  Let's Add Logging</a:t>
            </a:r>
            <a:endParaRPr lang="en-US" altLang="en-US" sz="8000" b="0" i="0">
              <a:solidFill>
                <a:srgbClr val="F8FAFF"/>
              </a:solidFill>
              <a:latin typeface="Microsoft YaHei" charset="0"/>
              <a:ea typeface="quote-cjk-patch"/>
              <a:cs typeface="Microsoft YaHei" charset="0"/>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Creating Views in Code</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10096500" cy="1479550"/>
          </a:xfrm>
          <a:prstGeom prst="rect">
            <a:avLst/>
          </a:prstGeom>
        </p:spPr>
        <p:txBody>
          <a:bodyPr wrap="square">
            <a:noAutofit/>
          </a:bodyPr>
          <a:p>
            <a:pPr marL="285750" indent="-285750">
              <a:lnSpc>
                <a:spcPct val="200000"/>
              </a:lnSpc>
              <a:buFont typeface="Wingdings" panose="05000000000000000000" charset="0"/>
              <a:buChar char=""/>
            </a:pPr>
            <a:r>
              <a:rPr lang="en-US" altLang="en-US" sz="1800" i="1">
                <a:solidFill>
                  <a:srgbClr val="FFFFFF"/>
                </a:solidFill>
              </a:rPr>
              <a:t>So far, we've used Storyboards. But you can also create your UI entirely in code!</a:t>
            </a:r>
            <a:endParaRPr lang="en-US" altLang="en-US" sz="1800" i="1">
              <a:solidFill>
                <a:srgbClr val="FFFFFF"/>
              </a:solidFill>
            </a:endParaRPr>
          </a:p>
          <a:p>
            <a:pPr marL="285750" indent="-285750">
              <a:lnSpc>
                <a:spcPct val="200000"/>
              </a:lnSpc>
              <a:buFont typeface="Wingdings" panose="05000000000000000000" charset="0"/>
              <a:buChar char=""/>
            </a:pPr>
            <a:r>
              <a:rPr lang="en-US" altLang="en-US" sz="1800" i="1">
                <a:solidFill>
                  <a:srgbClr val="FFFFFF"/>
                </a:solidFill>
              </a:rPr>
              <a:t>viewDidLoad() is the perfect place to do this initial creation and adding of subviews.</a:t>
            </a:r>
            <a:endParaRPr lang="en-US" altLang="en-US" sz="1800" i="1">
              <a:solidFill>
                <a:srgbClr val="FFFFFF"/>
              </a:solidFill>
            </a:endParaRPr>
          </a:p>
        </p:txBody>
      </p:sp>
      <p:sp>
        <p:nvSpPr>
          <p:cNvPr id="5" name="Text Box 4"/>
          <p:cNvSpPr txBox="1"/>
          <p:nvPr/>
        </p:nvSpPr>
        <p:spPr>
          <a:xfrm>
            <a:off x="1016000" y="2700020"/>
            <a:ext cx="10209530" cy="2861310"/>
          </a:xfrm>
          <a:prstGeom prst="rect">
            <a:avLst/>
          </a:prstGeom>
        </p:spPr>
        <p:txBody>
          <a:bodyPr wrap="square">
            <a:spAutoFit/>
          </a:bodyPr>
          <a:p>
            <a:r>
              <a:rPr lang="en-US" altLang="zh-CN" sz="1800">
                <a:solidFill>
                  <a:srgbClr val="FC6BAA"/>
                </a:solidFill>
              </a:rPr>
              <a:t>let </a:t>
            </a:r>
            <a:r>
              <a:rPr lang="en-US" altLang="zh-CN" sz="1800">
                <a:solidFill>
                  <a:srgbClr val="42B8E0"/>
                </a:solidFill>
              </a:rPr>
              <a:t>nameLabel</a:t>
            </a:r>
            <a:r>
              <a:rPr lang="en-US" altLang="zh-CN" sz="1800">
                <a:solidFill>
                  <a:srgbClr val="FFFFFF"/>
                </a:solidFill>
              </a:rPr>
              <a:t> = UILabel() </a:t>
            </a:r>
            <a:r>
              <a:rPr lang="en-US" altLang="zh-CN" sz="1800">
                <a:solidFill>
                  <a:srgbClr val="7CB554"/>
                </a:solidFill>
              </a:rPr>
              <a:t>// 1. Create a view</a:t>
            </a:r>
            <a:endParaRPr lang="en-US" altLang="zh-CN" sz="1800">
              <a:solidFill>
                <a:srgbClr val="7CB554"/>
              </a:solidFill>
            </a:endParaRPr>
          </a:p>
          <a:p>
            <a:pPr marL="0" indent="0">
              <a:spcBef>
                <a:spcPct val="0"/>
              </a:spcBef>
              <a:spcAft>
                <a:spcPct val="0"/>
              </a:spcAft>
            </a:pPr>
            <a:endParaRPr lang="en-US" altLang="zh-CN" sz="1800">
              <a:solidFill>
                <a:srgbClr val="FC6BAA"/>
              </a:solidFill>
            </a:endParaRPr>
          </a:p>
          <a:p>
            <a:pPr marL="0" indent="0">
              <a:spcBef>
                <a:spcPct val="0"/>
              </a:spcBef>
              <a:spcAft>
                <a:spcPct val="0"/>
              </a:spcAft>
            </a:pPr>
            <a:r>
              <a:rPr lang="en-US" altLang="zh-CN" sz="1800">
                <a:solidFill>
                  <a:srgbClr val="FC6BAA"/>
                </a:solidFill>
              </a:rPr>
              <a:t>overridefunc </a:t>
            </a:r>
            <a:r>
              <a:rPr lang="en-US" altLang="zh-CN" sz="1800">
                <a:solidFill>
                  <a:srgbClr val="42B8E0"/>
                </a:solidFill>
              </a:rPr>
              <a:t>viewDidLoad</a:t>
            </a:r>
            <a:r>
              <a:rPr lang="en-US" altLang="zh-CN" sz="1800">
                <a:solidFill>
                  <a:srgbClr val="FFFFFF"/>
                </a:solidFill>
              </a:rPr>
              <a:t>() {</a:t>
            </a:r>
            <a:endParaRPr lang="en-US" altLang="zh-CN" sz="1800">
              <a:solidFill>
                <a:srgbClr val="FFFFFF"/>
              </a:solidFill>
            </a:endParaRPr>
          </a:p>
          <a:p>
            <a:r>
              <a:rPr lang="en-US" altLang="zh-CN" sz="1800"/>
              <a:t>    </a:t>
            </a:r>
            <a:r>
              <a:rPr lang="en-US" altLang="zh-CN" sz="1800">
                <a:solidFill>
                  <a:srgbClr val="FC6BAA"/>
                </a:solidFill>
              </a:rPr>
              <a:t>super</a:t>
            </a:r>
            <a:r>
              <a:rPr lang="en-US" altLang="zh-CN" sz="1800">
                <a:solidFill>
                  <a:srgbClr val="FFFFFF"/>
                </a:solidFill>
              </a:rPr>
              <a:t>.</a:t>
            </a:r>
            <a:r>
              <a:rPr lang="en-US" altLang="zh-CN" sz="1800">
                <a:solidFill>
                  <a:srgbClr val="72BFAE"/>
                </a:solidFill>
              </a:rPr>
              <a:t>viewDidLoad</a:t>
            </a:r>
            <a:r>
              <a:rPr lang="en-US" altLang="zh-CN" sz="1800">
                <a:solidFill>
                  <a:srgbClr val="FFFFFF"/>
                </a:solidFill>
              </a:rPr>
              <a:t>()</a:t>
            </a:r>
            <a:endParaRPr lang="en-US" altLang="zh-CN" sz="1800">
              <a:solidFill>
                <a:srgbClr val="FFFFFF"/>
              </a:solidFill>
            </a:endParaRPr>
          </a:p>
          <a:p>
            <a:r>
              <a:rPr lang="en-US" altLang="zh-CN" sz="1800"/>
              <a:t>    </a:t>
            </a:r>
            <a:endParaRPr lang="en-US" altLang="zh-CN" sz="1800"/>
          </a:p>
          <a:p>
            <a:r>
              <a:rPr lang="en-US" altLang="zh-CN" sz="1800"/>
              <a:t>    </a:t>
            </a:r>
            <a:r>
              <a:rPr lang="en-US" altLang="zh-CN" sz="1800">
                <a:solidFill>
                  <a:srgbClr val="72BFAE"/>
                </a:solidFill>
              </a:rPr>
              <a:t>nameLabel</a:t>
            </a:r>
            <a:r>
              <a:rPr lang="en-US" altLang="zh-CN" sz="1800">
                <a:solidFill>
                  <a:srgbClr val="FFFFFF"/>
                </a:solidFill>
              </a:rPr>
              <a:t>.text = </a:t>
            </a:r>
            <a:r>
              <a:rPr lang="en-US" altLang="zh-CN" sz="1800">
                <a:solidFill>
                  <a:srgbClr val="FC7467"/>
                </a:solidFill>
              </a:rPr>
              <a:t>"Sothea"</a:t>
            </a:r>
            <a:r>
              <a:rPr lang="en-US" altLang="zh-CN" sz="1800">
                <a:solidFill>
                  <a:srgbClr val="7CB554"/>
                </a:solidFill>
              </a:rPr>
              <a:t>// 2. Configure it</a:t>
            </a:r>
            <a:endParaRPr lang="en-US" altLang="zh-CN" sz="1800">
              <a:solidFill>
                <a:srgbClr val="7CB554"/>
              </a:solidFill>
            </a:endParaRPr>
          </a:p>
          <a:p>
            <a:r>
              <a:rPr lang="en-US" altLang="zh-CN" sz="1800"/>
              <a:t>    </a:t>
            </a:r>
            <a:r>
              <a:rPr lang="en-US" altLang="zh-CN" sz="1800">
                <a:solidFill>
                  <a:srgbClr val="72BFAE"/>
                </a:solidFill>
              </a:rPr>
              <a:t>nameLabel</a:t>
            </a:r>
            <a:r>
              <a:rPr lang="en-US" altLang="zh-CN" sz="1800">
                <a:solidFill>
                  <a:srgbClr val="FFFFFF"/>
                </a:solidFill>
              </a:rPr>
              <a:t>.frame = CGRect(x: </a:t>
            </a:r>
            <a:r>
              <a:rPr lang="en-US" altLang="zh-CN" sz="1800">
                <a:solidFill>
                  <a:srgbClr val="D0BC56"/>
                </a:solidFill>
              </a:rPr>
              <a:t>50</a:t>
            </a:r>
            <a:r>
              <a:rPr lang="en-US" altLang="zh-CN" sz="1800">
                <a:solidFill>
                  <a:srgbClr val="FFFFFF"/>
                </a:solidFill>
              </a:rPr>
              <a:t>, y: </a:t>
            </a:r>
            <a:r>
              <a:rPr lang="en-US" altLang="zh-CN" sz="1800">
                <a:solidFill>
                  <a:srgbClr val="D0BC56"/>
                </a:solidFill>
              </a:rPr>
              <a:t>100</a:t>
            </a:r>
            <a:r>
              <a:rPr lang="en-US" altLang="zh-CN" sz="1800">
                <a:solidFill>
                  <a:srgbClr val="FFFFFF"/>
                </a:solidFill>
              </a:rPr>
              <a:t>, width: </a:t>
            </a:r>
            <a:r>
              <a:rPr lang="en-US" altLang="zh-CN" sz="1800">
                <a:solidFill>
                  <a:srgbClr val="D0BC56"/>
                </a:solidFill>
              </a:rPr>
              <a:t>200</a:t>
            </a:r>
            <a:r>
              <a:rPr lang="en-US" altLang="zh-CN" sz="1800">
                <a:solidFill>
                  <a:srgbClr val="FFFFFF"/>
                </a:solidFill>
              </a:rPr>
              <a:t>, height: </a:t>
            </a:r>
            <a:r>
              <a:rPr lang="en-US" altLang="zh-CN" sz="1800">
                <a:solidFill>
                  <a:srgbClr val="D0BC56"/>
                </a:solidFill>
              </a:rPr>
              <a:t>40</a:t>
            </a:r>
            <a:r>
              <a:rPr lang="en-US" altLang="zh-CN" sz="1800">
                <a:solidFill>
                  <a:srgbClr val="FFFFFF"/>
                </a:solidFill>
              </a:rPr>
              <a:t>) </a:t>
            </a:r>
            <a:r>
              <a:rPr lang="en-US" altLang="zh-CN" sz="1800">
                <a:solidFill>
                  <a:srgbClr val="7CB554"/>
                </a:solidFill>
              </a:rPr>
              <a:t>// 3. Set its size &amp; position</a:t>
            </a:r>
            <a:endParaRPr lang="en-US" altLang="zh-CN" sz="1800">
              <a:solidFill>
                <a:srgbClr val="7CB554"/>
              </a:solidFill>
            </a:endParaRPr>
          </a:p>
          <a:p>
            <a:r>
              <a:rPr lang="en-US" altLang="zh-CN" sz="1800"/>
              <a:t>    </a:t>
            </a:r>
            <a:endParaRPr lang="en-US" altLang="zh-CN" sz="1800"/>
          </a:p>
          <a:p>
            <a:r>
              <a:rPr lang="en-US" altLang="zh-CN" sz="1800"/>
              <a:t>    </a:t>
            </a:r>
            <a:r>
              <a:rPr lang="en-US" altLang="zh-CN" sz="1800">
                <a:solidFill>
                  <a:srgbClr val="FFFFFF"/>
                </a:solidFill>
              </a:rPr>
              <a:t>view.addSubview(</a:t>
            </a:r>
            <a:r>
              <a:rPr lang="en-US" altLang="zh-CN" sz="1800">
                <a:solidFill>
                  <a:srgbClr val="72BFAE"/>
                </a:solidFill>
              </a:rPr>
              <a:t>nameLabel</a:t>
            </a:r>
            <a:r>
              <a:rPr lang="en-US" altLang="zh-CN" sz="1800">
                <a:solidFill>
                  <a:srgbClr val="FFFFFF"/>
                </a:solidFill>
              </a:rPr>
              <a:t>) </a:t>
            </a:r>
            <a:r>
              <a:rPr lang="en-US" altLang="zh-CN" sz="1800">
                <a:solidFill>
                  <a:srgbClr val="7CB554"/>
                </a:solidFill>
              </a:rPr>
              <a:t>// 4. Add it to the screen</a:t>
            </a:r>
            <a:endParaRPr lang="en-US" altLang="zh-CN" sz="1800">
              <a:solidFill>
                <a:srgbClr val="7CB554"/>
              </a:solidFill>
            </a:endParaRPr>
          </a:p>
          <a:p>
            <a:pPr marL="0" indent="0">
              <a:spcBef>
                <a:spcPct val="0"/>
              </a:spcBef>
              <a:spcAft>
                <a:spcPct val="0"/>
              </a:spcAft>
            </a:pPr>
            <a:r>
              <a:rPr lang="en-US" altLang="zh-CN" sz="1800">
                <a:solidFill>
                  <a:srgbClr val="FFFFFF"/>
                </a:solidFill>
              </a:rPr>
              <a:t>}</a:t>
            </a:r>
            <a:endParaRPr lang="en-US" altLang="zh-CN" sz="1800">
              <a:solidFill>
                <a:srgbClr val="FFFFFF"/>
              </a:solidFill>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a:solidFill>
                  <a:srgbClr val="F8FAFF"/>
                </a:solidFill>
                <a:latin typeface="Microsoft YaHei" charset="0"/>
                <a:ea typeface="quote-cjk-patch"/>
                <a:cs typeface="Microsoft YaHei" charset="0"/>
                <a:sym typeface="+mn-ea"/>
              </a:rPr>
              <a:t>Practice Exercises</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10965815" cy="4930140"/>
          </a:xfrm>
          <a:prstGeom prst="rect">
            <a:avLst/>
          </a:prstGeom>
        </p:spPr>
        <p:txBody>
          <a:bodyPr wrap="square">
            <a:noAutofit/>
          </a:bodyPr>
          <a:p>
            <a:pPr marL="285750" indent="-285750">
              <a:lnSpc>
                <a:spcPct val="200000"/>
              </a:lnSpc>
              <a:buFont typeface="Wingdings" panose="05000000000000000000" charset="0"/>
              <a:buChar char=""/>
            </a:pPr>
            <a:r>
              <a:rPr lang="en-US" altLang="en-US" sz="1800" i="1">
                <a:solidFill>
                  <a:srgbClr val="FFFFFF"/>
                </a:solidFill>
              </a:rPr>
              <a:t>Goal: Solidify your understanding of the ViewController lifecycle.</a:t>
            </a:r>
            <a:endParaRPr lang="en-US" altLang="en-US" sz="1800" i="1">
              <a:solidFill>
                <a:srgbClr val="FFFFFF"/>
              </a:solidFill>
            </a:endParaRPr>
          </a:p>
          <a:p>
            <a:pPr marL="285750" indent="-285750">
              <a:lnSpc>
                <a:spcPct val="200000"/>
              </a:lnSpc>
              <a:buFont typeface="Wingdings" panose="05000000000000000000" charset="0"/>
              <a:buChar char=""/>
            </a:pPr>
            <a:r>
              <a:rPr lang="en-US" altLang="en-US" sz="1800" i="1">
                <a:solidFill>
                  <a:srgbClr val="FFFFFF"/>
                </a:solidFill>
              </a:rPr>
              <a:t>Task 1 (The Logger): Create a new "Single View App" project.</a:t>
            </a:r>
            <a:endParaRPr lang="en-US" altLang="en-US" sz="1800" i="1">
              <a:solidFill>
                <a:srgbClr val="FFFFFF"/>
              </a:solidFill>
            </a:endParaRPr>
          </a:p>
          <a:p>
            <a:pPr marL="742950" lvl="1" indent="-285750">
              <a:lnSpc>
                <a:spcPct val="200000"/>
              </a:lnSpc>
              <a:buFont typeface="Wingdings" panose="05000000000000000000" charset="0"/>
              <a:buChar char=""/>
            </a:pPr>
            <a:r>
              <a:rPr lang="en-US" altLang="en-US" sz="1800" i="1">
                <a:solidFill>
                  <a:srgbClr val="FFFFFF"/>
                </a:solidFill>
              </a:rPr>
              <a:t>Override all five key lifecycle methods.</a:t>
            </a:r>
            <a:endParaRPr lang="en-US" altLang="en-US" sz="1800" i="1">
              <a:solidFill>
                <a:srgbClr val="FFFFFF"/>
              </a:solidFill>
            </a:endParaRPr>
          </a:p>
          <a:p>
            <a:pPr marL="742950" lvl="1" indent="-285750">
              <a:lnSpc>
                <a:spcPct val="200000"/>
              </a:lnSpc>
              <a:buFont typeface="Wingdings" panose="05000000000000000000" charset="0"/>
              <a:buChar char=""/>
            </a:pPr>
            <a:r>
              <a:rPr lang="en-US" altLang="en-US" sz="1800" i="1">
                <a:solidFill>
                  <a:srgbClr val="FFFFFF"/>
                </a:solidFill>
              </a:rPr>
              <a:t>In each one, add a unique print() statement (e.g., "viewDidLoad called").</a:t>
            </a:r>
            <a:endParaRPr lang="en-US" altLang="en-US" sz="1800" i="1">
              <a:solidFill>
                <a:srgbClr val="FFFFFF"/>
              </a:solidFill>
            </a:endParaRPr>
          </a:p>
          <a:p>
            <a:pPr marL="742950" lvl="1" indent="-285750">
              <a:lnSpc>
                <a:spcPct val="200000"/>
              </a:lnSpc>
              <a:buFont typeface="Wingdings" panose="05000000000000000000" charset="0"/>
              <a:buChar char=""/>
            </a:pPr>
            <a:r>
              <a:rPr lang="en-US" altLang="en-US" sz="1800" i="1">
                <a:solidFill>
                  <a:srgbClr val="FFFFFF"/>
                </a:solidFill>
              </a:rPr>
              <a:t>Run the app and record the order of messages in the console.</a:t>
            </a:r>
            <a:endParaRPr lang="en-US" altLang="en-US" sz="1800" i="1">
              <a:solidFill>
                <a:srgbClr val="FFFFFF"/>
              </a:solidFill>
            </a:endParaRPr>
          </a:p>
          <a:p>
            <a:pPr marL="742950" lvl="1" indent="-285750">
              <a:lnSpc>
                <a:spcPct val="200000"/>
              </a:lnSpc>
              <a:buFont typeface="Wingdings" panose="05000000000000000000" charset="0"/>
              <a:buChar char=""/>
            </a:pPr>
            <a:r>
              <a:rPr lang="en-US" altLang="en-US" sz="1800" i="1">
                <a:solidFill>
                  <a:srgbClr val="FFFFFF"/>
                </a:solidFill>
              </a:rPr>
              <a:t>Navigate away from the app (using the Home button) and back again. Record the new order.</a:t>
            </a:r>
            <a:endParaRPr lang="en-US" altLang="en-US" sz="1800" i="1">
              <a:solidFill>
                <a:srgbClr val="FFFFFF"/>
              </a:solidFill>
            </a:endParaRPr>
          </a:p>
          <a:p>
            <a:pPr marL="285750" indent="-285750">
              <a:lnSpc>
                <a:spcPct val="200000"/>
              </a:lnSpc>
              <a:buFont typeface="Wingdings" panose="05000000000000000000" charset="0"/>
              <a:buChar char=""/>
            </a:pPr>
            <a:r>
              <a:rPr lang="en-US" altLang="en-US" sz="1800" i="1">
                <a:solidFill>
                  <a:srgbClr val="FFFFFF"/>
                </a:solidFill>
              </a:rPr>
              <a:t>Task 2 (Code UI): In the same project, add a button entirely in code within the viewDidLoad() method. Make tapping this button change the background color of the main view. (Hint: The button's action can call a function you write, like func changeColor() { ... }).</a:t>
            </a:r>
            <a:endParaRPr lang="en-US" altLang="en-US" sz="1800" i="1">
              <a:solidFill>
                <a:srgbClr val="FFFFFF"/>
              </a:solidFill>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442595"/>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 </a:t>
            </a:r>
            <a:r>
              <a:rPr lang="en-US" altLang="en-US" sz="2400">
                <a:solidFill>
                  <a:srgbClr val="F8FAFF"/>
                </a:solidFill>
                <a:latin typeface="Microsoft YaHei" charset="0"/>
                <a:ea typeface="quote-cjk-patch"/>
                <a:cs typeface="Microsoft YaHei" charset="0"/>
                <a:sym typeface="+mn-ea"/>
              </a:rPr>
              <a:t>Homework Assignment</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191260"/>
            <a:ext cx="10965815" cy="5615940"/>
          </a:xfrm>
          <a:prstGeom prst="rect">
            <a:avLst/>
          </a:prstGeom>
        </p:spPr>
        <p:txBody>
          <a:bodyPr wrap="square">
            <a:noAutofit/>
          </a:bodyPr>
          <a:p>
            <a:pPr>
              <a:lnSpc>
                <a:spcPct val="200000"/>
              </a:lnSpc>
              <a:buFont typeface="+mj-lt"/>
            </a:pPr>
            <a:r>
              <a:rPr lang="en-US" altLang="en-US" sz="1800" i="1">
                <a:solidFill>
                  <a:srgbClr val="FFFFFF"/>
                </a:solidFill>
              </a:rPr>
              <a:t>// Case 1: GET Requests</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Fetch data from JSONPlaceholder</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Parse JSON response</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Display in UITableView</a:t>
            </a:r>
            <a:endParaRPr lang="en-US" altLang="en-US" sz="1800" i="1">
              <a:solidFill>
                <a:srgbClr val="FFFFFF"/>
              </a:solidFill>
            </a:endParaRPr>
          </a:p>
          <a:p>
            <a:pPr>
              <a:lnSpc>
                <a:spcPct val="200000"/>
              </a:lnSpc>
              <a:buFont typeface="+mj-lt"/>
            </a:pPr>
            <a:r>
              <a:rPr lang="en-US" altLang="en-US" sz="1800" i="1">
                <a:solidFill>
                  <a:srgbClr val="FFFFFF"/>
                </a:solidFill>
              </a:rPr>
              <a:t>// Case 2: Error Handling</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Network error scenarios</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Loading states</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Empty states</a:t>
            </a:r>
            <a:endParaRPr lang="en-US" altLang="en-US" sz="1800" i="1">
              <a:solidFill>
                <a:srgbClr val="FFFFFF"/>
              </a:solidFill>
            </a:endParaRPr>
          </a:p>
          <a:p>
            <a:pPr>
              <a:lnSpc>
                <a:spcPct val="200000"/>
              </a:lnSpc>
              <a:buFont typeface="+mj-lt"/>
            </a:pPr>
            <a:r>
              <a:rPr lang="en-US" altLang="en-US" sz="1800" i="1">
                <a:solidFill>
                  <a:srgbClr val="FFFFFF"/>
                </a:solidFill>
              </a:rPr>
              <a:t>// Case 3: Handle response</a:t>
            </a:r>
            <a:endParaRPr lang="en-US" altLang="en-US" sz="1800" i="1">
              <a:solidFill>
                <a:srgbClr val="FFFFFF"/>
              </a:solidFill>
            </a:endParaRPr>
          </a:p>
          <a:p>
            <a:pPr marL="800100" lvl="1" indent="-342900">
              <a:lnSpc>
                <a:spcPct val="200000"/>
              </a:lnSpc>
              <a:buFont typeface="+mj-lt"/>
              <a:buAutoNum type="arabicParenR"/>
            </a:pPr>
            <a:r>
              <a:rPr lang="en-US" altLang="en-US" sz="1800" i="1">
                <a:solidFill>
                  <a:srgbClr val="FFFFFF"/>
                </a:solidFill>
              </a:rPr>
              <a:t>- Handle responses</a:t>
            </a:r>
            <a:endParaRPr lang="en-US" altLang="en-US" sz="1800" i="1">
              <a:solidFill>
                <a:srgbClr val="FFFFFF"/>
              </a:solidFill>
            </a:endParaRPr>
          </a:p>
          <a:p>
            <a:pPr>
              <a:lnSpc>
                <a:spcPct val="200000"/>
              </a:lnSpc>
              <a:buFont typeface="+mj-lt"/>
            </a:pPr>
            <a:endParaRPr lang="en-US" altLang="en-US" sz="1800" i="1">
              <a:solidFill>
                <a:srgbClr val="FFFFFF"/>
              </a:solidFill>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Key Takeaways</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10965815" cy="3584575"/>
          </a:xfrm>
          <a:prstGeom prst="rect">
            <a:avLst/>
          </a:prstGeom>
        </p:spPr>
        <p:txBody>
          <a:bodyPr wrap="square">
            <a:noAutofit/>
          </a:bodyPr>
          <a:p>
            <a:pPr marL="342900" indent="-342900">
              <a:lnSpc>
                <a:spcPct val="200000"/>
              </a:lnSpc>
              <a:buFont typeface="+mj-lt"/>
              <a:buAutoNum type="arabicParenR"/>
            </a:pPr>
            <a:r>
              <a:rPr lang="en-US" altLang="en-US" sz="1800" i="1">
                <a:solidFill>
                  <a:srgbClr val="FFFFFF"/>
                </a:solidFill>
              </a:rPr>
              <a:t>ViewControllers have a lifecycle managed by UIKit.</a:t>
            </a:r>
            <a:endParaRPr lang="en-US" altLang="en-US" sz="1800" i="1">
              <a:solidFill>
                <a:srgbClr val="FFFFFF"/>
              </a:solidFill>
            </a:endParaRPr>
          </a:p>
          <a:p>
            <a:pPr marL="342900" indent="-342900">
              <a:lnSpc>
                <a:spcPct val="200000"/>
              </a:lnSpc>
              <a:buFont typeface="+mj-lt"/>
              <a:buAutoNum type="arabicParenR"/>
            </a:pPr>
            <a:r>
              <a:rPr lang="en-US" altLang="en-US" sz="1800" i="1">
                <a:solidFill>
                  <a:srgbClr val="FFFFFF"/>
                </a:solidFill>
              </a:rPr>
              <a:t>viewDidLoad() is for one-time setup. The view is loaded but not on screen.</a:t>
            </a:r>
            <a:endParaRPr lang="en-US" altLang="en-US" sz="1800" i="1">
              <a:solidFill>
                <a:srgbClr val="FFFFFF"/>
              </a:solidFill>
            </a:endParaRPr>
          </a:p>
          <a:p>
            <a:pPr marL="342900" indent="-342900">
              <a:lnSpc>
                <a:spcPct val="200000"/>
              </a:lnSpc>
              <a:buFont typeface="+mj-lt"/>
              <a:buAutoNum type="arabicParenR"/>
            </a:pPr>
            <a:r>
              <a:rPr lang="en-US" altLang="en-US" sz="1800" i="1">
                <a:solidFill>
                  <a:srgbClr val="FFFFFF"/>
                </a:solidFill>
              </a:rPr>
              <a:t>viewWillAppear/viewDidAppear are called whenever the view is about to be/is shown.</a:t>
            </a:r>
            <a:endParaRPr lang="en-US" altLang="en-US" sz="1800" i="1">
              <a:solidFill>
                <a:srgbClr val="FFFFFF"/>
              </a:solidFill>
            </a:endParaRPr>
          </a:p>
          <a:p>
            <a:pPr marL="342900" indent="-342900">
              <a:lnSpc>
                <a:spcPct val="200000"/>
              </a:lnSpc>
              <a:buFont typeface="+mj-lt"/>
              <a:buAutoNum type="arabicParenR"/>
            </a:pPr>
            <a:r>
              <a:rPr lang="en-US" altLang="en-US" sz="1800" i="1">
                <a:solidFill>
                  <a:srgbClr val="FFFFFF"/>
                </a:solidFill>
              </a:rPr>
              <a:t>viewWillDisappear/viewDidDisappear are called whenever the view is about to be/is hidden.</a:t>
            </a:r>
            <a:endParaRPr lang="en-US" altLang="en-US" sz="1800" i="1">
              <a:solidFill>
                <a:srgbClr val="FFFFFF"/>
              </a:solidFill>
            </a:endParaRPr>
          </a:p>
          <a:p>
            <a:pPr marL="342900" indent="-342900">
              <a:lnSpc>
                <a:spcPct val="200000"/>
              </a:lnSpc>
              <a:buFont typeface="+mj-lt"/>
              <a:buAutoNum type="arabicParenR"/>
            </a:pPr>
            <a:r>
              <a:rPr lang="en-US" altLang="en-US" sz="1800" i="1">
                <a:solidFill>
                  <a:srgbClr val="FFFFFF"/>
                </a:solidFill>
              </a:rPr>
              <a:t>You can create and configure UI elements entirely in code, and viewDidLoad() is a great place to start.</a:t>
            </a:r>
            <a:endParaRPr lang="en-US" altLang="en-US" sz="1800" i="1">
              <a:solidFill>
                <a:srgbClr val="FFFFFF"/>
              </a:solidFill>
            </a:endParaRP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5121" name="图片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11" name="Text Box 10"/>
          <p:cNvSpPr txBox="1"/>
          <p:nvPr/>
        </p:nvSpPr>
        <p:spPr>
          <a:xfrm>
            <a:off x="1016000" y="902970"/>
            <a:ext cx="6060440" cy="460375"/>
          </a:xfrm>
          <a:prstGeom prst="rect">
            <a:avLst/>
          </a:prstGeom>
        </p:spPr>
        <p:txBody>
          <a:bodyPr wrap="square">
            <a:spAutoFit/>
          </a:bodyPr>
          <a:p>
            <a:pPr marL="0" indent="0"/>
            <a:r>
              <a:rPr lang="en-US" altLang="en-US" sz="2400" b="0" i="0">
                <a:solidFill>
                  <a:srgbClr val="F8FAFF"/>
                </a:solidFill>
                <a:latin typeface="Microsoft YaHei" charset="0"/>
                <a:ea typeface="quote-cjk-patch"/>
                <a:cs typeface="Microsoft YaHei" charset="0"/>
              </a:rPr>
              <a:t>Questions?</a:t>
            </a:r>
            <a:endParaRPr lang="en-US" altLang="en-US" sz="2400" b="0" i="0">
              <a:solidFill>
                <a:srgbClr val="F8FAFF"/>
              </a:solidFill>
              <a:latin typeface="Microsoft YaHei" charset="0"/>
              <a:ea typeface="quote-cjk-patch"/>
              <a:cs typeface="Microsoft YaHei" charset="0"/>
            </a:endParaRPr>
          </a:p>
        </p:txBody>
      </p:sp>
      <p:sp>
        <p:nvSpPr>
          <p:cNvPr id="4" name="Text Box 3"/>
          <p:cNvSpPr txBox="1"/>
          <p:nvPr/>
        </p:nvSpPr>
        <p:spPr>
          <a:xfrm>
            <a:off x="1016000" y="1488440"/>
            <a:ext cx="7903210" cy="978535"/>
          </a:xfrm>
          <a:prstGeom prst="rect">
            <a:avLst/>
          </a:prstGeom>
        </p:spPr>
        <p:txBody>
          <a:bodyPr wrap="square">
            <a:noAutofit/>
          </a:bodyPr>
          <a:p>
            <a:pPr marL="285750" indent="-285750">
              <a:lnSpc>
                <a:spcPct val="200000"/>
              </a:lnSpc>
              <a:buFont typeface="Wingdings" panose="05000000000000000000" charset="0"/>
              <a:buChar char=""/>
            </a:pPr>
            <a:r>
              <a:rPr lang="en-US" altLang="en-US" sz="1800">
                <a:solidFill>
                  <a:srgbClr val="FFFFFF"/>
                </a:solidFill>
              </a:rPr>
              <a:t>Next Week: </a:t>
            </a:r>
            <a:r>
              <a:rPr lang="en-US" altLang="en-US" sz="1800">
                <a:solidFill>
                  <a:srgbClr val="FF0000"/>
                </a:solidFill>
              </a:rPr>
              <a:t>Navigation - Moving between multiple screens!</a:t>
            </a:r>
            <a:endParaRPr lang="en-US" altLang="en-US" sz="1800">
              <a:solidFill>
                <a:srgbClr val="FF0000"/>
              </a:solidFill>
            </a:endParaRPr>
          </a:p>
        </p:txBody>
      </p:sp>
      <p:sp>
        <p:nvSpPr>
          <p:cNvPr id="2" name="Text Box 1"/>
          <p:cNvSpPr txBox="1"/>
          <p:nvPr/>
        </p:nvSpPr>
        <p:spPr>
          <a:xfrm>
            <a:off x="2353310" y="3994785"/>
            <a:ext cx="7670165" cy="3622675"/>
          </a:xfrm>
          <a:prstGeom prst="rect">
            <a:avLst/>
          </a:prstGeom>
        </p:spPr>
        <p:txBody>
          <a:bodyPr>
            <a:noAutofit/>
          </a:bodyPr>
          <a:p>
            <a:pPr marL="0" algn="ctr">
              <a:lnSpc>
                <a:spcPts val="2860"/>
              </a:lnSpc>
              <a:spcBef>
                <a:spcPct val="0"/>
              </a:spcBef>
              <a:spcAft>
                <a:spcPct val="0"/>
              </a:spcAft>
              <a:buFont typeface="Arial" panose="020B0604020202090204"/>
            </a:pPr>
            <a:r>
              <a:rPr lang="en-US" altLang="zh-CN" sz="9600" b="0" i="0">
                <a:solidFill>
                  <a:srgbClr val="F8FAFF"/>
                </a:solidFill>
                <a:latin typeface="quote-cjk-patch"/>
                <a:ea typeface="quote-cjk-patch"/>
              </a:rPr>
              <a:t>Thank you!</a:t>
            </a:r>
            <a:endParaRPr lang="en-US" altLang="zh-CN" sz="9600" b="0" i="0">
              <a:solidFill>
                <a:srgbClr val="F8FAFF"/>
              </a:solidFill>
              <a:latin typeface="quote-cjk-patch"/>
              <a:ea typeface="quote-cjk-patch"/>
            </a:endParaRPr>
          </a:p>
        </p:txBody>
      </p:sp>
    </p:spTree>
  </p:cSld>
  <p:clrMapOvr>
    <a:masterClrMapping/>
  </p:clrMapOvr>
  <p:transition spd="slow">
    <p:wip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6426</Words>
  <Application>WPS Presentation</Application>
  <PresentationFormat>自定义</PresentationFormat>
  <Paragraphs>183</Paragraphs>
  <Slides>17</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17</vt:i4>
      </vt:variant>
    </vt:vector>
  </HeadingPairs>
  <TitlesOfParts>
    <vt:vector size="35" baseType="lpstr">
      <vt:lpstr>Arial</vt:lpstr>
      <vt:lpstr>SimSun</vt:lpstr>
      <vt:lpstr>Wingdings</vt:lpstr>
      <vt:lpstr>Calibri</vt:lpstr>
      <vt:lpstr>Helvetica Neue</vt:lpstr>
      <vt:lpstr>宋体-简</vt:lpstr>
      <vt:lpstr>Calibri Light</vt:lpstr>
      <vt:lpstr>Microsoft YaHei</vt:lpstr>
      <vt:lpstr>汉仪旗黑</vt:lpstr>
      <vt:lpstr>Microsoft YaHei</vt:lpstr>
      <vt:lpstr>quote-cjk-patch</vt:lpstr>
      <vt:lpstr>Wingdings</vt:lpstr>
      <vt:lpstr>Arial</vt:lpstr>
      <vt:lpstr>Microsoft YaHei</vt:lpstr>
      <vt:lpstr>Arial Unicode MS</vt:lpstr>
      <vt:lpstr>SimSun</vt:lpstr>
      <vt:lpstr>Thonburi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nem path</cp:lastModifiedBy>
  <cp:revision>644</cp:revision>
  <dcterms:created xsi:type="dcterms:W3CDTF">2025-11-03T14:23:56Z</dcterms:created>
  <dcterms:modified xsi:type="dcterms:W3CDTF">2025-11-03T14:23:56Z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1033-12.1.23150.23150</vt:lpwstr>
  </property>
  <property fmtid="{D5CDD505-2E9C-101B-9397-08002B2CF9AE}" pid="3" name="ICV">
    <vt:lpwstr>4652830370BA95541050AD68A735B2E2_41</vt:lpwstr>
  </property>
</Properties>
</file>