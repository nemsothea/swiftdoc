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3"/>
    <p:sldId id="295" r:id="rId4"/>
    <p:sldId id="319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1" r:id="rId15"/>
    <p:sldId id="346" r:id="rId16"/>
    <p:sldId id="345" r:id="rId17"/>
    <p:sldId id="344" r:id="rId18"/>
    <p:sldId id="343" r:id="rId19"/>
    <p:sldId id="342" r:id="rId20"/>
    <p:sldId id="340" r:id="rId21"/>
    <p:sldId id="308" r:id="rId22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m path" initials="authorId_54098778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01"/>
    <p:restoredTop sz="94660"/>
  </p:normalViewPr>
  <p:slideViewPr>
    <p:cSldViewPr snapToGrid="0" showGuides="1">
      <p:cViewPr varScale="1">
        <p:scale>
          <a:sx n="70" d="100"/>
          <a:sy n="70" d="100"/>
        </p:scale>
        <p:origin x="-750" y="-108"/>
      </p:cViewPr>
      <p:guideLst>
        <p:guide orient="horz" pos="2160"/>
        <p:guide pos="3804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矩形 5"/>
          <p:cNvSpPr/>
          <p:nvPr/>
        </p:nvSpPr>
        <p:spPr>
          <a:xfrm flipH="1">
            <a:off x="0" y="2192338"/>
            <a:ext cx="6908800" cy="2162175"/>
          </a:xfrm>
          <a:custGeom>
            <a:avLst/>
            <a:gdLst>
              <a:gd name="connsiteX0" fmla="*/ 0 w 8485632"/>
              <a:gd name="connsiteY0" fmla="*/ 0 h 1490472"/>
              <a:gd name="connsiteX1" fmla="*/ 8485632 w 8485632"/>
              <a:gd name="connsiteY1" fmla="*/ 0 h 1490472"/>
              <a:gd name="connsiteX2" fmla="*/ 8485632 w 8485632"/>
              <a:gd name="connsiteY2" fmla="*/ 1490472 h 1490472"/>
              <a:gd name="connsiteX3" fmla="*/ 0 w 8485632"/>
              <a:gd name="connsiteY3" fmla="*/ 1490472 h 1490472"/>
              <a:gd name="connsiteX4" fmla="*/ 0 w 8485632"/>
              <a:gd name="connsiteY4" fmla="*/ 0 h 1490472"/>
              <a:gd name="connsiteX0-1" fmla="*/ 0 w 8485632"/>
              <a:gd name="connsiteY0-2" fmla="*/ 0 h 1490472"/>
              <a:gd name="connsiteX1-3" fmla="*/ 8485632 w 8485632"/>
              <a:gd name="connsiteY1-4" fmla="*/ 0 h 1490472"/>
              <a:gd name="connsiteX2-5" fmla="*/ 8485632 w 8485632"/>
              <a:gd name="connsiteY2-6" fmla="*/ 1490472 h 1490472"/>
              <a:gd name="connsiteX3-7" fmla="*/ 0 w 8485632"/>
              <a:gd name="connsiteY3-8" fmla="*/ 1490472 h 1490472"/>
              <a:gd name="connsiteX4-9" fmla="*/ 0 w 8485632"/>
              <a:gd name="connsiteY4-10" fmla="*/ 0 h 1490472"/>
              <a:gd name="connsiteX0-11" fmla="*/ 491744 w 8977376"/>
              <a:gd name="connsiteY0-12" fmla="*/ 0 h 1490472"/>
              <a:gd name="connsiteX1-13" fmla="*/ 8977376 w 8977376"/>
              <a:gd name="connsiteY1-14" fmla="*/ 0 h 1490472"/>
              <a:gd name="connsiteX2-15" fmla="*/ 8977376 w 8977376"/>
              <a:gd name="connsiteY2-16" fmla="*/ 1490472 h 1490472"/>
              <a:gd name="connsiteX3-17" fmla="*/ 491744 w 8977376"/>
              <a:gd name="connsiteY3-18" fmla="*/ 1490472 h 1490472"/>
              <a:gd name="connsiteX4-19" fmla="*/ 491744 w 8977376"/>
              <a:gd name="connsiteY4-20" fmla="*/ 0 h 1490472"/>
              <a:gd name="connsiteX0-21" fmla="*/ 617932 w 9103564"/>
              <a:gd name="connsiteY0-22" fmla="*/ 0 h 1490472"/>
              <a:gd name="connsiteX1-23" fmla="*/ 9103564 w 9103564"/>
              <a:gd name="connsiteY1-24" fmla="*/ 0 h 1490472"/>
              <a:gd name="connsiteX2-25" fmla="*/ 9103564 w 9103564"/>
              <a:gd name="connsiteY2-26" fmla="*/ 1490472 h 1490472"/>
              <a:gd name="connsiteX3-27" fmla="*/ 617932 w 9103564"/>
              <a:gd name="connsiteY3-28" fmla="*/ 1490472 h 1490472"/>
              <a:gd name="connsiteX4-29" fmla="*/ 617932 w 9103564"/>
              <a:gd name="connsiteY4-30" fmla="*/ 0 h 1490472"/>
              <a:gd name="connsiteX0-31" fmla="*/ 471887 w 8957519"/>
              <a:gd name="connsiteY0-32" fmla="*/ 0 h 1490472"/>
              <a:gd name="connsiteX1-33" fmla="*/ 8957519 w 8957519"/>
              <a:gd name="connsiteY1-34" fmla="*/ 0 h 1490472"/>
              <a:gd name="connsiteX2-35" fmla="*/ 8957519 w 8957519"/>
              <a:gd name="connsiteY2-36" fmla="*/ 1490472 h 1490472"/>
              <a:gd name="connsiteX3-37" fmla="*/ 471887 w 8957519"/>
              <a:gd name="connsiteY3-38" fmla="*/ 1490472 h 1490472"/>
              <a:gd name="connsiteX4-39" fmla="*/ 471887 w 8957519"/>
              <a:gd name="connsiteY4-40" fmla="*/ 0 h 1490472"/>
              <a:gd name="connsiteX0-41" fmla="*/ 542128 w 9027760"/>
              <a:gd name="connsiteY0-42" fmla="*/ 0 h 1490472"/>
              <a:gd name="connsiteX1-43" fmla="*/ 9027760 w 9027760"/>
              <a:gd name="connsiteY1-44" fmla="*/ 0 h 1490472"/>
              <a:gd name="connsiteX2-45" fmla="*/ 9027760 w 9027760"/>
              <a:gd name="connsiteY2-46" fmla="*/ 1490472 h 1490472"/>
              <a:gd name="connsiteX3-47" fmla="*/ 542128 w 9027760"/>
              <a:gd name="connsiteY3-48" fmla="*/ 1490472 h 1490472"/>
              <a:gd name="connsiteX4-49" fmla="*/ 542128 w 9027760"/>
              <a:gd name="connsiteY4-50" fmla="*/ 0 h 1490472"/>
              <a:gd name="connsiteX0-51" fmla="*/ 531634 w 9017266"/>
              <a:gd name="connsiteY0-52" fmla="*/ 0 h 1490472"/>
              <a:gd name="connsiteX1-53" fmla="*/ 9017266 w 9017266"/>
              <a:gd name="connsiteY1-54" fmla="*/ 0 h 1490472"/>
              <a:gd name="connsiteX2-55" fmla="*/ 9017266 w 9017266"/>
              <a:gd name="connsiteY2-56" fmla="*/ 1490472 h 1490472"/>
              <a:gd name="connsiteX3-57" fmla="*/ 531634 w 9017266"/>
              <a:gd name="connsiteY3-58" fmla="*/ 1490472 h 1490472"/>
              <a:gd name="connsiteX4-59" fmla="*/ 531634 w 9017266"/>
              <a:gd name="connsiteY4-60" fmla="*/ 0 h 1490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017266" h="1490472">
                <a:moveTo>
                  <a:pt x="531634" y="0"/>
                </a:moveTo>
                <a:lnTo>
                  <a:pt x="9017266" y="0"/>
                </a:lnTo>
                <a:lnTo>
                  <a:pt x="9017266" y="1490472"/>
                </a:lnTo>
                <a:lnTo>
                  <a:pt x="531634" y="1490472"/>
                </a:lnTo>
                <a:cubicBezTo>
                  <a:pt x="-199886" y="1432560"/>
                  <a:pt x="-154166" y="76200"/>
                  <a:pt x="531634" y="0"/>
                </a:cubicBez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文本框 13"/>
          <p:cNvSpPr txBox="1"/>
          <p:nvPr/>
        </p:nvSpPr>
        <p:spPr>
          <a:xfrm>
            <a:off x="551180" y="2389505"/>
            <a:ext cx="1112012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4400" b="1" dirty="0">
                <a:solidFill>
                  <a:srgbClr val="00B0F0"/>
                </a:solidFill>
                <a:latin typeface="Microsoft YaHei" pitchFamily="34" charset="-122"/>
                <a:ea typeface="Microsoft YaHei" pitchFamily="34" charset="-122"/>
              </a:rPr>
              <a:t> Week04 - Data in UIKit</a:t>
            </a:r>
            <a:endParaRPr lang="en-US" altLang="en-US" sz="4400" b="1" dirty="0">
              <a:solidFill>
                <a:srgbClr val="00B0F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5158" y="3263583"/>
            <a:ext cx="788860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文本框 15"/>
          <p:cNvSpPr txBox="1"/>
          <p:nvPr/>
        </p:nvSpPr>
        <p:spPr>
          <a:xfrm>
            <a:off x="588963" y="34004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 the AI Era(Swift + SwiftUI)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" name="文本框 15"/>
          <p:cNvSpPr txBox="1"/>
          <p:nvPr/>
        </p:nvSpPr>
        <p:spPr>
          <a:xfrm>
            <a:off x="7103428" y="58769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Instructor : </a:t>
            </a:r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Mr. Nem Sothea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8331200" y="6189980"/>
            <a:ext cx="333946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 sz="16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nemsothea13@gmail.com</a:t>
            </a:r>
            <a:endParaRPr lang="en-US" altLang="zh-CN" sz="1600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2. </a:t>
            </a:r>
            <a:r>
              <a:rPr lang="zh-CN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📋</a:t>
            </a:r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Today's Journey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5031740" cy="390271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⌛  Data Models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Understanding model objects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Creating TodoItem struct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Building TodoList manager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⌛  User Interface  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UITableView fundamentals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Custom UITableViewCell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Connecting data to views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21070" y="1328420"/>
            <a:ext cx="5031740" cy="364299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⌛ Architecture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• MVC pattern deep dive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• Refactoring for clean code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  <a:sym typeface="+mn-ea"/>
              </a:rPr>
              <a:t>• Best practices review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3. </a:t>
            </a:r>
            <a:r>
              <a:rPr lang="zh-CN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📱🎯</a:t>
            </a:r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Our Goal: To-Do List App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9752330" cy="364299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Display list of tasks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Add new tasks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Mark tasks complete/incomplete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Delete tasks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Persistent storage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📱</a:t>
            </a: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 Simple but powerful iOS app!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4. </a:t>
            </a:r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Understanding Models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9752330" cy="364299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🤔</a:t>
            </a: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 What are Model Objects?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MODELS = DATA + BUSINESS LOGIC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Represent your app's data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Define the structure of information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Contain business rules and logic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Independent of UI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• Reusable across different views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Example: User, Posts, Product, Order, TodoItem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5. </a:t>
            </a:r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Why Use Structs for Models?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5857875" cy="364299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🏗</a:t>
            </a:r>
            <a:r>
              <a:rPr lang="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️</a:t>
            </a: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 Choosing Value Types: Structs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Value semantics - copied, not shared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Thread-safe by default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Predictable behavior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Easy to reason about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✅ Swift's preferred approach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305" y="1328420"/>
            <a:ext cx="6426200" cy="40513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Structs Vs Class?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/>
          <a:srcRect t="18589" r="3291"/>
          <a:stretch>
            <a:fillRect/>
          </a:stretch>
        </p:blipFill>
        <p:spPr>
          <a:xfrm>
            <a:off x="1154430" y="1582420"/>
            <a:ext cx="7799705" cy="3693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8765" y="1582420"/>
            <a:ext cx="2337435" cy="176403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6. Creating TodoItem Model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85900"/>
            <a:ext cx="8991600" cy="53721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6. Creating TodoItem Model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85900"/>
            <a:ext cx="8991600" cy="53721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7. TodoList Manager Class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166100" y="1454150"/>
            <a:ext cx="3607435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 CRUD operations (Create, Read, Update, Delete)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 Data persistence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 Business logic enforcement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" y="1383665"/>
            <a:ext cx="6604000" cy="521271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8. Data Persistence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001000" y="1784985"/>
            <a:ext cx="3607435" cy="18148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Simple key-value storage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Good for small data sets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Easy to implement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Great for learning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" y="1454150"/>
            <a:ext cx="6511290" cy="50107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001000" y="1355725"/>
            <a:ext cx="332803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Why UserDefaults?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9. Introduction to UITableView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79500" y="1443990"/>
            <a:ext cx="60960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📊</a:t>
            </a:r>
            <a:r>
              <a:rPr lang="en-US" altLang="en-US">
                <a:solidFill>
                  <a:schemeClr val="bg1"/>
                </a:solidFill>
              </a:rPr>
              <a:t> UITableView Fundamentals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bg1"/>
                </a:solidFill>
              </a:rPr>
              <a:t>• Most common iOS UI component</a:t>
            </a:r>
            <a:endParaRPr lang="en-US" alt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bg1"/>
                </a:solidFill>
              </a:rPr>
              <a:t>• Displays scrollable lists</a:t>
            </a:r>
            <a:endParaRPr lang="en-US" alt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bg1"/>
                </a:solidFill>
              </a:rPr>
              <a:t>• Reuses cells for memory efficiency</a:t>
            </a:r>
            <a:endParaRPr lang="en-US" alt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bg1"/>
                </a:solidFill>
              </a:rPr>
              <a:t>• Requires two protocols:</a:t>
            </a:r>
            <a:endParaRPr lang="en-US" alt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bg1"/>
                </a:solidFill>
              </a:rPr>
              <a:t>  - UITableViewDataSource</a:t>
            </a:r>
            <a:endParaRPr lang="en-US" alt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bg1"/>
                </a:solidFill>
              </a:rPr>
              <a:t>  - UITableViewDelegate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┌─────────────────────┐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│ ▢ Buy milk          	│ ← UITableViewCell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│ ▢ Learn UIKit       	│ ← UITableViewCell  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│ ▢ Build awesome app 	│ ← UITableViewCell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└─────────────────────┘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10. UITableViewDataSource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" y="1460500"/>
            <a:ext cx="6954520" cy="32518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989330" y="4988560"/>
            <a:ext cx="6032500" cy="11836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9FAFB"/>
                </a:solidFill>
                <a:latin typeface="Menlo" panose="020B0609030804020204"/>
                <a:ea typeface="Menlo" panose="020B0609030804020204"/>
              </a:rPr>
              <a:t> numberOfRowsInSection</a:t>
            </a:r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: Tell table how many items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9FAFB"/>
                </a:solidFill>
                <a:latin typeface="Menlo" panose="020B0609030804020204"/>
                <a:ea typeface="Menlo" panose="020B0609030804020204"/>
              </a:rPr>
              <a:t> cellForRowAt</a:t>
            </a:r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: Configure each cell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ts val="22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9FAFB"/>
                </a:solidFill>
                <a:latin typeface="Menlo" panose="020B0609030804020204"/>
                <a:ea typeface="Menlo" panose="020B0609030804020204"/>
              </a:rPr>
              <a:t> indexPath</a:t>
            </a:r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: Which row and section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 Cell reuse for performance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520700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11. What is MVC?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1164590"/>
            <a:ext cx="10248265" cy="51695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520700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12. MVC in Our App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89330" y="1087755"/>
            <a:ext cx="6743700" cy="5631180"/>
          </a:xfrm>
          <a:prstGeom prst="rect">
            <a:avLst/>
          </a:prstGeom>
        </p:spPr>
        <p:txBody>
          <a:bodyPr wrap="square">
            <a:spAutoFit/>
          </a:bodyPr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🏗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️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Our To-Do App Architecture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MODEL: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TodoItem struct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TodoList class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VIEW:  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TodoItemCell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UITableView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UIButton, UILabel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CONTROLLER: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TodoListViewController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Handles user input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Updates model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Refreshes views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13. Data Flow in MVC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00430" y="1483360"/>
            <a:ext cx="6743700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🔄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How Data Flows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1. USER ACTION → "Tap Add Button"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2. VIEW → Notifies CONTROLLER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3. CONTROLLER → Updates MODEL ("Add new item")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4. MODEL → Notifies CONTROLLER ("Data changed")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5. CONTROLLER → Updates VIEW ("Reload table")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Separation of Concerns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Testable Components  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Maintainable Code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14. Benefits of MVC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00430" y="1483360"/>
            <a:ext cx="6743700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🌟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Why Use MVC?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🎯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SEPARATION OF CONCERNS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Models don't know about UI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Views are dumb display components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Controllers handle coordination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🔄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REUSABILITY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Use same models across different views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Reuse views with different data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🏗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️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MAINTAINABILITY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Easy to modify one component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Clear responsibilities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15. Common MVC Mistakes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00430" y="1584960"/>
            <a:ext cx="6743700" cy="5262245"/>
          </a:xfrm>
          <a:prstGeom prst="rect">
            <a:avLst/>
          </a:prstGeom>
        </p:spPr>
        <p:txBody>
          <a:bodyPr wrap="square">
            <a:spAutoFit/>
          </a:bodyPr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⚠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️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problem to Avoid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🚫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MASSIVE VIEW CONTROLLER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Putting too much logic in controllers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Solution: Extract to model or helper classes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🚫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TIGHT COUPLING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Models referencing views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Views knowing about controllers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Solution: Use protocols and delegation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🚫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BUSINESS LOGIC IN VIEWS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Views making data decisions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• Solution: Keep views dumb, controllers smart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16. Recap &amp; Key Takeaways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00430" y="1584960"/>
            <a:ext cx="6743700" cy="32918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zh-CN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🎓</a:t>
            </a: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 What We Learned Today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MODELS: Structs for data, classes for managers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VIEWS: UITableView, custom cells, reusable components  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CONTROLLERS: Mediate between models and views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MVC: Clear separation of concerns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  <a:p>
            <a:pPr marL="0" inden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en-US" sz="1600" b="0" i="0">
                <a:solidFill>
                  <a:srgbClr val="F9FAFB"/>
                </a:solidFill>
                <a:latin typeface="quote-cjk-patch"/>
                <a:ea typeface="quote-cjk-patch"/>
              </a:rPr>
              <a:t>✅ PERSISTENCE: UserDefaults for simple data</a:t>
            </a:r>
            <a:endParaRPr lang="en-US" altLang="en-US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2208530" y="3236595"/>
            <a:ext cx="7660640" cy="7683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en-US" sz="4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Homework </a:t>
            </a:r>
            <a:endParaRPr lang="en-US" altLang="en-US" sz="4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07895" y="4004945"/>
            <a:ext cx="766064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en-US" sz="1600" b="0" i="0">
                <a:solidFill>
                  <a:srgbClr val="FF0000"/>
                </a:solidFill>
                <a:latin typeface="Microsoft YaHei" charset="0"/>
                <a:ea typeface="quote-cjk-patch"/>
                <a:cs typeface="Microsoft YaHei" charset="0"/>
              </a:rPr>
              <a:t>*Refactor existing project to MVC with good practise structure folder, class,Model, ect.</a:t>
            </a:r>
            <a:endParaRPr lang="en-US" altLang="en-US" sz="1600" b="0" i="0">
              <a:solidFill>
                <a:srgbClr val="FF0000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07895" y="5085080"/>
            <a:ext cx="7660640" cy="1445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en-US" sz="4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**Research about MVVM pattern is plus.</a:t>
            </a:r>
            <a:endParaRPr lang="en-US" altLang="en-US" sz="4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Questions?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16000" y="1488440"/>
            <a:ext cx="7903210" cy="97853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Next Week: </a:t>
            </a:r>
            <a:r>
              <a:rPr lang="en-US" altLang="en-US" sz="1800">
                <a:solidFill>
                  <a:srgbClr val="FF0000"/>
                </a:solidFill>
              </a:rPr>
              <a:t>Hello, SwiftUI! The Paradigm Shift~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53310" y="3994785"/>
            <a:ext cx="7670165" cy="3622675"/>
          </a:xfrm>
          <a:prstGeom prst="rect">
            <a:avLst/>
          </a:prstGeom>
        </p:spPr>
        <p:txBody>
          <a:bodyPr>
            <a:noAutofit/>
          </a:bodyPr>
          <a:p>
            <a:pPr marL="0" algn="ctr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</a:pPr>
            <a:r>
              <a:rPr lang="en-US" altLang="zh-CN" sz="9600" b="0" i="0">
                <a:solidFill>
                  <a:srgbClr val="F8FAFF"/>
                </a:solidFill>
                <a:latin typeface="quote-cjk-patch"/>
                <a:ea typeface="quote-cjk-patch"/>
              </a:rPr>
              <a:t>Thank you!</a:t>
            </a:r>
            <a:endParaRPr lang="en-US" altLang="zh-CN" sz="9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3625</Words>
  <Application>WPS Writer</Application>
  <PresentationFormat>自定义</PresentationFormat>
  <Paragraphs>193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SimSun</vt:lpstr>
      <vt:lpstr>Wingdings</vt:lpstr>
      <vt:lpstr>Calibri</vt:lpstr>
      <vt:lpstr>Helvetica Neue</vt:lpstr>
      <vt:lpstr>宋体-简</vt:lpstr>
      <vt:lpstr>Calibri Light</vt:lpstr>
      <vt:lpstr>Microsoft YaHei</vt:lpstr>
      <vt:lpstr>汉仪旗黑</vt:lpstr>
      <vt:lpstr>Microsoft YaHei</vt:lpstr>
      <vt:lpstr>quote-cjk-patch</vt:lpstr>
      <vt:lpstr>Wingdings</vt:lpstr>
      <vt:lpstr>Arial</vt:lpstr>
      <vt:lpstr>Microsoft YaHei</vt:lpstr>
      <vt:lpstr>Arial Unicode MS</vt:lpstr>
      <vt:lpstr>SimSun</vt:lpstr>
      <vt:lpstr>Thonburi</vt:lpstr>
      <vt:lpstr>Apple Color Emoji</vt:lpstr>
      <vt:lpstr>quote-cjk-patch</vt:lpstr>
      <vt:lpstr>苹方-简</vt:lpstr>
      <vt:lpstr>Menlo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nem path</cp:lastModifiedBy>
  <cp:revision>795</cp:revision>
  <dcterms:created xsi:type="dcterms:W3CDTF">2025-11-05T16:25:50Z</dcterms:created>
  <dcterms:modified xsi:type="dcterms:W3CDTF">2025-11-05T16:25:50Z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1033-12.1.23150.23150</vt:lpwstr>
  </property>
  <property fmtid="{D5CDD505-2E9C-101B-9397-08002B2CF9AE}" pid="3" name="ICV">
    <vt:lpwstr>4652830370BA95541050AD68A735B2E2_41</vt:lpwstr>
  </property>
</Properties>
</file>