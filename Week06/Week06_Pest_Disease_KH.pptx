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2011680" cy="384048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6576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</a:rPr>
              <a:t>Week 06 · SmartFarmer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1BB889"/>
                </a:solidFill>
              </a:rPr>
              <a:t>មគ្គុទ្ទេសសត្វល្អិត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783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Pest &amp; Disease Guide · Project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6060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AAABB"/>
                </a:solidFill>
              </a:rPr>
              <a:t>iOS 13+  ·  CoreData  ·  JSON Preload  ·  Custom Search  ·  Offline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3154680"/>
            <a:ext cx="9601200" cy="36576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3337560"/>
            <a:ext cx="1737360" cy="9144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338328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822191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AABB"/>
                </a:solidFill>
              </a:rPr>
              <a:t>Pest Entity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0" y="3337560"/>
            <a:ext cx="1737360" cy="9144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86000" y="338328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3822191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AABB"/>
                </a:solidFill>
              </a:rPr>
              <a:t>Custom Search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3337560"/>
            <a:ext cx="1737360" cy="9144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6240" y="338328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3822191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AABB"/>
                </a:solidFill>
              </a:rPr>
              <a:t>JSON Preload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3337560"/>
            <a:ext cx="1737360" cy="9144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0" y="338328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3822191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AABB"/>
                </a:solidFill>
              </a:rPr>
              <a:t>Expandable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20" y="3337560"/>
            <a:ext cx="1737360" cy="9144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0" y="338328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3822191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AABB"/>
                </a:solidFill>
              </a:rPr>
              <a:t>Offline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966960" y="3337560"/>
            <a:ext cx="1737360" cy="9144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66960" y="338328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6960" y="3822191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AABB"/>
                </a:solidFill>
              </a:rPr>
              <a:t>Khmer UI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AAABB"/>
                </a:solidFill>
              </a:rPr>
              <a:t>SmartFarmer Assistant · ភ្នំពេញ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BB"/>
                </a:solidFill>
              </a:rPr>
              <a:t>1/12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BB889"/>
                </a:solidFill>
              </a:rPr>
              <a:t>📋  មាតិកា Week 06 · 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5577840" cy="16002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73152" cy="160020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84632" y="1353312"/>
            <a:ext cx="548640" cy="54864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" y="135331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19" y="123444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Architecture &amp; Folder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19" y="178308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View → ViewModel → Service → Model → Resource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005840"/>
            <a:ext cx="5577840" cy="16002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005840"/>
            <a:ext cx="73152" cy="1600200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28231" y="1353312"/>
            <a:ext cx="548640" cy="548640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1" y="135331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123444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Pest CoreData Entity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178308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7 attributes + JSON preload flow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834640"/>
            <a:ext cx="5577840" cy="16002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2834640"/>
            <a:ext cx="73152" cy="16002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84632" y="3182112"/>
            <a:ext cx="548640" cy="54864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" y="318211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19" y="306324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Custom Search Bar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19" y="361188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iOS 13+ TextField (no .searchable needed)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2834640"/>
            <a:ext cx="5577840" cy="16002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63640" y="2834640"/>
            <a:ext cx="73152" cy="1600200"/>
          </a:xfrm>
          <a:prstGeom prst="rect">
            <a:avLst/>
          </a:prstGeom>
          <a:solidFill>
            <a:srgbClr val="F39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28231" y="3182112"/>
            <a:ext cx="548640" cy="548640"/>
          </a:xfrm>
          <a:prstGeom prst="rect">
            <a:avLst/>
          </a:prstGeom>
          <a:solidFill>
            <a:srgbClr val="F39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28231" y="318211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306324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Expandable Sections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361188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@State toggles + detail view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4663440"/>
            <a:ext cx="5577840" cy="16002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" y="4663440"/>
            <a:ext cx="73152" cy="1600200"/>
          </a:xfrm>
          <a:prstGeom prst="rect">
            <a:avLst/>
          </a:prstGeom>
          <a:solidFill>
            <a:srgbClr val="00C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84632" y="5010912"/>
            <a:ext cx="548640" cy="548640"/>
          </a:xfrm>
          <a:prstGeom prst="rect">
            <a:avLst/>
          </a:prstGeom>
          <a:solidFill>
            <a:srgbClr val="00C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4632" y="501091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8719" y="489204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Offline-First Design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88719" y="5440679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JSON → CoreData → always works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63640" y="4663440"/>
            <a:ext cx="5577840" cy="16002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63640" y="4663440"/>
            <a:ext cx="73152" cy="160020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28231" y="5010912"/>
            <a:ext cx="548640" cy="54864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28231" y="501091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</a:rPr>
              <a:t>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32320" y="489204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Mini-Project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32320" y="5440679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Pest Guide ពេញ + search + categories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BB"/>
                </a:solidFill>
              </a:rPr>
              <a:t>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BB889"/>
                </a:solidFill>
              </a:rPr>
              <a:t>🏗️  Architecture · 5-Layer MVVM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2176272" cy="41148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73152" cy="4114800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" y="10972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87DFA"/>
                </a:solidFill>
              </a:rPr>
              <a:t>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" y="1627632"/>
            <a:ext cx="1828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PestGuideTabView
PestRowView, PestDetailView
CustomSearchBar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26517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AAAABB"/>
                </a:solidFill>
              </a:rPr>
              <a:t>↓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79192" y="1005840"/>
            <a:ext cx="2176272" cy="41148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679192" y="1005840"/>
            <a:ext cx="73152" cy="411480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43784" y="10972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B889"/>
                </a:solidFill>
              </a:rPr>
              <a:t>ViewModel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43784" y="1627632"/>
            <a:ext cx="1828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PestViewModel
ObservableObject
@Published searchText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90872" y="26517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AAAABB"/>
                </a:solidFill>
              </a:rPr>
              <a:t>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38344" y="1005840"/>
            <a:ext cx="2176272" cy="41148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38344" y="1005840"/>
            <a:ext cx="73152" cy="41148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02936" y="10972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E44AD"/>
                </a:solidFill>
              </a:rPr>
              <a:t>Service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02936" y="1627632"/>
            <a:ext cx="1828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PestDataLoader
JSON → CoreData seeding
(first launch only)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50024" y="26517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AAAABB"/>
                </a:solidFill>
              </a:rPr>
              <a:t>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97496" y="1005840"/>
            <a:ext cx="2176272" cy="41148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97496" y="1005840"/>
            <a:ext cx="73152" cy="4114800"/>
          </a:xfrm>
          <a:prstGeom prst="rect">
            <a:avLst/>
          </a:prstGeom>
          <a:solidFill>
            <a:srgbClr val="F39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62088" y="10972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39620"/>
                </a:solidFill>
              </a:rPr>
              <a:t>Model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62088" y="1627632"/>
            <a:ext cx="1828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Pest NSManagedObject
7 @NSManaged properties
PestType enum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09176" y="26517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AAAABB"/>
                </a:solidFill>
              </a:rPr>
              <a:t>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756648" y="1005840"/>
            <a:ext cx="2176272" cy="41148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756648" y="1005840"/>
            <a:ext cx="73152" cy="4114800"/>
          </a:xfrm>
          <a:prstGeom prst="rect">
            <a:avLst/>
          </a:prstGeom>
          <a:solidFill>
            <a:srgbClr val="00C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21240" y="10972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9C8"/>
                </a:solidFill>
              </a:rPr>
              <a:t>Resource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21240" y="1627632"/>
            <a:ext cx="1828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pests.json bundled
Assets.xcassets
.xcdatamodeld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5349240"/>
            <a:ext cx="11521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BB889"/>
                </a:solidFill>
              </a:rPr>
              <a:t>• </a:t>
            </a:r>
            <a:r>
              <a:rPr sz="1200">
                <a:solidFill>
                  <a:srgbClr val="FFFFFF"/>
                </a:solidFill>
              </a:rPr>
              <a:t>View រៀបចំ UI — ViewModel គ្រប់គ្រង state — Service seed data — Model ជា CoreData entity</a:t>
            </a:r>
          </a:p>
          <a:p>
            <a:r>
              <a:rPr sz="1200" b="1">
                <a:solidFill>
                  <a:srgbClr val="1BB889"/>
                </a:solidFill>
              </a:rPr>
              <a:t>• </a:t>
            </a:r>
            <a:r>
              <a:rPr sz="1200">
                <a:solidFill>
                  <a:srgbClr val="FFFFFF"/>
                </a:solidFill>
              </a:rPr>
              <a:t>PestDataLoader ត្រូវ run តែ ONCE (first launch) → check UserDefaults flag</a:t>
            </a:r>
          </a:p>
          <a:p>
            <a:r>
              <a:rPr sz="1200" b="1">
                <a:solidFill>
                  <a:srgbClr val="1BB889"/>
                </a:solidFill>
              </a:rPr>
              <a:t>• </a:t>
            </a:r>
            <a:r>
              <a:rPr sz="1200">
                <a:solidFill>
                  <a:srgbClr val="FFFFFF"/>
                </a:solidFill>
              </a:rPr>
              <a:t>JSON bundle → ចម្លង → CoreData → app ធ្វើការ offline ជានិច្ច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BB"/>
                </a:solidFill>
              </a:rPr>
              <a:t>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BB889"/>
                </a:solidFill>
              </a:rPr>
              <a:t>🐛  Pest CoreData Entity · 8 Attributes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11521440" cy="59436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54864" cy="59436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2743200" cy="4572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207008"/>
            <a:ext cx="241401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00C9C8"/>
                </a:solidFill>
                <a:latin typeface="Courier New"/>
              </a:rPr>
              <a:t>id</a:t>
            </a:r>
          </a:p>
        </p:txBody>
      </p:sp>
      <p:sp>
        <p:nvSpPr>
          <p:cNvPr id="9" name="Rectangle 8"/>
          <p:cNvSpPr/>
          <p:nvPr/>
        </p:nvSpPr>
        <p:spPr>
          <a:xfrm>
            <a:off x="3429000" y="1069848"/>
            <a:ext cx="2011680" cy="4572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93592" y="1207008"/>
            <a:ext cx="168249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00C9C8"/>
                </a:solidFill>
                <a:latin typeface="Courier New"/>
              </a:rPr>
              <a:t>UUID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0" y="1115568"/>
            <a:ext cx="6126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Identifiable conformance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691640"/>
            <a:ext cx="11521440" cy="5943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1691640"/>
            <a:ext cx="54864" cy="59436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1755648"/>
            <a:ext cx="2743200" cy="4572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" y="1892808"/>
            <a:ext cx="241401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00C9C8"/>
                </a:solidFill>
                <a:latin typeface="Courier New"/>
              </a:rPr>
              <a:t>name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29000" y="1755648"/>
            <a:ext cx="2011680" cy="4572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93592" y="1892808"/>
            <a:ext cx="168249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00C9C8"/>
                </a:solidFill>
                <a:latin typeface="Courier New"/>
              </a:rPr>
              <a:t>String?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0" y="1801368"/>
            <a:ext cx="6126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ឈ្មោះ: Rice Blast, Brown Planthopper...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377440"/>
            <a:ext cx="11521440" cy="59436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2377440"/>
            <a:ext cx="54864" cy="59436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2441448"/>
            <a:ext cx="2743200" cy="4572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" y="2578608"/>
            <a:ext cx="241401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00C9C8"/>
                </a:solidFill>
                <a:latin typeface="Courier New"/>
              </a:rPr>
              <a:t>pestType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29000" y="2441448"/>
            <a:ext cx="2011680" cy="4572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93592" y="2578608"/>
            <a:ext cx="168249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00C9C8"/>
                </a:solidFill>
                <a:latin typeface="Courier New"/>
              </a:rPr>
              <a:t>String?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77840" y="2487168"/>
            <a:ext cx="6126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ប្រភេទ: សត្វល្អិត / ផ្សិត / បាក់តេរី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3063240"/>
            <a:ext cx="11521440" cy="5943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3063240"/>
            <a:ext cx="54864" cy="59436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2920" y="3127248"/>
            <a:ext cx="2743200" cy="4572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2" y="3264408"/>
            <a:ext cx="241401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00C9C8"/>
                </a:solidFill>
                <a:latin typeface="Courier New"/>
              </a:rPr>
              <a:t>symptoms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29000" y="3127248"/>
            <a:ext cx="2011680" cy="4572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93592" y="3264408"/>
            <a:ext cx="168249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00C9C8"/>
                </a:solidFill>
                <a:latin typeface="Courier New"/>
              </a:rPr>
              <a:t>String?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77840" y="3172968"/>
            <a:ext cx="6126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រោគសញ្ញា — ពណ៌នាលម្អិត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3749039"/>
            <a:ext cx="11521440" cy="59436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20040" y="3749039"/>
            <a:ext cx="54864" cy="59436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02920" y="3813048"/>
            <a:ext cx="2743200" cy="4572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7512" y="3950208"/>
            <a:ext cx="241401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00C9C8"/>
                </a:solidFill>
                <a:latin typeface="Courier New"/>
              </a:rPr>
              <a:t>treatment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429000" y="3813048"/>
            <a:ext cx="2011680" cy="4572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593592" y="3950208"/>
            <a:ext cx="168249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00C9C8"/>
                </a:solidFill>
                <a:latin typeface="Courier New"/>
              </a:rPr>
              <a:t>String?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77840" y="3858768"/>
            <a:ext cx="6126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វិធីព្យាបាល — ជាប់ពាក្យ farmer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4434840"/>
            <a:ext cx="11521440" cy="5943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20040" y="4434840"/>
            <a:ext cx="54864" cy="59436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" y="4498848"/>
            <a:ext cx="2743200" cy="4572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7512" y="4636008"/>
            <a:ext cx="241401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00C9C8"/>
                </a:solidFill>
                <a:latin typeface="Courier New"/>
              </a:rPr>
              <a:t>prevention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429000" y="4498848"/>
            <a:ext cx="2011680" cy="4572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593592" y="4636008"/>
            <a:ext cx="168249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00C9C8"/>
                </a:solidFill>
                <a:latin typeface="Courier New"/>
              </a:rPr>
              <a:t>String?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577840" y="4544568"/>
            <a:ext cx="6126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វិធីការពារ — long-term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" y="5120640"/>
            <a:ext cx="11521440" cy="59436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20040" y="5120640"/>
            <a:ext cx="54864" cy="59436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02920" y="5184648"/>
            <a:ext cx="2743200" cy="4572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7512" y="5321808"/>
            <a:ext cx="241401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00C9C8"/>
                </a:solidFill>
                <a:latin typeface="Courier New"/>
              </a:rPr>
              <a:t>imageName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429000" y="5184648"/>
            <a:ext cx="2011680" cy="4572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593592" y="5321808"/>
            <a:ext cx="168249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00C9C8"/>
                </a:solidFill>
                <a:latin typeface="Courier New"/>
              </a:rPr>
              <a:t>String?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577840" y="5230368"/>
            <a:ext cx="6126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Asset catalog name (optional)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20040" y="5806440"/>
            <a:ext cx="11521440" cy="5943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20040" y="5806440"/>
            <a:ext cx="54864" cy="59436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02920" y="5870448"/>
            <a:ext cx="2743200" cy="4572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67512" y="6007608"/>
            <a:ext cx="241401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00C9C8"/>
                </a:solidFill>
                <a:latin typeface="Courier New"/>
              </a:rPr>
              <a:t>isFavorite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429000" y="5870448"/>
            <a:ext cx="2011680" cy="4572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593592" y="6007608"/>
            <a:ext cx="168249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00C9C8"/>
                </a:solidFill>
                <a:latin typeface="Courier New"/>
              </a:rPr>
              <a:t>Bool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577840" y="5916168"/>
            <a:ext cx="6126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Bookmark — heart icon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20040" y="6492240"/>
            <a:ext cx="11521440" cy="29260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57200" y="6510528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BB"/>
                </a:solidFill>
              </a:rPr>
              <a:t>⚙️  Codegen → Manual/None  |  Create NSManagedObject Subclass  |  pestType ← filter ក្នុង NSPredicate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BB"/>
                </a:solidFill>
              </a:rPr>
              <a:t>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BB889"/>
                </a:solidFill>
              </a:rPr>
              <a:t>📂  JSON Preload Flow · pests.json → CoreData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5577840" cy="123444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73152" cy="123444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44168"/>
            <a:ext cx="475488" cy="475488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44168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</a:rPr>
              <a:t>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109728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App launches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1572768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check UserDefaults: pestDataSeeded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005840"/>
            <a:ext cx="5577840" cy="123444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005840"/>
            <a:ext cx="73152" cy="1234440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344168"/>
            <a:ext cx="475488" cy="475488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344168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13448" y="109728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Not seeded?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13448" y="1572768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load pests.json from Bundle.main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423160"/>
            <a:ext cx="5577840" cy="123444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2423160"/>
            <a:ext cx="73152" cy="123444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2761488"/>
            <a:ext cx="475488" cy="475488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2761488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</a:rPr>
              <a:t>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" y="251460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JSONDecoder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" y="2990088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decode [PestData] array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2423160"/>
            <a:ext cx="5577840" cy="123444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63640" y="2423160"/>
            <a:ext cx="73152" cy="1234440"/>
          </a:xfrm>
          <a:prstGeom prst="rect">
            <a:avLst/>
          </a:prstGeom>
          <a:solidFill>
            <a:srgbClr val="F39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0" y="2761488"/>
            <a:ext cx="475488" cy="475488"/>
          </a:xfrm>
          <a:prstGeom prst="rect">
            <a:avLst/>
          </a:prstGeom>
          <a:solidFill>
            <a:srgbClr val="F39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2761488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</a:rPr>
              <a:t>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13448" y="251460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Create entities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3448" y="2990088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Pest(context:) loop → set all properties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840480"/>
            <a:ext cx="5577840" cy="123444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" y="3840480"/>
            <a:ext cx="73152" cy="1234440"/>
          </a:xfrm>
          <a:prstGeom prst="rect">
            <a:avLst/>
          </a:prstGeom>
          <a:solidFill>
            <a:srgbClr val="00C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4178808"/>
            <a:ext cx="475488" cy="475488"/>
          </a:xfrm>
          <a:prstGeom prst="rect">
            <a:avLst/>
          </a:prstGeom>
          <a:solidFill>
            <a:srgbClr val="00C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4178808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</a:rPr>
              <a:t>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" y="393192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saveContext()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9848" y="4407408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persist to SQLite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63640" y="3840480"/>
            <a:ext cx="5577840" cy="123444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63640" y="3840480"/>
            <a:ext cx="73152" cy="123444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00800" y="4178808"/>
            <a:ext cx="475488" cy="475488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4178808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</a:rPr>
              <a:t>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13448" y="393192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Set flag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13448" y="4407408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UserDefaults.set(true, key: pestDataSeeded)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5257800"/>
            <a:ext cx="5577840" cy="123444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20040" y="5257800"/>
            <a:ext cx="73152" cy="1234440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7200" y="5596128"/>
            <a:ext cx="475488" cy="475488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5596128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</a:rPr>
              <a:t>⑦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9848" y="534924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@FetchRequest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69848" y="5824728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UI auto-refreshes — shows all pests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BB"/>
                </a:solidFill>
              </a:rPr>
              <a:t>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BB889"/>
                </a:solidFill>
              </a:rPr>
              <a:t>🔍  Custom Search Bar · iOS 13+ (no .searchable)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6012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B889"/>
                </a:solidFill>
              </a:rPr>
              <a:t>Search Implementation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17320"/>
            <a:ext cx="5943600" cy="530352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" y="1554480"/>
            <a:ext cx="5614416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00C9C8"/>
                </a:solidFill>
                <a:latin typeface="Courier New"/>
              </a:rPr>
              <a:t>// ✅ iOS 13+ custom search (no .searchable)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struct PestGuideTabView: View {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@State private var searchText = ""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/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var displayedPests: [Pest] {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if searchText.isEmpty { return Array(pests) }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return pests.filter {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($0.name ?? "")   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    .localizedCaseInsensitiveContains(searchText) ||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($0.pestType ?? "")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    .localizedCaseInsensitiveContains(searchText)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}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}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/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var body: some View {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NavigationView {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VStack {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    // Custom search bar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    HStack {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        Image(systemName: "magnifyingglass")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            .foregroundColor(.gray)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        TextField("ស្វែងរក...", text: $searchText)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        if !searchText.isEmpty {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            Button("បោះបង់") { searchText = "" }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        }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    }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    .padding(8)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    .background(Color(.systemGray6))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    .cornerRadius(10)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    .padding(.horizontal)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    List { ... }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}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}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}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}</a:t>
            </a:r>
          </a:p>
        </p:txBody>
      </p:sp>
      <p:sp>
        <p:nvSpPr>
          <p:cNvPr id="8" name="Rectangle 7"/>
          <p:cNvSpPr/>
          <p:nvPr/>
        </p:nvSpPr>
        <p:spPr>
          <a:xfrm>
            <a:off x="6446520" y="1417320"/>
            <a:ext cx="5486400" cy="118872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46520" y="1417320"/>
            <a:ext cx="73152" cy="118872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56832" y="15087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B889"/>
                </a:solidFill>
              </a:rPr>
              <a:t>localizedCaseInsensitiveContains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56832" y="192024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ស្វែងរក case-insensitive
ខ្មែរ + Latin scripts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46520" y="2743200"/>
            <a:ext cx="5486400" cy="118872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46520" y="2743200"/>
            <a:ext cx="73152" cy="1188720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56832" y="2834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87DFA"/>
                </a:solidFill>
              </a:rPr>
              <a:t>searchText isEmpty check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56832" y="324612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return Array(pests) ភ្លាម
→ fast path (no filter)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46520" y="4069080"/>
            <a:ext cx="5486400" cy="118872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46520" y="4069080"/>
            <a:ext cx="73152" cy="118872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56832" y="41605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E44AD"/>
                </a:solidFill>
              </a:rPr>
              <a:t>Category filter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56832" y="457200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ប្រើ Picker → filter by
pestType (Insects/Fungal)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46520" y="5394959"/>
            <a:ext cx="5486400" cy="118872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46520" y="5394959"/>
            <a:ext cx="73152" cy="1188720"/>
          </a:xfrm>
          <a:prstGeom prst="rect">
            <a:avLst/>
          </a:prstGeom>
          <a:solidFill>
            <a:srgbClr val="F39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56832" y="548639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39620"/>
                </a:solidFill>
              </a:rPr>
              <a:t>iOS 13+ safe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56832" y="5897879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❌ .searchable(text:) requires
iOS 15+ — avoid!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BB"/>
                </a:solidFill>
              </a:rPr>
              <a:t>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BB889"/>
                </a:solidFill>
              </a:rPr>
              <a:t>📱  Expandable Sections · Detail View Pattern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005840"/>
            <a:ext cx="5760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BB889"/>
                </a:solidFill>
              </a:rPr>
              <a:t>• </a:t>
            </a:r>
            <a:r>
              <a:rPr sz="1300">
                <a:solidFill>
                  <a:srgbClr val="FFFFFF"/>
                </a:solidFill>
              </a:rPr>
              <a:t>@State private var showSymptoms = false — ១ state per section</a:t>
            </a:r>
          </a:p>
          <a:p>
            <a:r>
              <a:rPr sz="1300" b="1">
                <a:solidFill>
                  <a:srgbClr val="1BB889"/>
                </a:solidFill>
              </a:rPr>
              <a:t>• </a:t>
            </a:r>
            <a:r>
              <a:rPr sz="1300">
                <a:solidFill>
                  <a:srgbClr val="FFFFFF"/>
                </a:solidFill>
              </a:rPr>
              <a:t>Button → toggle state → chevron rotates .rotationEffect()</a:t>
            </a:r>
          </a:p>
          <a:p>
            <a:r>
              <a:rPr sz="1300" b="1">
                <a:solidFill>
                  <a:srgbClr val="1BB889"/>
                </a:solidFill>
              </a:rPr>
              <a:t>• </a:t>
            </a:r>
            <a:r>
              <a:rPr sz="1300">
                <a:solidFill>
                  <a:srgbClr val="FFFFFF"/>
                </a:solidFill>
              </a:rPr>
              <a:t>if showSymptoms { Text(pest.symptoms) } — conditional content</a:t>
            </a:r>
          </a:p>
          <a:p>
            <a:r>
              <a:rPr sz="1300" b="1">
                <a:solidFill>
                  <a:srgbClr val="1BB889"/>
                </a:solidFill>
              </a:rPr>
              <a:t>• </a:t>
            </a:r>
            <a:r>
              <a:rPr sz="1300">
                <a:solidFill>
                  <a:srgbClr val="FFFFFF"/>
                </a:solidFill>
              </a:rPr>
              <a:t>DisclosureGroup (iOS 14+) = simpler API — ប៉ុន្ដែ ❌ iOS 13</a:t>
            </a:r>
          </a:p>
          <a:p>
            <a:r>
              <a:rPr sz="1300" b="1">
                <a:solidFill>
                  <a:srgbClr val="1BB889"/>
                </a:solidFill>
              </a:rPr>
              <a:t>• </a:t>
            </a:r>
            <a:r>
              <a:rPr sz="1300">
                <a:solidFill>
                  <a:srgbClr val="FFFFFF"/>
                </a:solidFill>
              </a:rPr>
              <a:t>Manual toggle pattern works iOS 13+ — ✅ ប្រើក្នុង course</a:t>
            </a:r>
          </a:p>
          <a:p>
            <a:r>
              <a:rPr sz="1300" b="1">
                <a:solidFill>
                  <a:srgbClr val="1BB889"/>
                </a:solidFill>
              </a:rPr>
              <a:t>• </a:t>
            </a:r>
            <a:r>
              <a:rPr sz="1300">
                <a:solidFill>
                  <a:srgbClr val="FFFFFF"/>
                </a:solidFill>
              </a:rPr>
              <a:t>NavigationLink → PestDetailView(pest: pest) from list row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4846320"/>
            <a:ext cx="5760720" cy="1874519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" y="4983480"/>
            <a:ext cx="5431536" cy="16001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00C9C8"/>
                </a:solidFill>
                <a:latin typeface="Courier New"/>
              </a:rPr>
              <a:t>struct PestDetailView: View {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let pest: Pest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@State private var showSymptoms  = false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@State private var showTreatment = false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@State private var showPrevention = false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/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var body: some View {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List {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// Expandable section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Button(action: { showSymptoms.toggle() }) {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    HStack {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        Text("រោគសញ្ញា")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            .font(.headline)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        Spacer()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        Image(systemName: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            showSymptoms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                ? "chevron.up"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                : "chevron.down")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    }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}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if showSymptoms {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    Text(pest.symptoms ?? "")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        .padding(.leading)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}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}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.navigationTitle(pest.name ?? "")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}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9601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E44AD"/>
                </a:solidFill>
              </a:rPr>
              <a:t>PestDetailView Code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417320"/>
            <a:ext cx="5486400" cy="530352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65392" y="1554480"/>
            <a:ext cx="5157216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00C9C8"/>
                </a:solidFill>
                <a:latin typeface="Courier New"/>
              </a:rPr>
              <a:t>// PestRowView — List row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struct PestRowView: View {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let pest: Pest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var body: some View {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HStack(spacing: 12) {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Image(systemName: "ant.fill")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    .foregroundColor(.red)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    .frame(width:40, height:40)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    .background(Color.red.opacity(.1))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    .cornerRadius(8)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VStack(alignment: .leading) {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    Text(pest.name ?? "")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        .font(.headline)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    Text(pest.pestType ?? "")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        .font(.caption)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        .foregroundColor(.gray)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}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Spacer()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if pest.isFavorite {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    Image(systemName: "star.fill")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        .foregroundColor(.yellow)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}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}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}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BB"/>
                </a:solidFill>
              </a:rPr>
              <a:t>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BB889"/>
                </a:solidFill>
              </a:rPr>
              <a:t>🔌  Offline-First Design · ធ្វើការដោយគ្មាន Internet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2560320" cy="502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79" y="105156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Scenario</a:t>
            </a:r>
          </a:p>
        </p:txBody>
      </p:sp>
      <p:sp>
        <p:nvSpPr>
          <p:cNvPr id="7" name="Rectangle 6"/>
          <p:cNvSpPr/>
          <p:nvPr/>
        </p:nvSpPr>
        <p:spPr>
          <a:xfrm>
            <a:off x="3017520" y="1005840"/>
            <a:ext cx="4114800" cy="502920"/>
          </a:xfrm>
          <a:prstGeom prst="rect">
            <a:avLst/>
          </a:prstGeom>
          <a:solidFill>
            <a:srgbClr val="E5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08960" y="1051560"/>
            <a:ext cx="3977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❌  Network-First</a:t>
            </a:r>
          </a:p>
        </p:txBody>
      </p:sp>
      <p:sp>
        <p:nvSpPr>
          <p:cNvPr id="9" name="Rectangle 8"/>
          <p:cNvSpPr/>
          <p:nvPr/>
        </p:nvSpPr>
        <p:spPr>
          <a:xfrm>
            <a:off x="7269480" y="1005840"/>
            <a:ext cx="4480560" cy="50292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60920" y="1051560"/>
            <a:ext cx="4343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✅  Offline-First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600200"/>
            <a:ext cx="2560320" cy="64008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79" y="1709928"/>
            <a:ext cx="2423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First launch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17520" y="1600200"/>
            <a:ext cx="4114800" cy="64008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08960" y="1709928"/>
            <a:ext cx="397763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4747"/>
                </a:solidFill>
              </a:rPr>
              <a:t>Download from API 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69480" y="1600200"/>
            <a:ext cx="4480560" cy="64008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60920" y="1709928"/>
            <a:ext cx="4343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BB889"/>
                </a:solidFill>
              </a:rPr>
              <a:t>Load pests.json from Bundle 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331720"/>
            <a:ext cx="2560320" cy="6400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79" y="2441448"/>
            <a:ext cx="2423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Day-to-day use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17520" y="2331720"/>
            <a:ext cx="4114800" cy="6400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08960" y="2441448"/>
            <a:ext cx="397763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4747"/>
                </a:solidFill>
              </a:rPr>
              <a:t>Network request each time 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69480" y="2331720"/>
            <a:ext cx="4480560" cy="6400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60920" y="2441448"/>
            <a:ext cx="4343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BB889"/>
                </a:solidFill>
              </a:rPr>
              <a:t>@FetchRequest from CoreData ✅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3063240"/>
            <a:ext cx="2560320" cy="64008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79" y="3172968"/>
            <a:ext cx="2423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Airplane mode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17520" y="3063240"/>
            <a:ext cx="4114800" cy="64008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08960" y="3172968"/>
            <a:ext cx="397763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4747"/>
                </a:solidFill>
              </a:rPr>
              <a:t>App breaks ❌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69480" y="3063240"/>
            <a:ext cx="4480560" cy="64008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60920" y="3172968"/>
            <a:ext cx="4343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BB889"/>
                </a:solidFill>
              </a:rPr>
              <a:t>App works perfectly ✅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794760"/>
            <a:ext cx="2560320" cy="6400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79" y="3904488"/>
            <a:ext cx="2423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Privacy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017520" y="3794760"/>
            <a:ext cx="4114800" cy="6400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108960" y="3904488"/>
            <a:ext cx="397763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4747"/>
                </a:solidFill>
              </a:rPr>
              <a:t>User data on server ❌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69480" y="3794760"/>
            <a:ext cx="4480560" cy="6400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60920" y="3904488"/>
            <a:ext cx="4343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BB889"/>
                </a:solidFill>
              </a:rPr>
              <a:t>All data stays on device ✅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4645152"/>
            <a:ext cx="11521440" cy="36576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" y="4846320"/>
            <a:ext cx="11521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BB889"/>
                </a:solidFill>
              </a:rPr>
              <a:t>• </a:t>
            </a:r>
            <a:r>
              <a:rPr sz="1200">
                <a:solidFill>
                  <a:srgbClr val="FFFFFF"/>
                </a:solidFill>
              </a:rPr>
              <a:t>pests.json ← bundle ទៀងទាត់ — ចម្លង data ទៅ CoreData លើកដំបូងប៉ុណ្ណោះ</a:t>
            </a:r>
          </a:p>
          <a:p>
            <a:r>
              <a:rPr sz="1200" b="1">
                <a:solidFill>
                  <a:srgbClr val="1BB889"/>
                </a:solidFill>
              </a:rPr>
              <a:t>• </a:t>
            </a:r>
            <a:r>
              <a:rPr sz="1200">
                <a:solidFill>
                  <a:srgbClr val="FFFFFF"/>
                </a:solidFill>
              </a:rPr>
              <a:t>UserDefaults flag "pestDataSeeded" → ចៀសវាង duplicate seeding</a:t>
            </a:r>
          </a:p>
          <a:p>
            <a:r>
              <a:rPr sz="1200" b="1">
                <a:solidFill>
                  <a:srgbClr val="1BB889"/>
                </a:solidFill>
              </a:rPr>
              <a:t>• </a:t>
            </a:r>
            <a:r>
              <a:rPr sz="1200">
                <a:solidFill>
                  <a:srgbClr val="FFFFFF"/>
                </a:solidFill>
              </a:rPr>
              <a:t>CoreData @FetchRequest → always reads from local SQLite (fast + offline)</a:t>
            </a:r>
          </a:p>
          <a:p>
            <a:r>
              <a:rPr sz="1200" b="1">
                <a:solidFill>
                  <a:srgbClr val="1BB889"/>
                </a:solidFill>
              </a:rPr>
              <a:t>• </a:t>
            </a:r>
            <a:r>
              <a:rPr sz="1200">
                <a:solidFill>
                  <a:srgbClr val="FFFFFF"/>
                </a:solidFill>
              </a:rPr>
              <a:t>Update data: release new app version with updated pests.json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BB"/>
                </a:solidFill>
              </a:rPr>
              <a:t>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BB889"/>
                </a:solidFill>
              </a:rPr>
              <a:t>⚠️  Common Mistakes · ❌ vs ✅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2560320" cy="502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79" y="105156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Pattern</a:t>
            </a:r>
          </a:p>
        </p:txBody>
      </p:sp>
      <p:sp>
        <p:nvSpPr>
          <p:cNvPr id="7" name="Rectangle 6"/>
          <p:cNvSpPr/>
          <p:nvPr/>
        </p:nvSpPr>
        <p:spPr>
          <a:xfrm>
            <a:off x="3017520" y="1005840"/>
            <a:ext cx="4114800" cy="502920"/>
          </a:xfrm>
          <a:prstGeom prst="rect">
            <a:avLst/>
          </a:prstGeom>
          <a:solidFill>
            <a:srgbClr val="E5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08960" y="1051560"/>
            <a:ext cx="3977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❌  Wrong</a:t>
            </a:r>
          </a:p>
        </p:txBody>
      </p:sp>
      <p:sp>
        <p:nvSpPr>
          <p:cNvPr id="9" name="Rectangle 8"/>
          <p:cNvSpPr/>
          <p:nvPr/>
        </p:nvSpPr>
        <p:spPr>
          <a:xfrm>
            <a:off x="7269480" y="1005840"/>
            <a:ext cx="4663440" cy="50292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60920" y="1051560"/>
            <a:ext cx="4526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✅  Correct (iOS 13+)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600200"/>
            <a:ext cx="2560320" cy="566928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79" y="1691640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BB"/>
                </a:solidFill>
              </a:rPr>
              <a:t>Seed every launch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17520" y="1600200"/>
            <a:ext cx="4114800" cy="566928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08960" y="1691640"/>
            <a:ext cx="39776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4747"/>
                </a:solidFill>
              </a:rPr>
              <a:t>Run PestDataLoader every app start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69480" y="1600200"/>
            <a:ext cx="4663440" cy="566928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60920" y="1691640"/>
            <a:ext cx="4526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B889"/>
                </a:solidFill>
              </a:rPr>
              <a:t>Check UserDefaults flag first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212848"/>
            <a:ext cx="2560320" cy="56692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79" y="2304288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BB"/>
                </a:solidFill>
              </a:rPr>
              <a:t>iOS 16+ search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17520" y="2212848"/>
            <a:ext cx="4114800" cy="56692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08960" y="2304288"/>
            <a:ext cx="39776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4747"/>
                </a:solidFill>
              </a:rPr>
              <a:t>.searchable(text:) modifier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69480" y="2212848"/>
            <a:ext cx="4663440" cy="56692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60920" y="2304288"/>
            <a:ext cx="4526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B889"/>
                </a:solidFill>
              </a:rPr>
              <a:t>Custom HStack TextField (iOS 13+)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2825496"/>
            <a:ext cx="2560320" cy="566928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79" y="2916936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BB"/>
                </a:solidFill>
              </a:rPr>
              <a:t>DisclosureGroup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17520" y="2825496"/>
            <a:ext cx="4114800" cy="566928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08960" y="2916936"/>
            <a:ext cx="39776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4747"/>
                </a:solidFill>
              </a:rPr>
              <a:t>DisclosureGroup {} (iOS 14+)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69480" y="2825496"/>
            <a:ext cx="4663440" cy="566928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60920" y="2916936"/>
            <a:ext cx="4526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B889"/>
                </a:solidFill>
              </a:rPr>
              <a:t>Manual @State toggle + if/else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438144"/>
            <a:ext cx="2560320" cy="56692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79" y="3529584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BB"/>
                </a:solidFill>
              </a:rPr>
              <a:t>Filter in memory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017520" y="3438144"/>
            <a:ext cx="4114800" cy="56692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108960" y="3529584"/>
            <a:ext cx="39776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4747"/>
                </a:solidFill>
              </a:rPr>
              <a:t>Swift .filter{} on FetchedResults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69480" y="3438144"/>
            <a:ext cx="4663440" cy="56692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60920" y="3529584"/>
            <a:ext cx="4526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B889"/>
                </a:solidFill>
              </a:rPr>
              <a:t>NSPredicate on @FetchRequest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4050791"/>
            <a:ext cx="2560320" cy="566928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79" y="4142231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BB"/>
                </a:solidFill>
              </a:rPr>
              <a:t>Missing context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017520" y="4050791"/>
            <a:ext cx="4114800" cy="566928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108960" y="4142231"/>
            <a:ext cx="39776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4747"/>
                </a:solidFill>
              </a:rPr>
              <a:t>.environment missing on sheet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269480" y="4050791"/>
            <a:ext cx="4663440" cy="566928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60920" y="4142231"/>
            <a:ext cx="4526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B889"/>
                </a:solidFill>
              </a:rPr>
              <a:t>Always pass managedObjectContext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4663440"/>
            <a:ext cx="2560320" cy="56692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79" y="4754879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BB"/>
                </a:solidFill>
              </a:rPr>
              <a:t>Duplicate records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017520" y="4663440"/>
            <a:ext cx="4114800" cy="56692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108960" y="4754879"/>
            <a:ext cx="39776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4747"/>
                </a:solidFill>
              </a:rPr>
              <a:t>No seeded check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269480" y="4663440"/>
            <a:ext cx="4663440" cy="56692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60920" y="4754879"/>
            <a:ext cx="4526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B889"/>
                </a:solidFill>
              </a:rPr>
              <a:t>UserDefaults pestDataSeeded flag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BB"/>
                </a:solidFill>
              </a:rPr>
              <a:t>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BB889"/>
                </a:solidFill>
              </a:rPr>
              <a:t>🎨  Design System · Color + SF Symbols + Layout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2148840" cy="64008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" y="10515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GREEN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" y="137160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#1BB889</a:t>
            </a:r>
          </a:p>
        </p:txBody>
      </p:sp>
      <p:sp>
        <p:nvSpPr>
          <p:cNvPr id="8" name="Rectangle 7"/>
          <p:cNvSpPr/>
          <p:nvPr/>
        </p:nvSpPr>
        <p:spPr>
          <a:xfrm>
            <a:off x="2651760" y="1005840"/>
            <a:ext cx="2148840" cy="640080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24912" y="10515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BLUE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24912" y="137160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#287DFA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83479" y="1005840"/>
            <a:ext cx="2148840" cy="64008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56631" y="10515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PURPLE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56631" y="137160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#8E44AD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199" y="1005840"/>
            <a:ext cx="2148840" cy="640080"/>
          </a:xfrm>
          <a:prstGeom prst="rect">
            <a:avLst/>
          </a:prstGeom>
          <a:solidFill>
            <a:srgbClr val="F39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88351" y="10515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ORANGE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88351" y="137160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#F39620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46919" y="1005840"/>
            <a:ext cx="2148840" cy="640080"/>
          </a:xfrm>
          <a:prstGeom prst="rect">
            <a:avLst/>
          </a:prstGeom>
          <a:solidFill>
            <a:srgbClr val="E5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20072" y="10515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RED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20072" y="137160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#E54747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1920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B889"/>
                </a:solidFill>
              </a:rPr>
              <a:t>SF Symbols Used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377440"/>
            <a:ext cx="2560320" cy="59436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79" y="2441448"/>
            <a:ext cx="1463040" cy="4572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6071" y="2578608"/>
            <a:ext cx="113385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00C9C8"/>
                </a:solidFill>
                <a:latin typeface="Courier New"/>
              </a:rPr>
              <a:t>ant.fill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0" y="2487168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BB"/>
                </a:solidFill>
              </a:rPr>
              <a:t>Pest list row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63240" y="2377440"/>
            <a:ext cx="2560320" cy="59436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154680" y="2441448"/>
            <a:ext cx="1463040" cy="4572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19272" y="2578608"/>
            <a:ext cx="113385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00C9C8"/>
                </a:solidFill>
                <a:latin typeface="Courier New"/>
              </a:rPr>
              <a:t>star.fill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0" y="2487168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BB"/>
                </a:solidFill>
              </a:rPr>
              <a:t>isFavorite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063240"/>
            <a:ext cx="2560320" cy="59436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11479" y="3127248"/>
            <a:ext cx="1463040" cy="4572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6071" y="3264408"/>
            <a:ext cx="113385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00C9C8"/>
                </a:solidFill>
                <a:latin typeface="Courier New"/>
              </a:rPr>
              <a:t>magnifyingglass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11680" y="3172968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BB"/>
                </a:solidFill>
              </a:rPr>
              <a:t>Search bar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063240" y="3063240"/>
            <a:ext cx="2560320" cy="59436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154680" y="3127248"/>
            <a:ext cx="1463040" cy="4572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19272" y="3264408"/>
            <a:ext cx="113385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00C9C8"/>
                </a:solidFill>
                <a:latin typeface="Courier New"/>
              </a:rPr>
              <a:t>chevron.down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54880" y="3172968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BB"/>
                </a:solidFill>
              </a:rPr>
              <a:t>Expandable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3749039"/>
            <a:ext cx="2560320" cy="59436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1479" y="3813048"/>
            <a:ext cx="1463040" cy="4572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76071" y="3950208"/>
            <a:ext cx="113385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00C9C8"/>
                </a:solidFill>
                <a:latin typeface="Courier New"/>
              </a:rPr>
              <a:t>slider.horizontal.3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11680" y="3858768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BB"/>
                </a:solidFill>
              </a:rPr>
              <a:t>Filter picker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063240" y="3749039"/>
            <a:ext cx="2560320" cy="59436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154680" y="3813048"/>
            <a:ext cx="1463040" cy="4572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319272" y="3950208"/>
            <a:ext cx="113385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00C9C8"/>
                </a:solidFill>
                <a:latin typeface="Courier New"/>
              </a:rPr>
              <a:t>plus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54880" y="3858768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BB"/>
                </a:solidFill>
              </a:rPr>
              <a:t>Add new pest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89320" y="19202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87DFA"/>
                </a:solidFill>
              </a:rPr>
              <a:t>Layout Rules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89320" y="2377440"/>
            <a:ext cx="5943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BB889"/>
                </a:solidFill>
              </a:rPr>
              <a:t>• </a:t>
            </a:r>
            <a:r>
              <a:rPr sz="1100">
                <a:solidFill>
                  <a:srgbClr val="FFFFFF"/>
                </a:solidFill>
              </a:rPr>
              <a:t>NavigationView → NavigationLink to PestDetailView</a:t>
            </a:r>
          </a:p>
          <a:p>
            <a:r>
              <a:rPr sz="1100" b="1">
                <a:solidFill>
                  <a:srgbClr val="1BB889"/>
                </a:solidFill>
              </a:rPr>
              <a:t>• </a:t>
            </a:r>
            <a:r>
              <a:rPr sz="1100">
                <a:solidFill>
                  <a:srgbClr val="FFFFFF"/>
                </a:solidFill>
              </a:rPr>
              <a:t>List → ForEach(displayedPests, id: \.self)</a:t>
            </a:r>
          </a:p>
          <a:p>
            <a:r>
              <a:rPr sz="1100" b="1">
                <a:solidFill>
                  <a:srgbClr val="1BB889"/>
                </a:solidFill>
              </a:rPr>
              <a:t>• </a:t>
            </a:r>
            <a:r>
              <a:rPr sz="1100">
                <a:solidFill>
                  <a:srgbClr val="FFFFFF"/>
                </a:solidFill>
              </a:rPr>
              <a:t>isFavorite toggle → pest.isFavorite.toggle() + save</a:t>
            </a:r>
          </a:p>
          <a:p>
            <a:r>
              <a:rPr sz="1100" b="1">
                <a:solidFill>
                  <a:srgbClr val="1BB889"/>
                </a:solidFill>
              </a:rPr>
              <a:t>• </a:t>
            </a:r>
            <a:r>
              <a:rPr sz="1100">
                <a:solidFill>
                  <a:srgbClr val="FFFFFF"/>
                </a:solidFill>
              </a:rPr>
              <a:t>HStack search bar → top of VStack, padding(.horizontal)</a:t>
            </a:r>
          </a:p>
          <a:p>
            <a:r>
              <a:rPr sz="1100" b="1">
                <a:solidFill>
                  <a:srgbClr val="1BB889"/>
                </a:solidFill>
              </a:rPr>
              <a:t>• </a:t>
            </a:r>
            <a:r>
              <a:rPr sz="1100">
                <a:solidFill>
                  <a:srgbClr val="FFFFFF"/>
                </a:solidFill>
              </a:rPr>
              <a:t>Category Picker (Segmented) → Insects | Fungal | Bacterial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BB"/>
                </a:solidFill>
              </a:rPr>
              <a:t>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BB889"/>
                </a:solidFill>
              </a:rPr>
              <a:t>🏠  Mini-Project · Pest &amp; Disease Guide ពេញ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3749039" cy="530352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3749039" cy="50292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1051560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📋  Requirements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00200"/>
            <a:ext cx="338328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" y="1691640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JSON load 10+ pests on first launch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23160"/>
            <a:ext cx="338328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" y="2514600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List with custom search bar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246120"/>
            <a:ext cx="338328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72" y="3337560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Category filter: Insects/Fungal/Bacterial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069080"/>
            <a:ext cx="338328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72" y="4160520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Detail view with expandable sections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892040"/>
            <a:ext cx="338328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72" y="4983479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isFavorite toggle + star icon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715000"/>
            <a:ext cx="338328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" y="5806440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AddPestView form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79" y="1005840"/>
            <a:ext cx="3749039" cy="530352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97679" y="1005840"/>
            <a:ext cx="3749039" cy="502920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07407" y="1051560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✅  Checklist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34840" y="1600200"/>
            <a:ext cx="338328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53712" y="1691640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pests.json bundled + decoded 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34840" y="2423160"/>
            <a:ext cx="338328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53712" y="2514600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UserDefaults seed flag ✓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34840" y="3246120"/>
            <a:ext cx="338328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53712" y="3337560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@FetchRequest in PestGuideTabView 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34840" y="4069080"/>
            <a:ext cx="338328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53712" y="4160520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Search filters name + pestType 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34840" y="4892040"/>
            <a:ext cx="338328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53712" y="4983479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Symptoms/Treatment/Prevention expand 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34840" y="5715000"/>
            <a:ext cx="338328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53712" y="5806440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star.fill shows isFavorite 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75319" y="1005840"/>
            <a:ext cx="3749039" cy="530352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275319" y="1005840"/>
            <a:ext cx="3749039" cy="50292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85047" y="1051560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🎯  Grading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412480" y="1600200"/>
            <a:ext cx="338328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31351" y="1691640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JSON seeding: 25%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412480" y="2423160"/>
            <a:ext cx="338328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31351" y="2514600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Search bar: 20%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412480" y="3246120"/>
            <a:ext cx="338328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31351" y="3337560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Category filter: 20%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412480" y="4069080"/>
            <a:ext cx="338328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31351" y="4160520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Expandable detail: 20%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412480" y="4892040"/>
            <a:ext cx="338328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531351" y="4983479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CRUD (add/delete): 15%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412480" y="5715000"/>
            <a:ext cx="338328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531351" y="5806440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Bonus: isFavorite filter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0040" y="6400800"/>
            <a:ext cx="11521440" cy="384048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7200" y="641908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</a:rPr>
              <a:t>🐛  Week 06 ចប់! — Pest Guide offline + search ready · Next: Daily Journal →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BB"/>
                </a:solidFill>
              </a:rPr>
              <a:t>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BB889"/>
                </a:solidFill>
              </a:rPr>
              <a:t>📌  សង្ខេប Week 06 · Cheat Sheet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2743200" cy="530352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2743200" cy="50292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0515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⚙️  Setup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79" y="1600200"/>
            <a:ext cx="256032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" y="1691640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C9C8"/>
                </a:solidFill>
                <a:latin typeface="Courier New"/>
              </a:rPr>
              <a:t>Pest.xcdatamodeld entity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79" y="2423160"/>
            <a:ext cx="256032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" y="2514600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C9C8"/>
                </a:solidFill>
                <a:latin typeface="Courier New"/>
              </a:rPr>
              <a:t>pests.json in Bundle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79" y="3246120"/>
            <a:ext cx="256032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" y="3337560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C9C8"/>
                </a:solidFill>
                <a:latin typeface="Courier New"/>
              </a:rPr>
              <a:t>PestDataLoader service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79" y="4069080"/>
            <a:ext cx="256032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" y="4160520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C9C8"/>
                </a:solidFill>
                <a:latin typeface="Courier New"/>
              </a:rPr>
              <a:t>UserDefaults seed flag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91840" y="1005840"/>
            <a:ext cx="2743200" cy="530352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91840" y="1005840"/>
            <a:ext cx="2743200" cy="502920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83280" y="10515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🔍  Search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83280" y="1600200"/>
            <a:ext cx="256032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6432" y="1691640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C9C8"/>
                </a:solidFill>
                <a:latin typeface="Courier New"/>
              </a:rPr>
              <a:t>@State searchText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3280" y="2423160"/>
            <a:ext cx="256032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56432" y="2514600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C9C8"/>
                </a:solidFill>
                <a:latin typeface="Courier New"/>
              </a:rPr>
              <a:t>localizedCaseInsensitiveContains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83280" y="3246120"/>
            <a:ext cx="256032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56432" y="3337560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C9C8"/>
                </a:solidFill>
                <a:latin typeface="Courier New"/>
              </a:rPr>
              <a:t>Picker category filter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83280" y="4069080"/>
            <a:ext cx="256032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56432" y="4160520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C9C8"/>
                </a:solidFill>
                <a:latin typeface="Courier New"/>
              </a:rPr>
              <a:t>displayedPests computed var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1005840"/>
            <a:ext cx="2743200" cy="530352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63640" y="1005840"/>
            <a:ext cx="2743200" cy="50292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79" y="10515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📱  Detail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5079" y="1600200"/>
            <a:ext cx="256032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8231" y="1691640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C9C8"/>
                </a:solidFill>
                <a:latin typeface="Courier New"/>
              </a:rPr>
              <a:t>NavigationLink destination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5079" y="2423160"/>
            <a:ext cx="256032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28231" y="2514600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C9C8"/>
                </a:solidFill>
                <a:latin typeface="Courier New"/>
              </a:rPr>
              <a:t>@State showSymptoms etc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55079" y="3246120"/>
            <a:ext cx="256032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28231" y="3337560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C9C8"/>
                </a:solidFill>
                <a:latin typeface="Courier New"/>
              </a:rPr>
              <a:t>if showX { Text(...) }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5079" y="4069080"/>
            <a:ext cx="256032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28231" y="4160520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C9C8"/>
                </a:solidFill>
                <a:latin typeface="Courier New"/>
              </a:rPr>
              <a:t>chevron icon rotation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235440" y="1005840"/>
            <a:ext cx="2743200" cy="530352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235440" y="1005840"/>
            <a:ext cx="2743200" cy="502920"/>
          </a:xfrm>
          <a:prstGeom prst="rect">
            <a:avLst/>
          </a:prstGeom>
          <a:solidFill>
            <a:srgbClr val="F39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26880" y="10515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🔌  Offline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326880" y="1600200"/>
            <a:ext cx="256032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400032" y="1691640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C9C8"/>
                </a:solidFill>
                <a:latin typeface="Courier New"/>
              </a:rPr>
              <a:t>Bundle.main.url(forResource:)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326880" y="2423160"/>
            <a:ext cx="256032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400032" y="2514600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C9C8"/>
                </a:solidFill>
                <a:latin typeface="Courier New"/>
              </a:rPr>
              <a:t>JSONDecoder().decode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326880" y="3246120"/>
            <a:ext cx="256032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400032" y="3337560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C9C8"/>
                </a:solidFill>
                <a:latin typeface="Courier New"/>
              </a:rPr>
              <a:t>CoreData @FetchRequest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326880" y="4069080"/>
            <a:ext cx="256032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400032" y="4160520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C9C8"/>
                </a:solidFill>
                <a:latin typeface="Courier New"/>
              </a:rPr>
              <a:t>No network needed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6400800"/>
            <a:ext cx="11521440" cy="384048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7200" y="641908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</a:rPr>
              <a:t>🌿  Offline = farmer-first! · Data on device = always available even in the rice field.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BB"/>
                </a:solidFill>
              </a:rPr>
              <a:t>12/12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