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20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Welcome to Week 6. This week we build an offline reference library — the Pest &amp; Disease Guide tab of the Smart Farmer Assistant. By the end, students will have a Pest Core Data entity, a JSON file that seeds the database on first launch, a custom iOS-13 compatible search bar, and a detail screen with expandable sections. Everything works in airplane mode from launch 1. UI suggestion: open with the finished app on screen — show the list, a quick search, and a detail expand — so learners see the target before we write code.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the five lessons at a high level; the payoff is lesson 6.2 (JSON preload) — that single mechanism is what makes the app 'offline first'. Stress that we pick iOS 13+ APIs all the way — no .searchable, no DisclosureGroup-required, no AsyncImage. UI suggestion: objectives on the left, numbered lesson chips on the right — build in the chips one-by-one with a fade.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same layering students saw in Finance (Week 4) and CalendarReminders (Week 5). The new box here is 'Service' — PestDataLoader — because the data originates outside the runtime (JSON file shipped with the app) and has to be promoted into Core Data exactly once. UI suggestion: five stacked cards, colored accent bar on the left of each. Animation: fade in top-to-bottom, 120ms delay between cards.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the folder tree top to bottom. Emphasise that every week we've opened a new folder alongside Finance/ and CalendarReminders/ — not a new project. Shared Core Data model, shared CoreDataManager. UI suggestion: bullets on the left describing WHY each folder exists, the actual tree rendered as a dark code block on the right. Animation: slide-from-right for the code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Read left-to-right. The key insight: steps 1→3 happen ONCE (on first launch). After that, the app only ever reads 3→5. This is what makes the experience feel native — no spinner, no 'loading', and no network dependency even on the very first tap. UI suggestion: five color-coded cards in a row with arrows between them; the caption under them clarifies the temporal split. Animation: slide-from-left for each box with a 100ms delay.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each attribute. The four core ones (name, symptoms, treatment, imageName) are required by the spec; the three extras (pestType, prevention, isFavorite) are optional enrichments that demonstrate how to extend a model without breaking previous features. Show the Data Model Inspector live and point to Codegen → Manual/None — this is the #1 cause of duplicate-class errors for learners. UI suggestion: attribute cards left, code right, orange warning card bottom-right. Animation: slide-from-left for cards, slide-from-right for the code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the heart of Week 6. Walk every step of the flow and link it back to the PestDataLoader code. Emphasise two details: (1) the flag is NOT flipped when the load fails — that means a broken ship of pests.json can recover on the next launch, instead of silently leaving the user with an empty store forever; (2) it's called from App.init(), not from onAppear — onAppear fires every time the view appears, which would re-trigger work on every tab switch. UI suggestion: 8 stacked cards down the centre connected by down-arrows; reasoning notes on the right. Animation: zoom + fade for the flow, fade in the bullets last.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each bullet. Emphasise WHY we don't use .searchable: the course minimum deployment target is iOS 13. Show that the 'Cancel' button animates in only while editing — a small UX detail that makes the bar feel like Apple's. Then show the ViewModel's filter(_:) — it's just a guard + .filter — and link back to the bullet that says 'filtering lives in the ViewModel'. UI suggestion: bullets left, iPhone-shape mock right with the live search pill + four result rows. Animation: fade in bullets; slide-from-top for the search pill; fade in rows.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Emphasise the 'each section owns its own @State' rule — the biggest mistake learners make here is to hoist one Bool for all sections into the detail view, which forces them open/close together. Show the ExpandableSection struct live and point to the private @State and the generic Content parameter. UI suggestion: bullets left, mock detail screen right showing two open sections ('Symptoms' + 'Treatment') and one collapsed ('Prevention'). Animation: slide-up reveal for the body text when a section opens.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This is a concept slide — don't read every row. Pick one (airplane mode is the most visceral) and live-demo by toggling airplane mode on the device, then showing the app still works. UI suggestion: four rows of red-vs-green cards; callout footer carries the one-line rule of thumb. Animation: fade in rows top-to-bottom; pop the rule-of-thumb card last.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Design-system slide. Don't linger — point to the palette, read two or three SF Symbols, and mention one layout rule (usually 'pinned search bar'). Link it back to the course's ongoing design tokens from Weeks 4 and 5. UI suggestion: palette row top, two cards below (SF Symbols inventory + layout recipe bullets). Animation: fade in the palette chips sequentially, then pop both cards.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Recap what the class shipped. Use the questions on the right to drive the Q&amp;A — don't lecture, invite answers. The single most important takeaway: preload from App.init() so the work happens ONCE, and the UserDefaults flag is the gate. Tease Week 7 (Journal) only briefly — it reuses the same MVVM + Core Data pattern but adds photo capture. UI suggestion: green hero band up top, two cards below — 'What you shipped' and 'Questions'. Animation: fade in the cards after the hero band; reveal the questions one at a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411480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058400" y="548640"/>
            <a:ext cx="1463040" cy="1463040"/>
          </a:xfrm>
          <a:prstGeom prst="ellipse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1247120" y="3108960"/>
            <a:ext cx="822960" cy="822960"/>
          </a:xfrm>
          <a:prstGeom prst="ellipse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904480" y="2424430"/>
            <a:ext cx="502920" cy="50292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548640" y="548640"/>
            <a:ext cx="219456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0000" tIns="20000" rIns="40000" bIns="20000" rtlCol="0" anchor="ctr"/>
          <a:lstStyle/>
          <a:p>
            <a:pPr algn="ctr"/>
            <a:r>
              <a:rPr sz="1100" b="1">
                <a:solidFill>
                  <a:srgbClr val="34C759"/>
                </a:solidFill>
                <a:latin typeface="SF Pro Text"/>
              </a:rPr>
              <a:t>iOS · SwiftUI · Week 6</a:t>
            </a:r>
            <a:endParaRPr sz="1100" b="1">
              <a:solidFill>
                <a:srgbClr val="34C759"/>
              </a:solidFill>
              <a:latin typeface="SF Pro Tex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1234440"/>
            <a:ext cx="10972800" cy="137160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5200" b="1">
                <a:solidFill>
                  <a:srgbClr val="FFFFFF"/>
                </a:solidFill>
                <a:latin typeface="SF Pro Display"/>
              </a:rPr>
              <a:t>Pest &amp; Disease Guide</a:t>
            </a:r>
            <a:endParaRPr sz="5200" b="1">
              <a:solidFill>
                <a:srgbClr val="FFFFFF"/>
              </a:solidFill>
              <a:latin typeface="SF Pro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2057400"/>
            <a:ext cx="10972800" cy="91440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SF Pro Display"/>
              </a:rPr>
              <a:t>An Offline Reference Library</a:t>
            </a:r>
            <a:endParaRPr sz="4400" b="1">
              <a:solidFill>
                <a:srgbClr val="FFFFFF"/>
              </a:solidFill>
              <a:latin typeface="SF Pro Display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8640" y="2987675"/>
            <a:ext cx="10972800" cy="5486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2200" b="0">
                <a:solidFill>
                  <a:srgbClr val="FFFFFF"/>
                </a:solidFill>
                <a:latin typeface="SF Pro Text"/>
              </a:rPr>
              <a:t>SwiftUI  ·  Core Data  ·  JSON Preload  ·  Custom Search</a:t>
            </a:r>
            <a:endParaRPr sz="2200" b="0">
              <a:solidFill>
                <a:srgbClr val="FFFFFF"/>
              </a:solidFill>
              <a:latin typeface="SF Pro Text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48640" y="4572000"/>
            <a:ext cx="11064240" cy="14630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4709160"/>
            <a:ext cx="5486400" cy="41148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1">
                <a:solidFill>
                  <a:srgbClr val="8E8E93"/>
                </a:solidFill>
                <a:latin typeface="SF Pro Text"/>
              </a:rPr>
              <a:t>AUDIENCE</a:t>
            </a:r>
            <a:endParaRPr sz="1100" b="1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8680" y="4983480"/>
            <a:ext cx="5486400" cy="5486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2000" b="1">
                <a:solidFill>
                  <a:srgbClr val="1C1C1E"/>
                </a:solidFill>
                <a:latin typeface="SF Pro Display"/>
              </a:rPr>
              <a:t>Beginner iOS Developers</a:t>
            </a:r>
            <a:endParaRPr sz="2000" b="1">
              <a:solidFill>
                <a:srgbClr val="1C1C1E"/>
              </a:solidFill>
              <a:latin typeface="SF Pro Display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68680" y="5440680"/>
            <a:ext cx="6400800" cy="45720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300" b="0">
                <a:solidFill>
                  <a:srgbClr val="8E8E93"/>
                </a:solidFill>
                <a:latin typeface="SF Pro Text"/>
              </a:rPr>
              <a:t>Pest entity · JSON preload · Custom search bar · Expandable sections</a:t>
            </a:r>
            <a:endParaRPr sz="1300" b="0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132320" y="4709160"/>
            <a:ext cx="4389120" cy="41148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r"/>
            <a:r>
              <a:rPr sz="1100" b="1">
                <a:solidFill>
                  <a:srgbClr val="8E8E93"/>
                </a:solidFill>
                <a:latin typeface="SF Pro Text"/>
              </a:rPr>
              <a:t>PROJECT 2 — SMART FARMER ASSISTANT</a:t>
            </a:r>
            <a:endParaRPr sz="1100" b="1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132320" y="4983480"/>
            <a:ext cx="4389120" cy="5486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r"/>
            <a:r>
              <a:rPr sz="2000" b="1">
                <a:solidFill>
                  <a:srgbClr val="1C1C1E"/>
                </a:solidFill>
                <a:latin typeface="SF Pro Display"/>
              </a:rPr>
              <a:t>PestDisease Module</a:t>
            </a:r>
            <a:endParaRPr sz="2000" b="1">
              <a:solidFill>
                <a:srgbClr val="1C1C1E"/>
              </a:solidFill>
              <a:latin typeface="SF Pro Display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132320" y="5440680"/>
            <a:ext cx="4389120" cy="45720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r"/>
            <a:r>
              <a:rPr sz="1300" b="0">
                <a:solidFill>
                  <a:srgbClr val="8E8E93"/>
                </a:solidFill>
                <a:latin typeface="SF Pro Text"/>
              </a:rPr>
              <a:t>iOS 13+ — ObservableObject · NavigationView · custom SearchBar</a:t>
            </a:r>
            <a:endParaRPr sz="1300" b="0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SF Pro Text"/>
              </a:rPr>
              <a:t>Week 6 · Pest &amp; Disease Guide · SmartFarmerAssistant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r"/>
            <a:r>
              <a:rPr sz="1000" b="0">
                <a:solidFill>
                  <a:srgbClr val="8E8E93"/>
                </a:solidFill>
                <a:latin typeface="SF Pro Text"/>
              </a:rPr>
              <a:t>1 / 12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2" cy="82296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97280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1">
                <a:solidFill>
                  <a:srgbClr val="34C759"/>
                </a:solidFill>
                <a:latin typeface="SF Pro Text"/>
              </a:rPr>
              <a:t>AGENDA</a:t>
            </a:r>
            <a:endParaRPr sz="1200" b="1">
              <a:solidFill>
                <a:srgbClr val="34C759"/>
              </a:solidFill>
              <a:latin typeface="SF Pro Tex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3000" b="1">
                <a:solidFill>
                  <a:srgbClr val="1C1C1E"/>
                </a:solidFill>
                <a:latin typeface="SF Pro Display"/>
              </a:rPr>
              <a:t>What you'll build this week</a:t>
            </a:r>
            <a:endParaRPr sz="3000" b="1">
              <a:solidFill>
                <a:srgbClr val="1C1C1E"/>
              </a:solidFill>
              <a:latin typeface="SF Pro Display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530352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1">
                <a:solidFill>
                  <a:srgbClr val="34C759"/>
                </a:solidFill>
                <a:latin typeface="SF Pro Text"/>
              </a:rPr>
              <a:t>LEARNING OBJECTIVES</a:t>
            </a:r>
            <a:endParaRPr sz="1200" b="1">
              <a:solidFill>
                <a:srgbClr val="34C759"/>
              </a:solidFill>
              <a:latin typeface="SF Pro Tex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5800" y="2057400"/>
            <a:ext cx="5577840" cy="4114800"/>
          </a:xfrm>
          <a:prstGeom prst="rect">
            <a:avLst/>
          </a:prstGeom>
          <a:noFill/>
        </p:spPr>
        <p:txBody>
          <a:bodyPr wrap="square" lIns="80000" tIns="40000" rIns="60000">
            <a:spAutoFit/>
          </a:bodyPr>
          <a:lstStyle/>
          <a:p>
            <a:pPr algn="l">
              <a:lnSpc>
                <a:spcPct val="125000"/>
              </a:lnSpc>
            </a:pPr>
            <a:r>
              <a:rPr sz="1700">
                <a:solidFill>
                  <a:srgbClr val="1C1C1E"/>
                </a:solidFill>
                <a:latin typeface="SF Pro Text"/>
              </a:rPr>
              <a:t>•  Model a Pest entity in Core Data (name, symptoms, treatment, imageName)</a:t>
            </a:r>
            <a:endParaRPr sz="1700">
              <a:solidFill>
                <a:srgbClr val="1C1C1E"/>
              </a:solidFill>
              <a:latin typeface="SF Pro Text"/>
            </a:endParaRPr>
          </a:p>
          <a:p>
            <a:pPr algn="l">
              <a:lnSpc>
                <a:spcPct val="125000"/>
              </a:lnSpc>
            </a:pPr>
            <a:r>
              <a:rPr sz="1700">
                <a:solidFill>
                  <a:srgbClr val="1C1C1E"/>
                </a:solidFill>
                <a:latin typeface="SF Pro Text"/>
              </a:rPr>
              <a:t>•  Ship a JSON file in the app bundle and preload it on first launch</a:t>
            </a:r>
            <a:endParaRPr sz="1700">
              <a:solidFill>
                <a:srgbClr val="1C1C1E"/>
              </a:solidFill>
              <a:latin typeface="SF Pro Text"/>
            </a:endParaRPr>
          </a:p>
          <a:p>
            <a:pPr algn="l">
              <a:lnSpc>
                <a:spcPct val="125000"/>
              </a:lnSpc>
            </a:pPr>
            <a:r>
              <a:rPr sz="1700">
                <a:solidFill>
                  <a:srgbClr val="1C1C1E"/>
                </a:solidFill>
                <a:latin typeface="SF Pro Text"/>
              </a:rPr>
              <a:t>•  Build a custom iOS 13+ search bar (no .searchable)</a:t>
            </a:r>
            <a:endParaRPr sz="1700">
              <a:solidFill>
                <a:srgbClr val="1C1C1E"/>
              </a:solidFill>
              <a:latin typeface="SF Pro Text"/>
            </a:endParaRPr>
          </a:p>
          <a:p>
            <a:pPr algn="l">
              <a:lnSpc>
                <a:spcPct val="125000"/>
              </a:lnSpc>
            </a:pPr>
            <a:r>
              <a:rPr sz="1700">
                <a:solidFill>
                  <a:srgbClr val="1C1C1E"/>
                </a:solidFill>
                <a:latin typeface="SF Pro Text"/>
              </a:rPr>
              <a:t>•  Expand/collapse sections with local @State</a:t>
            </a:r>
            <a:endParaRPr sz="1700">
              <a:solidFill>
                <a:srgbClr val="1C1C1E"/>
              </a:solidFill>
              <a:latin typeface="SF Pro Text"/>
            </a:endParaRPr>
          </a:p>
          <a:p>
            <a:pPr algn="l">
              <a:lnSpc>
                <a:spcPct val="125000"/>
              </a:lnSpc>
            </a:pPr>
            <a:r>
              <a:rPr sz="1700">
                <a:solidFill>
                  <a:srgbClr val="1C1C1E"/>
                </a:solidFill>
                <a:latin typeface="SF Pro Text"/>
              </a:rPr>
              <a:t>•  Design an offline-first feature — works with zero network</a:t>
            </a:r>
            <a:endParaRPr sz="170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6492240" y="1737360"/>
            <a:ext cx="512064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6629400" y="1874520"/>
            <a:ext cx="640080" cy="45720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F Pro Display"/>
              </a:rPr>
              <a:t>6.1</a:t>
            </a:r>
            <a:endParaRPr sz="1300" b="1">
              <a:solidFill>
                <a:srgbClr val="FFFFFF"/>
              </a:solidFill>
              <a:latin typeface="SF Pro Display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269480" y="1920240"/>
            <a:ext cx="4114800" cy="45720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600" b="1">
                <a:solidFill>
                  <a:srgbClr val="1C1C1E"/>
                </a:solidFill>
                <a:latin typeface="SF Pro Display"/>
              </a:rPr>
              <a:t>Pest Core Data Entity</a:t>
            </a:r>
            <a:endParaRPr sz="1600" b="1">
              <a:solidFill>
                <a:srgbClr val="1C1C1E"/>
              </a:solidFill>
              <a:latin typeface="SF Pro Display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92240" y="2606039"/>
            <a:ext cx="512064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629400" y="2743200"/>
            <a:ext cx="640080" cy="45720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F Pro Display"/>
              </a:rPr>
              <a:t>6.2</a:t>
            </a:r>
            <a:endParaRPr sz="1300" b="1">
              <a:solidFill>
                <a:srgbClr val="FFFFFF"/>
              </a:solidFill>
              <a:latin typeface="SF Pro Display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269480" y="2788919"/>
            <a:ext cx="4114800" cy="45720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600" b="1">
                <a:solidFill>
                  <a:srgbClr val="1C1C1E"/>
                </a:solidFill>
                <a:latin typeface="SF Pro Display"/>
              </a:rPr>
              <a:t>JSON Preload on First Launch</a:t>
            </a:r>
            <a:endParaRPr sz="1600" b="1">
              <a:solidFill>
                <a:srgbClr val="1C1C1E"/>
              </a:solidFill>
              <a:latin typeface="SF Pro Display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492240" y="3474720"/>
            <a:ext cx="512064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629400" y="3611880"/>
            <a:ext cx="623570" cy="45720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F Pro Display"/>
              </a:rPr>
              <a:t>6.3</a:t>
            </a:r>
            <a:endParaRPr sz="1300" b="1">
              <a:solidFill>
                <a:srgbClr val="FFFFFF"/>
              </a:solidFill>
              <a:latin typeface="SF Pro Display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269480" y="3657600"/>
            <a:ext cx="4114800" cy="45720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600" b="1">
                <a:solidFill>
                  <a:srgbClr val="1C1C1E"/>
                </a:solidFill>
                <a:latin typeface="SF Pro Display"/>
              </a:rPr>
              <a:t>Custom iOS 13+ Search Bar</a:t>
            </a:r>
            <a:endParaRPr sz="1600" b="1">
              <a:solidFill>
                <a:srgbClr val="1C1C1E"/>
              </a:solidFill>
              <a:latin typeface="SF Pro Display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492240" y="4343400"/>
            <a:ext cx="512064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629400" y="4480560"/>
            <a:ext cx="623570" cy="45720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F Pro Display"/>
              </a:rPr>
              <a:t>6.4</a:t>
            </a:r>
            <a:endParaRPr sz="1300" b="1">
              <a:solidFill>
                <a:srgbClr val="FFFFFF"/>
              </a:solidFill>
              <a:latin typeface="SF Pro Display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269480" y="4526280"/>
            <a:ext cx="4114800" cy="45720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600" b="1">
                <a:solidFill>
                  <a:srgbClr val="1C1C1E"/>
                </a:solidFill>
                <a:latin typeface="SF Pro Display"/>
              </a:rPr>
              <a:t>Expandable Sections with @State</a:t>
            </a:r>
            <a:endParaRPr sz="1600" b="1">
              <a:solidFill>
                <a:srgbClr val="1C1C1E"/>
              </a:solidFill>
              <a:latin typeface="SF Pro Display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6492240" y="5212079"/>
            <a:ext cx="5120640" cy="731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629400" y="5349240"/>
            <a:ext cx="670560" cy="457200"/>
          </a:xfrm>
          <a:prstGeom prst="ellipse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FFFFF"/>
                </a:solidFill>
                <a:latin typeface="SF Pro Display"/>
              </a:rPr>
              <a:t>6.5</a:t>
            </a:r>
            <a:endParaRPr sz="1300" b="1">
              <a:solidFill>
                <a:srgbClr val="FFFFFF"/>
              </a:solidFill>
              <a:latin typeface="SF Pro Display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269480" y="5394959"/>
            <a:ext cx="4114800" cy="45720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600" b="1">
                <a:solidFill>
                  <a:srgbClr val="1C1C1E"/>
                </a:solidFill>
                <a:latin typeface="SF Pro Display"/>
              </a:rPr>
              <a:t>Putting it together — PestGuideTabView</a:t>
            </a:r>
            <a:endParaRPr sz="1600" b="1">
              <a:solidFill>
                <a:srgbClr val="1C1C1E"/>
              </a:solidFill>
              <a:latin typeface="SF Pro Display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SF Pro Text"/>
              </a:rPr>
              <a:t>Week 6 · Pest &amp; Disease Guide · SmartFarmerAssistant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r"/>
            <a:r>
              <a:rPr sz="1000" b="0">
                <a:solidFill>
                  <a:srgbClr val="8E8E93"/>
                </a:solidFill>
                <a:latin typeface="SF Pro Text"/>
              </a:rPr>
              <a:t>2 / 12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2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97280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SF Pro Text"/>
              </a:rPr>
              <a:t>ARCHITECTURE</a:t>
            </a:r>
            <a:endParaRPr sz="1200" b="1">
              <a:solidFill>
                <a:srgbClr val="0A84FF"/>
              </a:solidFill>
              <a:latin typeface="SF Pro Tex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3000" b="1">
                <a:solidFill>
                  <a:srgbClr val="1C1C1E"/>
                </a:solidFill>
                <a:latin typeface="SF Pro Display"/>
              </a:rPr>
              <a:t>MVVM — clean SwiftUI layers</a:t>
            </a:r>
            <a:endParaRPr sz="3000" b="1">
              <a:solidFill>
                <a:srgbClr val="1C1C1E"/>
              </a:solidFill>
              <a:latin typeface="SF Pro Display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1737360"/>
            <a:ext cx="1078992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85800" y="1737360"/>
            <a:ext cx="164592" cy="77724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47088"/>
            <a:ext cx="201168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600" b="1">
                <a:solidFill>
                  <a:srgbClr val="0A84FF"/>
                </a:solidFill>
                <a:latin typeface="SF Pro Display"/>
              </a:rPr>
              <a:t>View</a:t>
            </a:r>
            <a:endParaRPr sz="1600" b="1">
              <a:solidFill>
                <a:srgbClr val="0A84FF"/>
              </a:solidFill>
              <a:latin typeface="SF Pro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08960" y="1920240"/>
            <a:ext cx="8229600" cy="45720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300" b="0">
                <a:solidFill>
                  <a:srgbClr val="1C1C1E"/>
                </a:solidFill>
                <a:latin typeface="SF Pro Text"/>
              </a:rPr>
              <a:t>PestGuideTabView · PestRowView · PestDetailView · SearchBar · ExpandableSection</a:t>
            </a:r>
            <a:endParaRPr sz="13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10" name="Rounded Rectangle 9"/>
          <p:cNvSpPr/>
          <p:nvPr/>
        </p:nvSpPr>
        <p:spPr>
          <a:xfrm>
            <a:off x="685800" y="2651760"/>
            <a:ext cx="1078992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85800" y="2651760"/>
            <a:ext cx="164592" cy="77724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2761488"/>
            <a:ext cx="201168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600" b="1">
                <a:solidFill>
                  <a:srgbClr val="34C759"/>
                </a:solidFill>
                <a:latin typeface="SF Pro Display"/>
              </a:rPr>
              <a:t>ViewModel</a:t>
            </a:r>
            <a:endParaRPr sz="1600" b="1">
              <a:solidFill>
                <a:srgbClr val="34C759"/>
              </a:solidFill>
              <a:latin typeface="SF Pro Display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108960" y="2834640"/>
            <a:ext cx="8229600" cy="45720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300" b="0">
                <a:solidFill>
                  <a:srgbClr val="1C1C1E"/>
                </a:solidFill>
                <a:latin typeface="SF Pro Text"/>
              </a:rPr>
              <a:t>PestGuideViewModel — @Published searchText + filter(_:)</a:t>
            </a:r>
            <a:endParaRPr sz="13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685800" y="3566160"/>
            <a:ext cx="1078992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85800" y="3566160"/>
            <a:ext cx="164592" cy="77724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05840" y="3675887"/>
            <a:ext cx="201168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600" b="1">
                <a:solidFill>
                  <a:srgbClr val="FF9500"/>
                </a:solidFill>
                <a:latin typeface="SF Pro Display"/>
              </a:rPr>
              <a:t>Service</a:t>
            </a:r>
            <a:endParaRPr sz="1600" b="1">
              <a:solidFill>
                <a:srgbClr val="FF9500"/>
              </a:solidFill>
              <a:latin typeface="SF Pro Display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108960" y="3749039"/>
            <a:ext cx="8229600" cy="45720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300" b="0">
                <a:solidFill>
                  <a:srgbClr val="1C1C1E"/>
                </a:solidFill>
                <a:latin typeface="SF Pro Text"/>
              </a:rPr>
              <a:t>PestDataLoader — Bundle → JSONDecoder → Core Data (once)</a:t>
            </a:r>
            <a:endParaRPr sz="13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685800" y="4480560"/>
            <a:ext cx="1078992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85800" y="4480560"/>
            <a:ext cx="164592" cy="777240"/>
          </a:xfrm>
          <a:prstGeom prst="rect">
            <a:avLst/>
          </a:prstGeom>
          <a:solidFill>
            <a:srgbClr val="A052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05840" y="4590288"/>
            <a:ext cx="201168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600" b="1">
                <a:solidFill>
                  <a:srgbClr val="A052D4"/>
                </a:solidFill>
                <a:latin typeface="SF Pro Display"/>
              </a:rPr>
              <a:t>Model</a:t>
            </a:r>
            <a:endParaRPr sz="1600" b="1">
              <a:solidFill>
                <a:srgbClr val="A052D4"/>
              </a:solidFill>
              <a:latin typeface="SF Pro Display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108960" y="4663440"/>
            <a:ext cx="8229600" cy="45720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300" b="0">
                <a:solidFill>
                  <a:srgbClr val="1C1C1E"/>
                </a:solidFill>
                <a:latin typeface="SF Pro Text"/>
              </a:rPr>
              <a:t>Pest (NSManagedObject) + PestDTO (Codable)</a:t>
            </a:r>
            <a:endParaRPr sz="13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685800" y="5394960"/>
            <a:ext cx="10789920" cy="77724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85800" y="5394960"/>
            <a:ext cx="164592" cy="777240"/>
          </a:xfrm>
          <a:prstGeom prst="rect">
            <a:avLst/>
          </a:prstGeom>
          <a:solidFill>
            <a:srgbClr val="8E8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504688"/>
            <a:ext cx="201168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600" b="1">
                <a:solidFill>
                  <a:srgbClr val="8E8E93"/>
                </a:solidFill>
                <a:latin typeface="SF Pro Display"/>
              </a:rPr>
              <a:t>Resource</a:t>
            </a:r>
            <a:endParaRPr sz="1600" b="1">
              <a:solidFill>
                <a:srgbClr val="8E8E93"/>
              </a:solidFill>
              <a:latin typeface="SF Pro Display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108960" y="5577840"/>
            <a:ext cx="8229600" cy="45720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300" b="0">
                <a:solidFill>
                  <a:srgbClr val="1C1C1E"/>
                </a:solidFill>
                <a:latin typeface="SF Pro Text"/>
              </a:rPr>
              <a:t>pests.json — committed to the repo, bundled with the app</a:t>
            </a:r>
            <a:endParaRPr sz="13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SF Pro Text"/>
              </a:rPr>
              <a:t>Week 6 · Pest &amp; Disease Guide · SmartFarmerAssistant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r"/>
            <a:r>
              <a:rPr sz="1000" b="0">
                <a:solidFill>
                  <a:srgbClr val="8E8E93"/>
                </a:solidFill>
                <a:latin typeface="SF Pro Text"/>
              </a:rPr>
              <a:t>3 / 12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2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97280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SF Pro Text"/>
              </a:rPr>
              <a:t>CODE LAYOUT</a:t>
            </a:r>
            <a:endParaRPr sz="1200" b="1">
              <a:solidFill>
                <a:srgbClr val="0A84FF"/>
              </a:solidFill>
              <a:latin typeface="SF Pro Tex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3000" b="1">
                <a:solidFill>
                  <a:srgbClr val="1C1C1E"/>
                </a:solidFill>
                <a:latin typeface="SF Pro Display"/>
              </a:rPr>
              <a:t>PestDisease module — folder by folder</a:t>
            </a:r>
            <a:endParaRPr sz="3000" b="1">
              <a:solidFill>
                <a:srgbClr val="1C1C1E"/>
              </a:solidFill>
              <a:latin typeface="SF Pro Display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5029200" cy="4114800"/>
          </a:xfrm>
          <a:prstGeom prst="rect">
            <a:avLst/>
          </a:prstGeom>
          <a:noFill/>
        </p:spPr>
        <p:txBody>
          <a:bodyPr wrap="square" lIns="80000" tIns="40000" rIns="60000">
            <a:spAutoFit/>
          </a:bodyPr>
          <a:lstStyle/>
          <a:p>
            <a:pPr algn="l">
              <a:lnSpc>
                <a:spcPct val="125000"/>
              </a:lnSpc>
            </a:pPr>
            <a:r>
              <a:rPr sz="1600">
                <a:solidFill>
                  <a:srgbClr val="1C1C1E"/>
                </a:solidFill>
                <a:latin typeface="SF Pro Text"/>
              </a:rPr>
              <a:t>•  Mirrors Finance/ and CalendarReminders/ — same shape across modules</a:t>
            </a:r>
            <a:endParaRPr sz="1600">
              <a:solidFill>
                <a:srgbClr val="1C1C1E"/>
              </a:solidFill>
              <a:latin typeface="SF Pro Text"/>
            </a:endParaRPr>
          </a:p>
          <a:p>
            <a:pPr algn="l">
              <a:lnSpc>
                <a:spcPct val="125000"/>
              </a:lnSpc>
            </a:pPr>
            <a:r>
              <a:rPr sz="1600">
                <a:solidFill>
                  <a:srgbClr val="1C1C1E"/>
                </a:solidFill>
                <a:latin typeface="SF Pro Text"/>
              </a:rPr>
              <a:t>•  Models/ holds both the NSManagedObject class and the Codable DTO</a:t>
            </a:r>
            <a:endParaRPr sz="1600">
              <a:solidFill>
                <a:srgbClr val="1C1C1E"/>
              </a:solidFill>
              <a:latin typeface="SF Pro Text"/>
            </a:endParaRPr>
          </a:p>
          <a:p>
            <a:pPr algn="l">
              <a:lnSpc>
                <a:spcPct val="125000"/>
              </a:lnSpc>
            </a:pPr>
            <a:r>
              <a:rPr sz="1600">
                <a:solidFill>
                  <a:srgbClr val="1C1C1E"/>
                </a:solidFill>
                <a:latin typeface="SF Pro Text"/>
              </a:rPr>
              <a:t>•  Services/ isolates the JSON-read + Core Data write</a:t>
            </a:r>
            <a:endParaRPr sz="1600">
              <a:solidFill>
                <a:srgbClr val="1C1C1E"/>
              </a:solidFill>
              <a:latin typeface="SF Pro Text"/>
            </a:endParaRPr>
          </a:p>
          <a:p>
            <a:pPr algn="l">
              <a:lnSpc>
                <a:spcPct val="125000"/>
              </a:lnSpc>
            </a:pPr>
            <a:r>
              <a:rPr sz="1600">
                <a:solidFill>
                  <a:srgbClr val="1C1C1E"/>
                </a:solidFill>
                <a:latin typeface="SF Pro Text"/>
              </a:rPr>
              <a:t>•  ViewModels/ owns search text and filter logic</a:t>
            </a:r>
            <a:endParaRPr sz="1600">
              <a:solidFill>
                <a:srgbClr val="1C1C1E"/>
              </a:solidFill>
              <a:latin typeface="SF Pro Text"/>
            </a:endParaRPr>
          </a:p>
          <a:p>
            <a:pPr algn="l">
              <a:lnSpc>
                <a:spcPct val="125000"/>
              </a:lnSpc>
            </a:pPr>
            <a:r>
              <a:rPr sz="1600">
                <a:solidFill>
                  <a:srgbClr val="1C1C1E"/>
                </a:solidFill>
                <a:latin typeface="SF Pro Text"/>
              </a:rPr>
              <a:t>•  Resources/ ships the seed JSON inside the app bundle</a:t>
            </a:r>
            <a:endParaRPr sz="160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989320" y="1691640"/>
            <a:ext cx="5669280" cy="4572000"/>
          </a:xfrm>
          <a:prstGeom prst="roundRect">
            <a:avLst>
              <a:gd name="adj" fmla="val 6000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89320" y="1691640"/>
            <a:ext cx="5669280" cy="4572000"/>
          </a:xfrm>
          <a:prstGeom prst="rect">
            <a:avLst/>
          </a:prstGeom>
          <a:noFill/>
        </p:spPr>
        <p:txBody>
          <a:bodyPr wrap="square" lIns="140000" tIns="100000" rIns="80000">
            <a:spAutoFit/>
          </a:bodyPr>
          <a:lstStyle/>
          <a:p>
            <a:pPr algn="l"/>
            <a:r>
              <a:rPr sz="1100">
                <a:solidFill>
                  <a:srgbClr val="F2F2F7"/>
                </a:solidFill>
                <a:latin typeface="Menlo" panose="020B0609030804020204"/>
              </a:rPr>
              <a:t>SmartFarmerAssistantFinish/</a:t>
            </a:r>
            <a:endParaRPr sz="11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100">
                <a:solidFill>
                  <a:srgbClr val="F2F2F7"/>
                </a:solidFill>
                <a:latin typeface="Menlo" panose="020B0609030804020204"/>
              </a:rPr>
              <a:t>└── PestDisease/</a:t>
            </a:r>
            <a:endParaRPr sz="11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100">
                <a:solidFill>
                  <a:srgbClr val="F2F2F7"/>
                </a:solidFill>
                <a:latin typeface="Menlo" panose="020B0609030804020204"/>
              </a:rPr>
              <a:t>    ├── Models/</a:t>
            </a:r>
            <a:endParaRPr sz="11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100">
                <a:solidFill>
                  <a:srgbClr val="F2F2F7"/>
                </a:solidFill>
                <a:latin typeface="Menlo" panose="020B0609030804020204"/>
              </a:rPr>
              <a:t>    │   ├── Pest+CoreDataClass.swift</a:t>
            </a:r>
            <a:endParaRPr sz="11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100">
                <a:solidFill>
                  <a:srgbClr val="F2F2F7"/>
                </a:solidFill>
                <a:latin typeface="Menlo" panose="020B0609030804020204"/>
              </a:rPr>
              <a:t>    │   ├── Pest+CoreDataProperties.swift</a:t>
            </a:r>
            <a:endParaRPr sz="11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100">
                <a:solidFill>
                  <a:srgbClr val="F2F2F7"/>
                </a:solidFill>
                <a:latin typeface="Menlo" panose="020B0609030804020204"/>
              </a:rPr>
              <a:t>    │   └── PestDTO.swift</a:t>
            </a:r>
            <a:endParaRPr sz="11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100">
                <a:solidFill>
                  <a:srgbClr val="F2F2F7"/>
                </a:solidFill>
                <a:latin typeface="Menlo" panose="020B0609030804020204"/>
              </a:rPr>
              <a:t>    ├── ViewModels/</a:t>
            </a:r>
            <a:endParaRPr sz="11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100">
                <a:solidFill>
                  <a:srgbClr val="F2F2F7"/>
                </a:solidFill>
                <a:latin typeface="Menlo" panose="020B0609030804020204"/>
              </a:rPr>
              <a:t>    │   └── PestGuideViewModel.swift</a:t>
            </a:r>
            <a:endParaRPr sz="11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100">
                <a:solidFill>
                  <a:srgbClr val="F2F2F7"/>
                </a:solidFill>
                <a:latin typeface="Menlo" panose="020B0609030804020204"/>
              </a:rPr>
              <a:t>    ├── Services/</a:t>
            </a:r>
            <a:endParaRPr sz="11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100">
                <a:solidFill>
                  <a:srgbClr val="F2F2F7"/>
                </a:solidFill>
                <a:latin typeface="Menlo" panose="020B0609030804020204"/>
              </a:rPr>
              <a:t>    │   └── PestDataLoader.swift</a:t>
            </a:r>
            <a:endParaRPr sz="11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100">
                <a:solidFill>
                  <a:srgbClr val="F2F2F7"/>
                </a:solidFill>
                <a:latin typeface="Menlo" panose="020B0609030804020204"/>
              </a:rPr>
              <a:t>    ├── Views/</a:t>
            </a:r>
            <a:endParaRPr sz="11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100">
                <a:solidFill>
                  <a:srgbClr val="F2F2F7"/>
                </a:solidFill>
                <a:latin typeface="Menlo" panose="020B0609030804020204"/>
              </a:rPr>
              <a:t>    │   ├── PestGuideTabView.swift</a:t>
            </a:r>
            <a:endParaRPr sz="11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100">
                <a:solidFill>
                  <a:srgbClr val="F2F2F7"/>
                </a:solidFill>
                <a:latin typeface="Menlo" panose="020B0609030804020204"/>
              </a:rPr>
              <a:t>    │   ├── PestRowView.swift</a:t>
            </a:r>
            <a:endParaRPr sz="11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100">
                <a:solidFill>
                  <a:srgbClr val="F2F2F7"/>
                </a:solidFill>
                <a:latin typeface="Menlo" panose="020B0609030804020204"/>
              </a:rPr>
              <a:t>    │   ├── PestDetailView.swift</a:t>
            </a:r>
            <a:endParaRPr sz="11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100">
                <a:solidFill>
                  <a:srgbClr val="F2F2F7"/>
                </a:solidFill>
                <a:latin typeface="Menlo" panose="020B0609030804020204"/>
              </a:rPr>
              <a:t>    │   ├── SearchBar.swift</a:t>
            </a:r>
            <a:endParaRPr sz="11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100">
                <a:solidFill>
                  <a:srgbClr val="F2F2F7"/>
                </a:solidFill>
                <a:latin typeface="Menlo" panose="020B0609030804020204"/>
              </a:rPr>
              <a:t>    │   └── ExpandableSection.swift</a:t>
            </a:r>
            <a:endParaRPr sz="11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100">
                <a:solidFill>
                  <a:srgbClr val="F2F2F7"/>
                </a:solidFill>
                <a:latin typeface="Menlo" panose="020B0609030804020204"/>
              </a:rPr>
              <a:t>    └── Resources/</a:t>
            </a:r>
            <a:endParaRPr sz="11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100">
                <a:solidFill>
                  <a:srgbClr val="F2F2F7"/>
                </a:solidFill>
                <a:latin typeface="Menlo" panose="020B0609030804020204"/>
              </a:rPr>
              <a:t>        └── pests.json</a:t>
            </a:r>
            <a:endParaRPr sz="1100">
              <a:solidFill>
                <a:srgbClr val="F2F2F7"/>
              </a:solidFill>
              <a:latin typeface="Menlo" panose="020B0609030804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SF Pro Text"/>
              </a:rPr>
              <a:t>Week 6 · Pest &amp; Disease Guide · SmartFarmerAssistant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r"/>
            <a:r>
              <a:rPr sz="1000" b="0">
                <a:solidFill>
                  <a:srgbClr val="8E8E93"/>
                </a:solidFill>
                <a:latin typeface="SF Pro Text"/>
              </a:rPr>
              <a:t>4 / 12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</p:spTree>
  </p:cSld>
  <p:clrMapOvr>
    <a:masterClrMapping/>
  </p:clrMapOvr>
  <p:transition spd="med">
    <p:push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2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97280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SF Pro Text"/>
              </a:rPr>
              <a:t>DATA FLOW</a:t>
            </a:r>
            <a:endParaRPr sz="1200" b="1">
              <a:solidFill>
                <a:srgbClr val="0A84FF"/>
              </a:solidFill>
              <a:latin typeface="SF Pro Tex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3000" b="1">
                <a:solidFill>
                  <a:srgbClr val="1C1C1E"/>
                </a:solidFill>
                <a:latin typeface="SF Pro Display"/>
              </a:rPr>
              <a:t>From JSON file to SwiftUI row</a:t>
            </a:r>
            <a:endParaRPr sz="3000" b="1">
              <a:solidFill>
                <a:srgbClr val="1C1C1E"/>
              </a:solidFill>
              <a:latin typeface="SF Pro Display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685800" y="2560320"/>
            <a:ext cx="1907987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8E8E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2788920"/>
            <a:ext cx="1907987" cy="45720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ctr"/>
            <a:r>
              <a:rPr sz="1500" b="1">
                <a:solidFill>
                  <a:srgbClr val="8E8E93"/>
                </a:solidFill>
                <a:latin typeface="SF Pro Display"/>
              </a:rPr>
              <a:t>pests.json</a:t>
            </a:r>
            <a:endParaRPr sz="1500" b="1">
              <a:solidFill>
                <a:srgbClr val="8E8E93"/>
              </a:solidFill>
              <a:latin typeface="SF Pro Display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3337560"/>
            <a:ext cx="1725107" cy="11887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ctr"/>
            <a:r>
              <a:rPr sz="1200" b="0">
                <a:solidFill>
                  <a:srgbClr val="1C1C1E"/>
                </a:solidFill>
                <a:latin typeface="SF Pro Text"/>
              </a:rPr>
              <a:t>in the app
bundle</a:t>
            </a:r>
            <a:endParaRPr sz="12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2612075" y="3456432"/>
            <a:ext cx="283464" cy="219456"/>
          </a:xfrm>
          <a:prstGeom prst="rightArrow">
            <a:avLst/>
          </a:prstGeom>
          <a:solidFill>
            <a:srgbClr val="8E8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913827" y="2560320"/>
            <a:ext cx="1907987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13827" y="2788920"/>
            <a:ext cx="1907987" cy="45720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ctr"/>
            <a:r>
              <a:rPr sz="1500" b="1">
                <a:solidFill>
                  <a:srgbClr val="FF9500"/>
                </a:solidFill>
                <a:latin typeface="SF Pro Display"/>
              </a:rPr>
              <a:t>PestDataLoader</a:t>
            </a:r>
            <a:endParaRPr sz="1500" b="1">
              <a:solidFill>
                <a:srgbClr val="FF9500"/>
              </a:solidFill>
              <a:latin typeface="SF Pro Display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05267" y="3337560"/>
            <a:ext cx="1725107" cy="11887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ctr"/>
            <a:r>
              <a:rPr sz="1200" b="0">
                <a:solidFill>
                  <a:srgbClr val="1C1C1E"/>
                </a:solidFill>
                <a:latin typeface="SF Pro Text"/>
              </a:rPr>
              <a:t>decode JSON
→ Pest rows</a:t>
            </a:r>
            <a:endParaRPr sz="12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13" name="Right Arrow 12"/>
          <p:cNvSpPr/>
          <p:nvPr/>
        </p:nvSpPr>
        <p:spPr>
          <a:xfrm>
            <a:off x="4840102" y="3456432"/>
            <a:ext cx="283464" cy="219456"/>
          </a:xfrm>
          <a:prstGeom prst="rightArrow">
            <a:avLst/>
          </a:prstGeom>
          <a:solidFill>
            <a:srgbClr val="8E8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141854" y="2560320"/>
            <a:ext cx="1907987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A8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41854" y="2788920"/>
            <a:ext cx="1907987" cy="45720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ctr"/>
            <a:r>
              <a:rPr sz="1500" b="1">
                <a:solidFill>
                  <a:srgbClr val="0A84FF"/>
                </a:solidFill>
                <a:latin typeface="SF Pro Display"/>
              </a:rPr>
              <a:t>Core Data</a:t>
            </a:r>
            <a:endParaRPr sz="1500" b="1">
              <a:solidFill>
                <a:srgbClr val="0A84FF"/>
              </a:solidFill>
              <a:latin typeface="SF Pro Display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233294" y="3337560"/>
            <a:ext cx="1725107" cy="11887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ctr"/>
            <a:r>
              <a:rPr sz="1200" b="0">
                <a:solidFill>
                  <a:srgbClr val="1C1C1E"/>
                </a:solidFill>
                <a:latin typeface="SF Pro Text"/>
              </a:rPr>
              <a:t>local
persistent
store</a:t>
            </a:r>
            <a:endParaRPr sz="12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17" name="Right Arrow 16"/>
          <p:cNvSpPr/>
          <p:nvPr/>
        </p:nvSpPr>
        <p:spPr>
          <a:xfrm>
            <a:off x="7068129" y="3456432"/>
            <a:ext cx="283464" cy="219456"/>
          </a:xfrm>
          <a:prstGeom prst="rightArrow">
            <a:avLst/>
          </a:prstGeom>
          <a:solidFill>
            <a:srgbClr val="8E8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369881" y="2560320"/>
            <a:ext cx="1907987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69881" y="2788920"/>
            <a:ext cx="1907987" cy="45720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ctr"/>
            <a:r>
              <a:rPr sz="1500" b="1">
                <a:solidFill>
                  <a:srgbClr val="34C759"/>
                </a:solidFill>
                <a:latin typeface="SF Pro Display"/>
              </a:rPr>
              <a:t>@FetchRequest</a:t>
            </a:r>
            <a:endParaRPr sz="1500" b="1">
              <a:solidFill>
                <a:srgbClr val="34C759"/>
              </a:solidFill>
              <a:latin typeface="SF Pro Display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461321" y="3337560"/>
            <a:ext cx="1725107" cy="11887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ctr"/>
            <a:r>
              <a:rPr sz="1200" b="0">
                <a:solidFill>
                  <a:srgbClr val="1C1C1E"/>
                </a:solidFill>
                <a:latin typeface="SF Pro Text"/>
              </a:rPr>
              <a:t>auto-observes
the Pest table</a:t>
            </a:r>
            <a:endParaRPr sz="12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21" name="Right Arrow 20"/>
          <p:cNvSpPr/>
          <p:nvPr/>
        </p:nvSpPr>
        <p:spPr>
          <a:xfrm>
            <a:off x="9296156" y="3456432"/>
            <a:ext cx="283464" cy="219456"/>
          </a:xfrm>
          <a:prstGeom prst="rightArrow">
            <a:avLst/>
          </a:prstGeom>
          <a:solidFill>
            <a:srgbClr val="8E8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597908" y="2560320"/>
            <a:ext cx="1907987" cy="20116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597908" y="2788920"/>
            <a:ext cx="1907987" cy="45720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ctr"/>
            <a:r>
              <a:rPr sz="1500" b="1">
                <a:solidFill>
                  <a:srgbClr val="34C759"/>
                </a:solidFill>
                <a:latin typeface="SF Pro Display"/>
              </a:rPr>
              <a:t>PestGuideTabView</a:t>
            </a:r>
            <a:endParaRPr sz="1500" b="1">
              <a:solidFill>
                <a:srgbClr val="34C759"/>
              </a:solidFill>
              <a:latin typeface="SF Pro Display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689348" y="3337560"/>
            <a:ext cx="1725107" cy="11887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ctr"/>
            <a:r>
              <a:rPr sz="1200" b="0">
                <a:solidFill>
                  <a:srgbClr val="1C1C1E"/>
                </a:solidFill>
                <a:latin typeface="SF Pro Text"/>
              </a:rPr>
              <a:t>List + Search
+ Detail</a:t>
            </a:r>
            <a:endParaRPr sz="12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85800" y="5029200"/>
            <a:ext cx="10789920" cy="45720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ctr"/>
            <a:r>
              <a:rPr sz="1300" b="1">
                <a:solidFill>
                  <a:srgbClr val="8E8E93"/>
                </a:solidFill>
                <a:latin typeface="SF Pro Text"/>
              </a:rPr>
              <a:t>ONE-TIME on first launch (steps 1→3) · EVERY session after (steps 3→5)</a:t>
            </a:r>
            <a:endParaRPr sz="1300" b="1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SF Pro Text"/>
              </a:rPr>
              <a:t>Week 6 · Pest &amp; Disease Guide · SmartFarmerAssistant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r"/>
            <a:r>
              <a:rPr sz="1000" b="0">
                <a:solidFill>
                  <a:srgbClr val="8E8E93"/>
                </a:solidFill>
                <a:latin typeface="SF Pro Text"/>
              </a:rPr>
              <a:t>5 / 12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2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97280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SF Pro Text"/>
              </a:rPr>
              <a:t>LESSON 6.1</a:t>
            </a:r>
            <a:endParaRPr sz="1200" b="1">
              <a:solidFill>
                <a:srgbClr val="0A84FF"/>
              </a:solidFill>
              <a:latin typeface="SF Pro Tex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3000" b="1">
                <a:solidFill>
                  <a:srgbClr val="1C1C1E"/>
                </a:solidFill>
                <a:latin typeface="SF Pro Display"/>
              </a:rPr>
              <a:t>Core Data — Pest Entity</a:t>
            </a:r>
            <a:endParaRPr sz="3000" b="1">
              <a:solidFill>
                <a:srgbClr val="1C1C1E"/>
              </a:solidFill>
              <a:latin typeface="SF Pro Display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48640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SF Pro Text"/>
              </a:rPr>
              <a:t>ATTRIBUTES</a:t>
            </a:r>
            <a:endParaRPr sz="1200" b="1">
              <a:solidFill>
                <a:srgbClr val="0A84FF"/>
              </a:solidFill>
              <a:latin typeface="SF Pro Text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548640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2121408"/>
            <a:ext cx="173736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Menlo" panose="020B0609030804020204"/>
              </a:rPr>
              <a:t>id</a:t>
            </a:r>
            <a:endParaRPr sz="1200" b="1">
              <a:solidFill>
                <a:srgbClr val="0A84FF"/>
              </a:solidFill>
              <a:latin typeface="Menlo" panose="020B0609030804020204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06040" y="2121408"/>
            <a:ext cx="82296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0">
                <a:solidFill>
                  <a:srgbClr val="8E8E93"/>
                </a:solidFill>
                <a:latin typeface="Menlo" panose="020B0609030804020204"/>
              </a:rPr>
              <a:t>UUID</a:t>
            </a:r>
            <a:endParaRPr sz="1100" b="0">
              <a:solidFill>
                <a:srgbClr val="8E8E93"/>
              </a:solidFill>
              <a:latin typeface="Menlo" panose="020B0609030804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474720" y="2121408"/>
            <a:ext cx="260604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>
                <a:solidFill>
                  <a:srgbClr val="1C1C1E"/>
                </a:solidFill>
                <a:latin typeface="SF Pro Text"/>
              </a:rPr>
              <a:t>Stable identifier — also the row key</a:t>
            </a:r>
            <a:endParaRPr sz="10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85800" y="2624328"/>
            <a:ext cx="548640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2688336"/>
            <a:ext cx="173736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Menlo" panose="020B0609030804020204"/>
              </a:rPr>
              <a:t>name</a:t>
            </a:r>
            <a:endParaRPr sz="1200" b="1">
              <a:solidFill>
                <a:srgbClr val="0A84FF"/>
              </a:solidFill>
              <a:latin typeface="Menlo" panose="020B0609030804020204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2606040" y="2688336"/>
            <a:ext cx="82296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0">
                <a:solidFill>
                  <a:srgbClr val="8E8E93"/>
                </a:solidFill>
                <a:latin typeface="Menlo" panose="020B0609030804020204"/>
              </a:rPr>
              <a:t>String</a:t>
            </a:r>
            <a:endParaRPr sz="1100" b="0">
              <a:solidFill>
                <a:srgbClr val="8E8E93"/>
              </a:solidFill>
              <a:latin typeface="Menlo" panose="020B0609030804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474720" y="2688336"/>
            <a:ext cx="260604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>
                <a:solidFill>
                  <a:srgbClr val="1C1C1E"/>
                </a:solidFill>
                <a:latin typeface="SF Pro Text"/>
              </a:rPr>
              <a:t>Shown in the list + detail title</a:t>
            </a:r>
            <a:endParaRPr sz="10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85800" y="3191256"/>
            <a:ext cx="548640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8680" y="3255264"/>
            <a:ext cx="173736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Menlo" panose="020B0609030804020204"/>
              </a:rPr>
              <a:t>symptoms</a:t>
            </a:r>
            <a:endParaRPr sz="1200" b="1">
              <a:solidFill>
                <a:srgbClr val="0A84FF"/>
              </a:solidFill>
              <a:latin typeface="Menlo" panose="020B0609030804020204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606040" y="3255264"/>
            <a:ext cx="82296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0">
                <a:solidFill>
                  <a:srgbClr val="8E8E93"/>
                </a:solidFill>
                <a:latin typeface="Menlo" panose="020B0609030804020204"/>
              </a:rPr>
              <a:t>String</a:t>
            </a:r>
            <a:endParaRPr sz="1100" b="0">
              <a:solidFill>
                <a:srgbClr val="8E8E93"/>
              </a:solidFill>
              <a:latin typeface="Menlo" panose="020B0609030804020204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474720" y="3255264"/>
            <a:ext cx="260604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>
                <a:solidFill>
                  <a:srgbClr val="1C1C1E"/>
                </a:solidFill>
                <a:latin typeface="SF Pro Text"/>
              </a:rPr>
              <a:t>What the farmer sees on the plant</a:t>
            </a:r>
            <a:endParaRPr sz="10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685800" y="3758184"/>
            <a:ext cx="548640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68680" y="3822192"/>
            <a:ext cx="173736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Menlo" panose="020B0609030804020204"/>
              </a:rPr>
              <a:t>treatment</a:t>
            </a:r>
            <a:endParaRPr sz="1200" b="1">
              <a:solidFill>
                <a:srgbClr val="0A84FF"/>
              </a:solidFill>
              <a:latin typeface="Menlo" panose="020B0609030804020204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2606040" y="3822192"/>
            <a:ext cx="82296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0">
                <a:solidFill>
                  <a:srgbClr val="8E8E93"/>
                </a:solidFill>
                <a:latin typeface="Menlo" panose="020B0609030804020204"/>
              </a:rPr>
              <a:t>String</a:t>
            </a:r>
            <a:endParaRPr sz="1100" b="0">
              <a:solidFill>
                <a:srgbClr val="8E8E93"/>
              </a:solidFill>
              <a:latin typeface="Menlo" panose="020B0609030804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474720" y="3822192"/>
            <a:ext cx="260604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>
                <a:solidFill>
                  <a:srgbClr val="1C1C1E"/>
                </a:solidFill>
                <a:latin typeface="SF Pro Text"/>
              </a:rPr>
              <a:t>What to do once confirmed</a:t>
            </a:r>
            <a:endParaRPr sz="10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685800" y="4325112"/>
            <a:ext cx="548640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68680" y="4389120"/>
            <a:ext cx="173736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Menlo" panose="020B0609030804020204"/>
              </a:rPr>
              <a:t>imageName</a:t>
            </a:r>
            <a:endParaRPr sz="1200" b="1">
              <a:solidFill>
                <a:srgbClr val="0A84FF"/>
              </a:solidFill>
              <a:latin typeface="Menlo" panose="020B0609030804020204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606040" y="4389120"/>
            <a:ext cx="82296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0">
                <a:solidFill>
                  <a:srgbClr val="8E8E93"/>
                </a:solidFill>
                <a:latin typeface="Menlo" panose="020B0609030804020204"/>
              </a:rPr>
              <a:t>String</a:t>
            </a:r>
            <a:endParaRPr sz="1100" b="0">
              <a:solidFill>
                <a:srgbClr val="8E8E93"/>
              </a:solidFill>
              <a:latin typeface="Menlo" panose="020B0609030804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474720" y="4389120"/>
            <a:ext cx="260604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>
                <a:solidFill>
                  <a:srgbClr val="1C1C1E"/>
                </a:solidFill>
                <a:latin typeface="SF Pro Text"/>
              </a:rPr>
              <a:t>Asset-catalog name (optional, SF Symbol fallback)</a:t>
            </a:r>
            <a:endParaRPr sz="10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685800" y="4892040"/>
            <a:ext cx="548640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8680" y="4956048"/>
            <a:ext cx="173736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Menlo" panose="020B0609030804020204"/>
              </a:rPr>
              <a:t>pestType</a:t>
            </a:r>
            <a:endParaRPr sz="1200" b="1">
              <a:solidFill>
                <a:srgbClr val="0A84FF"/>
              </a:solidFill>
              <a:latin typeface="Menlo" panose="020B0609030804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2606040" y="4956048"/>
            <a:ext cx="82296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0">
                <a:solidFill>
                  <a:srgbClr val="8E8E93"/>
                </a:solidFill>
                <a:latin typeface="Menlo" panose="020B0609030804020204"/>
              </a:rPr>
              <a:t>String</a:t>
            </a:r>
            <a:endParaRPr sz="1100" b="0">
              <a:solidFill>
                <a:srgbClr val="8E8E93"/>
              </a:solidFill>
              <a:latin typeface="Menlo" panose="020B060903080402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474720" y="4956048"/>
            <a:ext cx="260604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>
                <a:solidFill>
                  <a:srgbClr val="1C1C1E"/>
                </a:solidFill>
                <a:latin typeface="SF Pro Text"/>
              </a:rPr>
              <a:t>e.g. 'Disease (fungus)', 'Pest (insect)'</a:t>
            </a:r>
            <a:endParaRPr sz="10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685800" y="5458968"/>
            <a:ext cx="548640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68680" y="5522976"/>
            <a:ext cx="173736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Menlo" panose="020B0609030804020204"/>
              </a:rPr>
              <a:t>prevention</a:t>
            </a:r>
            <a:endParaRPr sz="1200" b="1">
              <a:solidFill>
                <a:srgbClr val="0A84FF"/>
              </a:solidFill>
              <a:latin typeface="Menlo" panose="020B0609030804020204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2606040" y="5522976"/>
            <a:ext cx="82296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0">
                <a:solidFill>
                  <a:srgbClr val="8E8E93"/>
                </a:solidFill>
                <a:latin typeface="Menlo" panose="020B0609030804020204"/>
              </a:rPr>
              <a:t>String</a:t>
            </a:r>
            <a:endParaRPr sz="1100" b="0">
              <a:solidFill>
                <a:srgbClr val="8E8E93"/>
              </a:solidFill>
              <a:latin typeface="Menlo" panose="020B0609030804020204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3474720" y="5522976"/>
            <a:ext cx="260604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>
                <a:solidFill>
                  <a:srgbClr val="1C1C1E"/>
                </a:solidFill>
                <a:latin typeface="SF Pro Text"/>
              </a:rPr>
              <a:t>Optional — collapsible section</a:t>
            </a:r>
            <a:endParaRPr sz="10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35" name="Rounded Rectangle 34"/>
          <p:cNvSpPr/>
          <p:nvPr/>
        </p:nvSpPr>
        <p:spPr>
          <a:xfrm>
            <a:off x="6629400" y="1920240"/>
            <a:ext cx="4983480" cy="3200400"/>
          </a:xfrm>
          <a:prstGeom prst="roundRect">
            <a:avLst>
              <a:gd name="adj" fmla="val 6000"/>
            </a:avLst>
          </a:prstGeom>
          <a:solidFill>
            <a:srgbClr val="1C1C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629400" y="1920240"/>
            <a:ext cx="4983480" cy="3200400"/>
          </a:xfrm>
          <a:prstGeom prst="rect">
            <a:avLst/>
          </a:prstGeom>
          <a:noFill/>
        </p:spPr>
        <p:txBody>
          <a:bodyPr wrap="square" lIns="140000" tIns="100000" rIns="80000">
            <a:spAutoFit/>
          </a:bodyPr>
          <a:lstStyle/>
          <a:p>
            <a:pPr algn="l"/>
            <a:r>
              <a:rPr sz="1200">
                <a:solidFill>
                  <a:srgbClr val="F2F2F7"/>
                </a:solidFill>
                <a:latin typeface="Menlo" panose="020B0609030804020204"/>
              </a:rPr>
              <a:t>// PestDisease/Models/Pest+CoreDataProperties.swift</a:t>
            </a:r>
            <a:endParaRPr sz="12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200">
                <a:solidFill>
                  <a:srgbClr val="F2F2F7"/>
                </a:solidFill>
                <a:latin typeface="Menlo" panose="020B0609030804020204"/>
              </a:rPr>
              <a:t>extension Pest {</a:t>
            </a:r>
            <a:endParaRPr sz="12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200">
                <a:solidFill>
                  <a:srgbClr val="F2F2F7"/>
                </a:solidFill>
                <a:latin typeface="Menlo" panose="020B0609030804020204"/>
              </a:rPr>
              <a:t>  @NSManaged public var id: UUID?</a:t>
            </a:r>
            <a:endParaRPr sz="12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200">
                <a:solidFill>
                  <a:srgbClr val="F2F2F7"/>
                </a:solidFill>
                <a:latin typeface="Menlo" panose="020B0609030804020204"/>
              </a:rPr>
              <a:t>  @NSManaged public var name: String?</a:t>
            </a:r>
            <a:endParaRPr sz="12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200">
                <a:solidFill>
                  <a:srgbClr val="F2F2F7"/>
                </a:solidFill>
                <a:latin typeface="Menlo" panose="020B0609030804020204"/>
              </a:rPr>
              <a:t>  @NSManaged public var symptoms: String?</a:t>
            </a:r>
            <a:endParaRPr sz="12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200">
                <a:solidFill>
                  <a:srgbClr val="F2F2F7"/>
                </a:solidFill>
                <a:latin typeface="Menlo" panose="020B0609030804020204"/>
              </a:rPr>
              <a:t>  @NSManaged public var treatment: String?</a:t>
            </a:r>
            <a:endParaRPr sz="12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200">
                <a:solidFill>
                  <a:srgbClr val="F2F2F7"/>
                </a:solidFill>
                <a:latin typeface="Menlo" panose="020B0609030804020204"/>
              </a:rPr>
              <a:t>  @NSManaged public var imageName: String?</a:t>
            </a:r>
            <a:endParaRPr sz="12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200">
                <a:solidFill>
                  <a:srgbClr val="F2F2F7"/>
                </a:solidFill>
                <a:latin typeface="Menlo" panose="020B0609030804020204"/>
              </a:rPr>
              <a:t>  @NSManaged public var pestType: String?</a:t>
            </a:r>
            <a:endParaRPr sz="12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200">
                <a:solidFill>
                  <a:srgbClr val="F2F2F7"/>
                </a:solidFill>
                <a:latin typeface="Menlo" panose="020B0609030804020204"/>
              </a:rPr>
              <a:t>  @NSManaged public var prevention: String?</a:t>
            </a:r>
            <a:endParaRPr sz="12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200">
                <a:solidFill>
                  <a:srgbClr val="F2F2F7"/>
                </a:solidFill>
                <a:latin typeface="Menlo" panose="020B0609030804020204"/>
              </a:rPr>
              <a:t>  @NSManaged public var isFavorite: Bool</a:t>
            </a:r>
            <a:endParaRPr sz="12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200">
                <a:solidFill>
                  <a:srgbClr val="F2F2F7"/>
                </a:solidFill>
                <a:latin typeface="Menlo" panose="020B0609030804020204"/>
              </a:rPr>
              <a:t>}</a:t>
            </a:r>
            <a:endParaRPr sz="12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200">
                <a:solidFill>
                  <a:srgbClr val="F2F2F7"/>
                </a:solidFill>
                <a:latin typeface="Menlo" panose="020B0609030804020204"/>
              </a:rPr>
              <a:t> </a:t>
            </a:r>
            <a:endParaRPr sz="1200">
              <a:solidFill>
                <a:srgbClr val="F2F2F7"/>
              </a:solidFill>
              <a:latin typeface="Menlo" panose="020B0609030804020204"/>
            </a:endParaRPr>
          </a:p>
          <a:p>
            <a:pPr algn="l"/>
            <a:r>
              <a:rPr sz="1200">
                <a:solidFill>
                  <a:srgbClr val="F2F2F7"/>
                </a:solidFill>
                <a:latin typeface="Menlo" panose="020B0609030804020204"/>
              </a:rPr>
              <a:t>extension Pest: Identifiable {}</a:t>
            </a:r>
            <a:endParaRPr sz="1200">
              <a:solidFill>
                <a:srgbClr val="F2F2F7"/>
              </a:solidFill>
              <a:latin typeface="Menlo" panose="020B0609030804020204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629400" y="5257800"/>
            <a:ext cx="4983480" cy="1097280"/>
          </a:xfrm>
          <a:prstGeom prst="roundRect">
            <a:avLst>
              <a:gd name="adj" fmla="val 6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58000" y="5349240"/>
            <a:ext cx="457200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300" b="1">
                <a:solidFill>
                  <a:srgbClr val="FF9500"/>
                </a:solidFill>
                <a:latin typeface="SF Pro Display"/>
              </a:rPr>
              <a:t>⚠️  Codegen: Manual / None</a:t>
            </a:r>
            <a:endParaRPr sz="1300" b="1">
              <a:solidFill>
                <a:srgbClr val="FF9500"/>
              </a:solidFill>
              <a:latin typeface="SF Pro Display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858000" y="5669280"/>
            <a:ext cx="4572000" cy="64008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0">
                <a:solidFill>
                  <a:srgbClr val="1C1C1E"/>
                </a:solidFill>
                <a:latin typeface="SF Pro Text"/>
              </a:rPr>
              <a:t>Set this in the Data Model Inspector — otherwise Xcode auto-generates the class and you'll see duplicate-symbol errors.</a:t>
            </a:r>
            <a:endParaRPr sz="11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SF Pro Text"/>
              </a:rPr>
              <a:t>Week 6 · Pest &amp; Disease Guide · SmartFarmerAssistant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r"/>
            <a:r>
              <a:rPr sz="1000" b="0">
                <a:solidFill>
                  <a:srgbClr val="8E8E93"/>
                </a:solidFill>
                <a:latin typeface="SF Pro Text"/>
              </a:rPr>
              <a:t>6 / 12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2" cy="82296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97280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1">
                <a:solidFill>
                  <a:srgbClr val="FF9500"/>
                </a:solidFill>
                <a:latin typeface="SF Pro Text"/>
              </a:rPr>
              <a:t>LESSON 6.2</a:t>
            </a:r>
            <a:endParaRPr sz="1200" b="1">
              <a:solidFill>
                <a:srgbClr val="FF9500"/>
              </a:solidFill>
              <a:latin typeface="SF Pro Tex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3000" b="1">
                <a:solidFill>
                  <a:srgbClr val="1C1C1E"/>
                </a:solidFill>
                <a:latin typeface="SF Pro Display"/>
              </a:rPr>
              <a:t>JSON preload flow — first launch only</a:t>
            </a:r>
            <a:endParaRPr sz="3000" b="1">
              <a:solidFill>
                <a:srgbClr val="1C1C1E"/>
              </a:solidFill>
              <a:latin typeface="SF Pro Display"/>
            </a:endParaRPr>
          </a:p>
        </p:txBody>
      </p:sp>
      <p:sp>
        <p:nvSpPr>
          <p:cNvPr id="6" name="Rounded Rectangle 5"/>
          <p:cNvSpPr/>
          <p:nvPr/>
        </p:nvSpPr>
        <p:spPr>
          <a:xfrm>
            <a:off x="3535680" y="1691640"/>
            <a:ext cx="4526915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A8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535527" y="1783080"/>
            <a:ext cx="512064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ctr"/>
            <a:r>
              <a:rPr sz="1300" b="1">
                <a:solidFill>
                  <a:srgbClr val="0A84FF"/>
                </a:solidFill>
                <a:latin typeface="Menlo" panose="020B0609030804020204"/>
              </a:rPr>
              <a:t>App launches</a:t>
            </a:r>
            <a:endParaRPr sz="1300" b="1">
              <a:solidFill>
                <a:srgbClr val="0A84FF"/>
              </a:solidFill>
              <a:latin typeface="Menlo" panose="020B0609030804020204"/>
            </a:endParaRPr>
          </a:p>
        </p:txBody>
      </p:sp>
      <p:sp>
        <p:nvSpPr>
          <p:cNvPr id="8" name="Down Arrow 7"/>
          <p:cNvSpPr/>
          <p:nvPr/>
        </p:nvSpPr>
        <p:spPr>
          <a:xfrm>
            <a:off x="6004407" y="2194560"/>
            <a:ext cx="182880" cy="146304"/>
          </a:xfrm>
          <a:prstGeom prst="downArrow">
            <a:avLst/>
          </a:prstGeom>
          <a:solidFill>
            <a:srgbClr val="8E8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3535680" y="2340610"/>
            <a:ext cx="4520565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FF9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35527" y="2432304"/>
            <a:ext cx="512064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ctr"/>
            <a:r>
              <a:rPr sz="1300" b="1">
                <a:solidFill>
                  <a:srgbClr val="FF9500"/>
                </a:solidFill>
                <a:latin typeface="Menlo" panose="020B0609030804020204"/>
              </a:rPr>
              <a:t>preloadIfNeeded(context:)</a:t>
            </a:r>
            <a:endParaRPr sz="1300" b="1">
              <a:solidFill>
                <a:srgbClr val="FF9500"/>
              </a:solidFill>
              <a:latin typeface="Menlo" panose="020B0609030804020204"/>
            </a:endParaRPr>
          </a:p>
        </p:txBody>
      </p:sp>
      <p:sp>
        <p:nvSpPr>
          <p:cNvPr id="11" name="Down Arrow 10"/>
          <p:cNvSpPr/>
          <p:nvPr/>
        </p:nvSpPr>
        <p:spPr>
          <a:xfrm>
            <a:off x="6004407" y="2843784"/>
            <a:ext cx="182880" cy="146304"/>
          </a:xfrm>
          <a:prstGeom prst="downArrow">
            <a:avLst/>
          </a:prstGeom>
          <a:solidFill>
            <a:srgbClr val="8E8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535680" y="2990215"/>
            <a:ext cx="4520565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8E8E9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35527" y="3081528"/>
            <a:ext cx="512064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ctr"/>
            <a:r>
              <a:rPr sz="1300" b="1">
                <a:solidFill>
                  <a:srgbClr val="8E8E93"/>
                </a:solidFill>
                <a:latin typeface="Menlo" panose="020B0609030804020204"/>
              </a:rPr>
              <a:t>kPestsPreloaded == true?  →  RETURN</a:t>
            </a:r>
            <a:endParaRPr sz="1300" b="1">
              <a:solidFill>
                <a:srgbClr val="8E8E93"/>
              </a:solidFill>
              <a:latin typeface="Menlo" panose="020B0609030804020204"/>
            </a:endParaRPr>
          </a:p>
        </p:txBody>
      </p:sp>
      <p:sp>
        <p:nvSpPr>
          <p:cNvPr id="14" name="Down Arrow 13"/>
          <p:cNvSpPr/>
          <p:nvPr/>
        </p:nvSpPr>
        <p:spPr>
          <a:xfrm>
            <a:off x="6004407" y="3493008"/>
            <a:ext cx="182880" cy="146304"/>
          </a:xfrm>
          <a:prstGeom prst="downArrow">
            <a:avLst/>
          </a:prstGeom>
          <a:solidFill>
            <a:srgbClr val="8E8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3535680" y="3639185"/>
            <a:ext cx="4526915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A8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5527" y="3730752"/>
            <a:ext cx="512064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ctr"/>
            <a:r>
              <a:rPr sz="1300" b="1">
                <a:solidFill>
                  <a:srgbClr val="0A84FF"/>
                </a:solidFill>
                <a:latin typeface="Menlo" panose="020B0609030804020204"/>
              </a:rPr>
              <a:t>Bundle.main.url("pests.json")</a:t>
            </a:r>
            <a:endParaRPr sz="1300" b="1">
              <a:solidFill>
                <a:srgbClr val="0A84FF"/>
              </a:solidFill>
              <a:latin typeface="Menlo" panose="020B0609030804020204"/>
            </a:endParaRPr>
          </a:p>
        </p:txBody>
      </p:sp>
      <p:sp>
        <p:nvSpPr>
          <p:cNvPr id="17" name="Down Arrow 16"/>
          <p:cNvSpPr/>
          <p:nvPr/>
        </p:nvSpPr>
        <p:spPr>
          <a:xfrm>
            <a:off x="6004407" y="4142232"/>
            <a:ext cx="182880" cy="146304"/>
          </a:xfrm>
          <a:prstGeom prst="downArrow">
            <a:avLst/>
          </a:prstGeom>
          <a:solidFill>
            <a:srgbClr val="8E8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535680" y="4288790"/>
            <a:ext cx="453263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A8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535527" y="4379976"/>
            <a:ext cx="512064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ctr"/>
            <a:r>
              <a:rPr sz="1300" b="1">
                <a:solidFill>
                  <a:srgbClr val="0A84FF"/>
                </a:solidFill>
                <a:latin typeface="Menlo" panose="020B0609030804020204"/>
              </a:rPr>
              <a:t>JSONDecoder → [PestDTO]</a:t>
            </a:r>
            <a:endParaRPr sz="1300" b="1">
              <a:solidFill>
                <a:srgbClr val="0A84FF"/>
              </a:solidFill>
              <a:latin typeface="Menlo" panose="020B0609030804020204"/>
            </a:endParaRPr>
          </a:p>
        </p:txBody>
      </p:sp>
      <p:sp>
        <p:nvSpPr>
          <p:cNvPr id="20" name="Down Arrow 19"/>
          <p:cNvSpPr/>
          <p:nvPr/>
        </p:nvSpPr>
        <p:spPr>
          <a:xfrm>
            <a:off x="6004407" y="4791456"/>
            <a:ext cx="182880" cy="146304"/>
          </a:xfrm>
          <a:prstGeom prst="downArrow">
            <a:avLst/>
          </a:prstGeom>
          <a:solidFill>
            <a:srgbClr val="8E8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3535680" y="4937760"/>
            <a:ext cx="453263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0A84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535527" y="5029200"/>
            <a:ext cx="512064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ctr"/>
            <a:r>
              <a:rPr sz="1300" b="1">
                <a:solidFill>
                  <a:srgbClr val="0A84FF"/>
                </a:solidFill>
                <a:latin typeface="Menlo" panose="020B0609030804020204"/>
              </a:rPr>
              <a:t>for each DTO → Pest(context:)</a:t>
            </a:r>
            <a:endParaRPr sz="1300" b="1">
              <a:solidFill>
                <a:srgbClr val="0A84FF"/>
              </a:solidFill>
              <a:latin typeface="Menlo" panose="020B0609030804020204"/>
            </a:endParaRPr>
          </a:p>
        </p:txBody>
      </p:sp>
      <p:sp>
        <p:nvSpPr>
          <p:cNvPr id="23" name="Down Arrow 22"/>
          <p:cNvSpPr/>
          <p:nvPr/>
        </p:nvSpPr>
        <p:spPr>
          <a:xfrm>
            <a:off x="6004407" y="5440680"/>
            <a:ext cx="182880" cy="146304"/>
          </a:xfrm>
          <a:prstGeom prst="downArrow">
            <a:avLst/>
          </a:prstGeom>
          <a:solidFill>
            <a:srgbClr val="8E8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3535680" y="5586730"/>
            <a:ext cx="4531995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535527" y="5678424"/>
            <a:ext cx="512064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ctr"/>
            <a:r>
              <a:rPr sz="1300" b="1">
                <a:solidFill>
                  <a:srgbClr val="34C759"/>
                </a:solidFill>
                <a:latin typeface="Menlo" panose="020B0609030804020204"/>
              </a:rPr>
              <a:t>context.save()</a:t>
            </a:r>
            <a:endParaRPr sz="1300" b="1">
              <a:solidFill>
                <a:srgbClr val="34C759"/>
              </a:solidFill>
              <a:latin typeface="Menlo" panose="020B0609030804020204"/>
            </a:endParaRPr>
          </a:p>
        </p:txBody>
      </p:sp>
      <p:sp>
        <p:nvSpPr>
          <p:cNvPr id="26" name="Down Arrow 25"/>
          <p:cNvSpPr/>
          <p:nvPr/>
        </p:nvSpPr>
        <p:spPr>
          <a:xfrm>
            <a:off x="6004407" y="6089904"/>
            <a:ext cx="182880" cy="146304"/>
          </a:xfrm>
          <a:prstGeom prst="downArrow">
            <a:avLst/>
          </a:prstGeom>
          <a:solidFill>
            <a:srgbClr val="8E8E9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3535527" y="6236208"/>
            <a:ext cx="5120640" cy="5029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34C75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3535527" y="6327648"/>
            <a:ext cx="512064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ctr"/>
            <a:r>
              <a:rPr sz="1300" b="1">
                <a:solidFill>
                  <a:srgbClr val="34C759"/>
                </a:solidFill>
                <a:latin typeface="Menlo" panose="020B0609030804020204"/>
              </a:rPr>
              <a:t>UserDefaults.set(true, forKey: kPestsPreloaded)</a:t>
            </a:r>
            <a:endParaRPr sz="1300" b="1">
              <a:solidFill>
                <a:srgbClr val="34C759"/>
              </a:solidFill>
              <a:latin typeface="Menlo" panose="020B0609030804020204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321040" y="1737360"/>
            <a:ext cx="347472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1">
                <a:solidFill>
                  <a:srgbClr val="FF9500"/>
                </a:solidFill>
                <a:latin typeface="SF Pro Text"/>
              </a:rPr>
              <a:t>WHY THIS SHAPE</a:t>
            </a:r>
            <a:endParaRPr sz="1200" b="1">
              <a:solidFill>
                <a:srgbClr val="FF9500"/>
              </a:solidFill>
              <a:latin typeface="SF Pro Text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321040" y="2103120"/>
            <a:ext cx="3566160" cy="3657600"/>
          </a:xfrm>
          <a:prstGeom prst="rect">
            <a:avLst/>
          </a:prstGeom>
          <a:noFill/>
        </p:spPr>
        <p:txBody>
          <a:bodyPr wrap="square" lIns="80000" tIns="40000" rIns="60000">
            <a:spAutoFit/>
          </a:bodyPr>
          <a:lstStyle/>
          <a:p>
            <a:pPr algn="l">
              <a:lnSpc>
                <a:spcPct val="125000"/>
              </a:lnSpc>
            </a:pPr>
            <a:r>
              <a:rPr sz="1300">
                <a:solidFill>
                  <a:srgbClr val="1C1C1E"/>
                </a:solidFill>
                <a:latin typeface="SF Pro Text"/>
              </a:rPr>
              <a:t>•  Called once from App.init()</a:t>
            </a:r>
            <a:endParaRPr sz="1300">
              <a:solidFill>
                <a:srgbClr val="1C1C1E"/>
              </a:solidFill>
              <a:latin typeface="SF Pro Text"/>
            </a:endParaRP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1C1C1E"/>
                </a:solidFill>
                <a:latin typeface="SF Pro Text"/>
              </a:rPr>
              <a:t>•  UserDefaults flag is cheap + synchronous</a:t>
            </a:r>
            <a:endParaRPr sz="1300">
              <a:solidFill>
                <a:srgbClr val="1C1C1E"/>
              </a:solidFill>
              <a:latin typeface="SF Pro Text"/>
            </a:endParaRP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1C1C1E"/>
                </a:solidFill>
                <a:latin typeface="SF Pro Text"/>
              </a:rPr>
              <a:t>•  Flag NOT set on failure — retry next launch</a:t>
            </a:r>
            <a:endParaRPr sz="1300">
              <a:solidFill>
                <a:srgbClr val="1C1C1E"/>
              </a:solidFill>
              <a:latin typeface="SF Pro Text"/>
            </a:endParaRP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1C1C1E"/>
                </a:solidFill>
                <a:latin typeface="SF Pro Text"/>
              </a:rPr>
              <a:t>•  Static enum — no accidental double-load</a:t>
            </a:r>
            <a:endParaRPr sz="1300">
              <a:solidFill>
                <a:srgbClr val="1C1C1E"/>
              </a:solidFill>
              <a:latin typeface="SF Pro Text"/>
            </a:endParaRPr>
          </a:p>
          <a:p>
            <a:pPr algn="l">
              <a:lnSpc>
                <a:spcPct val="125000"/>
              </a:lnSpc>
            </a:pPr>
            <a:r>
              <a:rPr sz="1300">
                <a:solidFill>
                  <a:srgbClr val="1C1C1E"/>
                </a:solidFill>
                <a:latin typeface="SF Pro Text"/>
              </a:rPr>
              <a:t>•  DTO decoupled from Core Data schema</a:t>
            </a:r>
            <a:endParaRPr sz="130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02920" y="6235700"/>
            <a:ext cx="2590165" cy="6426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no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SF Pro Text"/>
              </a:rPr>
              <a:t>Week 6 · Pest &amp; Disease Guide · SmartFarmerAssistant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r"/>
            <a:r>
              <a:rPr sz="1000" b="0">
                <a:solidFill>
                  <a:srgbClr val="8E8E93"/>
                </a:solidFill>
                <a:latin typeface="SF Pro Text"/>
              </a:rPr>
              <a:t>7 / 12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2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97280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SF Pro Text"/>
              </a:rPr>
              <a:t>LESSON 6.3</a:t>
            </a:r>
            <a:endParaRPr sz="1200" b="1">
              <a:solidFill>
                <a:srgbClr val="0A84FF"/>
              </a:solidFill>
              <a:latin typeface="SF Pro Tex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3000" b="1">
                <a:solidFill>
                  <a:srgbClr val="1C1C1E"/>
                </a:solidFill>
                <a:latin typeface="SF Pro Display"/>
              </a:rPr>
              <a:t>Custom search bar — iOS 13+</a:t>
            </a:r>
            <a:endParaRPr sz="3000" b="1">
              <a:solidFill>
                <a:srgbClr val="1C1C1E"/>
              </a:solidFill>
              <a:latin typeface="SF Pro Display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5029200" cy="4389120"/>
          </a:xfrm>
          <a:prstGeom prst="rect">
            <a:avLst/>
          </a:prstGeom>
          <a:noFill/>
        </p:spPr>
        <p:txBody>
          <a:bodyPr wrap="square" lIns="80000" tIns="40000" rIns="6000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C1C1E"/>
                </a:solidFill>
                <a:latin typeface="SF Pro Text"/>
              </a:rPr>
              <a:t>•  .searchable is iOS 15+ — we build our own</a:t>
            </a:r>
            <a:endParaRPr sz="1500">
              <a:solidFill>
                <a:srgbClr val="1C1C1E"/>
              </a:solidFill>
              <a:latin typeface="SF Pro Text"/>
            </a:endParaRP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1C1C1E"/>
                </a:solidFill>
                <a:latin typeface="SF Pro Text"/>
              </a:rPr>
              <a:t>•  TextField in a rounded systemGray6 container</a:t>
            </a:r>
            <a:endParaRPr sz="1500">
              <a:solidFill>
                <a:srgbClr val="1C1C1E"/>
              </a:solidFill>
              <a:latin typeface="SF Pro Text"/>
            </a:endParaRP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1C1C1E"/>
                </a:solidFill>
                <a:latin typeface="SF Pro Text"/>
              </a:rPr>
              <a:t>•  Magnifying-glass leading icon + xmark.circle.fill clear button</a:t>
            </a:r>
            <a:endParaRPr sz="1500">
              <a:solidFill>
                <a:srgbClr val="1C1C1E"/>
              </a:solidFill>
              <a:latin typeface="SF Pro Text"/>
            </a:endParaRP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1C1C1E"/>
                </a:solidFill>
                <a:latin typeface="SF Pro Text"/>
              </a:rPr>
              <a:t>•  isEditing (@State Bool) driven by onEditingChanged</a:t>
            </a:r>
            <a:endParaRPr sz="1500">
              <a:solidFill>
                <a:srgbClr val="1C1C1E"/>
              </a:solidFill>
              <a:latin typeface="SF Pro Text"/>
            </a:endParaRP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1C1C1E"/>
                </a:solidFill>
                <a:latin typeface="SF Pro Text"/>
              </a:rPr>
              <a:t>•  Cancel button appears only while field has focus</a:t>
            </a:r>
            <a:endParaRPr sz="1500">
              <a:solidFill>
                <a:srgbClr val="1C1C1E"/>
              </a:solidFill>
              <a:latin typeface="SF Pro Text"/>
            </a:endParaRP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1C1C1E"/>
                </a:solidFill>
                <a:latin typeface="SF Pro Text"/>
              </a:rPr>
              <a:t>•  Filtering lives in the ViewModel — searchable fields: name, symptoms, treatment, type</a:t>
            </a:r>
            <a:endParaRPr sz="150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675120" y="1691640"/>
            <a:ext cx="49377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6903720" y="1965960"/>
            <a:ext cx="3657600" cy="411480"/>
          </a:xfrm>
          <a:prstGeom prst="roundRect">
            <a:avLst>
              <a:gd name="adj" fmla="val 50000"/>
            </a:avLst>
          </a:prstGeom>
          <a:solidFill>
            <a:srgbClr val="E5E5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0" y="2029968"/>
            <a:ext cx="347472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0">
                <a:solidFill>
                  <a:srgbClr val="1C1C1E"/>
                </a:solidFill>
                <a:latin typeface="SF Pro Text"/>
              </a:rPr>
              <a:t>🔍  rice blast</a:t>
            </a:r>
            <a:endParaRPr sz="12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0607040" y="2029968"/>
            <a:ext cx="91440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SF Pro Text"/>
              </a:rPr>
              <a:t>បោះបង់</a:t>
            </a:r>
            <a:endParaRPr sz="1200" b="1">
              <a:solidFill>
                <a:srgbClr val="0A84FF"/>
              </a:solidFill>
              <a:latin typeface="SF Pro Tex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040880" y="2606040"/>
            <a:ext cx="420624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400" b="1">
                <a:solidFill>
                  <a:srgbClr val="1C1C1E"/>
                </a:solidFill>
                <a:latin typeface="SF Pro Display"/>
              </a:rPr>
              <a:t>Rice blast</a:t>
            </a:r>
            <a:endParaRPr sz="1400" b="1">
              <a:solidFill>
                <a:srgbClr val="1C1C1E"/>
              </a:solidFill>
              <a:latin typeface="SF Pro Display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040880" y="2898648"/>
            <a:ext cx="420624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0">
                <a:solidFill>
                  <a:srgbClr val="8E8E93"/>
                </a:solidFill>
                <a:latin typeface="SF Pro Text"/>
              </a:rPr>
              <a:t>Disease (fungus)</a:t>
            </a:r>
            <a:endParaRPr sz="1100" b="0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040880" y="3383280"/>
            <a:ext cx="420624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400" b="1">
                <a:solidFill>
                  <a:srgbClr val="1C1C1E"/>
                </a:solidFill>
                <a:latin typeface="SF Pro Display"/>
              </a:rPr>
              <a:t>Brown planthopper</a:t>
            </a:r>
            <a:endParaRPr sz="1400" b="1">
              <a:solidFill>
                <a:srgbClr val="1C1C1E"/>
              </a:solidFill>
              <a:latin typeface="SF Pro Display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040880" y="3675888"/>
            <a:ext cx="420624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0">
                <a:solidFill>
                  <a:srgbClr val="8E8E93"/>
                </a:solidFill>
                <a:latin typeface="SF Pro Text"/>
              </a:rPr>
              <a:t>Pest (insect)</a:t>
            </a:r>
            <a:endParaRPr sz="1100" b="0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40880" y="4160520"/>
            <a:ext cx="420624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400" b="1">
                <a:solidFill>
                  <a:srgbClr val="1C1C1E"/>
                </a:solidFill>
                <a:latin typeface="SF Pro Display"/>
              </a:rPr>
              <a:t>Cassava mosaic</a:t>
            </a:r>
            <a:endParaRPr sz="1400" b="1">
              <a:solidFill>
                <a:srgbClr val="1C1C1E"/>
              </a:solidFill>
              <a:latin typeface="SF Pro Display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7040880" y="4453128"/>
            <a:ext cx="420624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0">
                <a:solidFill>
                  <a:srgbClr val="8E8E93"/>
                </a:solidFill>
                <a:latin typeface="SF Pro Text"/>
              </a:rPr>
              <a:t>Disease (virus)</a:t>
            </a:r>
            <a:endParaRPr sz="1100" b="0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040880" y="4937759"/>
            <a:ext cx="420624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400" b="1">
                <a:solidFill>
                  <a:srgbClr val="1C1C1E"/>
                </a:solidFill>
                <a:latin typeface="SF Pro Display"/>
              </a:rPr>
              <a:t>Fall armyworm</a:t>
            </a:r>
            <a:endParaRPr sz="1400" b="1">
              <a:solidFill>
                <a:srgbClr val="1C1C1E"/>
              </a:solidFill>
              <a:latin typeface="SF Pro Display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7040880" y="5230368"/>
            <a:ext cx="420624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0">
                <a:solidFill>
                  <a:srgbClr val="8E8E93"/>
                </a:solidFill>
                <a:latin typeface="SF Pro Text"/>
              </a:rPr>
              <a:t>Pest (caterpillar)</a:t>
            </a:r>
            <a:endParaRPr sz="1100" b="0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SF Pro Text"/>
              </a:rPr>
              <a:t>Week 6 · Pest &amp; Disease Guide · SmartFarmerAssistant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r"/>
            <a:r>
              <a:rPr sz="1000" b="0">
                <a:solidFill>
                  <a:srgbClr val="8E8E93"/>
                </a:solidFill>
                <a:latin typeface="SF Pro Text"/>
              </a:rPr>
              <a:t>8 / 12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2" cy="82296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97280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1">
                <a:solidFill>
                  <a:srgbClr val="34C759"/>
                </a:solidFill>
                <a:latin typeface="SF Pro Text"/>
              </a:rPr>
              <a:t>LESSON 6.4</a:t>
            </a:r>
            <a:endParaRPr sz="1200" b="1">
              <a:solidFill>
                <a:srgbClr val="34C759"/>
              </a:solidFill>
              <a:latin typeface="SF Pro Tex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3000" b="1">
                <a:solidFill>
                  <a:srgbClr val="1C1C1E"/>
                </a:solidFill>
                <a:latin typeface="SF Pro Display"/>
              </a:rPr>
              <a:t>Expandable sections with @State</a:t>
            </a:r>
            <a:endParaRPr sz="3000" b="1">
              <a:solidFill>
                <a:srgbClr val="1C1C1E"/>
              </a:solidFill>
              <a:latin typeface="SF Pro Display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1737360"/>
            <a:ext cx="5029200" cy="4389120"/>
          </a:xfrm>
          <a:prstGeom prst="rect">
            <a:avLst/>
          </a:prstGeom>
          <a:noFill/>
        </p:spPr>
        <p:txBody>
          <a:bodyPr wrap="square" lIns="80000" tIns="40000" rIns="60000">
            <a:spAutoFit/>
          </a:bodyPr>
          <a:lstStyle/>
          <a:p>
            <a:pPr algn="l">
              <a:lnSpc>
                <a:spcPct val="125000"/>
              </a:lnSpc>
            </a:pPr>
            <a:r>
              <a:rPr sz="1500">
                <a:solidFill>
                  <a:srgbClr val="1C1C1E"/>
                </a:solidFill>
                <a:latin typeface="SF Pro Text"/>
              </a:rPr>
              <a:t>•  One generic struct — ExpandableSection&lt;Content: View&gt;</a:t>
            </a:r>
            <a:endParaRPr sz="1500">
              <a:solidFill>
                <a:srgbClr val="1C1C1E"/>
              </a:solidFill>
              <a:latin typeface="SF Pro Text"/>
            </a:endParaRP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1C1C1E"/>
                </a:solidFill>
                <a:latin typeface="SF Pro Text"/>
              </a:rPr>
              <a:t>•  Each section owns its own @State isExpanded</a:t>
            </a:r>
            <a:endParaRPr sz="1500">
              <a:solidFill>
                <a:srgbClr val="1C1C1E"/>
              </a:solidFill>
              <a:latin typeface="SF Pro Text"/>
            </a:endParaRP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1C1C1E"/>
                </a:solidFill>
                <a:latin typeface="SF Pro Text"/>
              </a:rPr>
              <a:t>•  Opening Treatment does NOT close Symptoms</a:t>
            </a:r>
            <a:endParaRPr sz="1500">
              <a:solidFill>
                <a:srgbClr val="1C1C1E"/>
              </a:solidFill>
              <a:latin typeface="SF Pro Text"/>
            </a:endParaRP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1C1C1E"/>
                </a:solidFill>
                <a:latin typeface="SF Pro Text"/>
              </a:rPr>
              <a:t>•  Chevron rotates 90° with .rotationEffect — no extra icons</a:t>
            </a:r>
            <a:endParaRPr sz="1500">
              <a:solidFill>
                <a:srgbClr val="1C1C1E"/>
              </a:solidFill>
              <a:latin typeface="SF Pro Text"/>
            </a:endParaRP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1C1C1E"/>
                </a:solidFill>
                <a:latin typeface="SF Pro Text"/>
              </a:rPr>
              <a:t>•  Content is a @ViewBuilder closure — pass anything</a:t>
            </a:r>
            <a:endParaRPr sz="1500">
              <a:solidFill>
                <a:srgbClr val="1C1C1E"/>
              </a:solidFill>
              <a:latin typeface="SF Pro Text"/>
            </a:endParaRPr>
          </a:p>
          <a:p>
            <a:pPr algn="l">
              <a:lnSpc>
                <a:spcPct val="125000"/>
              </a:lnSpc>
            </a:pPr>
            <a:r>
              <a:rPr sz="1500">
                <a:solidFill>
                  <a:srgbClr val="1C1C1E"/>
                </a:solidFill>
                <a:latin typeface="SF Pro Text"/>
              </a:rPr>
              <a:t>•  iOS 13+ compatible — no DisclosureGroup required</a:t>
            </a:r>
            <a:endParaRPr sz="150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675120" y="1691640"/>
            <a:ext cx="4937760" cy="45720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49440" y="1874520"/>
            <a:ext cx="457200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800" b="1">
                <a:solidFill>
                  <a:srgbClr val="1C1C1E"/>
                </a:solidFill>
                <a:latin typeface="SF Pro Display"/>
              </a:rPr>
              <a:t>Rice blast</a:t>
            </a:r>
            <a:endParaRPr sz="1800" b="1">
              <a:solidFill>
                <a:srgbClr val="1C1C1E"/>
              </a:solidFill>
              <a:latin typeface="SF Pro Display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949440" y="2194560"/>
            <a:ext cx="457200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0">
                <a:solidFill>
                  <a:srgbClr val="8E8E93"/>
                </a:solidFill>
                <a:latin typeface="SF Pro Text"/>
              </a:rPr>
              <a:t>Disease (fungus)</a:t>
            </a:r>
            <a:endParaRPr sz="1200" b="0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6949440" y="2606040"/>
            <a:ext cx="457200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500" b="1">
                <a:solidFill>
                  <a:srgbClr val="34C759"/>
                </a:solidFill>
                <a:latin typeface="SF Pro Display"/>
              </a:rPr>
              <a:t>▾  Symptoms</a:t>
            </a:r>
            <a:endParaRPr sz="1500" b="1">
              <a:solidFill>
                <a:srgbClr val="34C759"/>
              </a:solidFill>
              <a:latin typeface="SF Pro Display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178040" y="2990088"/>
            <a:ext cx="4297680" cy="64008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0">
                <a:solidFill>
                  <a:srgbClr val="1C1C1E"/>
                </a:solidFill>
                <a:latin typeface="SF Pro Text"/>
              </a:rPr>
              <a:t>Diamond-shaped brown spots with gray centers …</a:t>
            </a:r>
            <a:endParaRPr sz="11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949440" y="3675887"/>
            <a:ext cx="4572000" cy="10972"/>
          </a:xfrm>
          <a:prstGeom prst="rect">
            <a:avLst/>
          </a:prstGeom>
          <a:solidFill>
            <a:srgbClr val="D1D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949440" y="3840479"/>
            <a:ext cx="457200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500" b="1">
                <a:solidFill>
                  <a:srgbClr val="34C759"/>
                </a:solidFill>
                <a:latin typeface="SF Pro Display"/>
              </a:rPr>
              <a:t>▾  Treatment</a:t>
            </a:r>
            <a:endParaRPr sz="1500" b="1">
              <a:solidFill>
                <a:srgbClr val="34C759"/>
              </a:solidFill>
              <a:latin typeface="SF Pro Display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78040" y="4224527"/>
            <a:ext cx="4297680" cy="64008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0">
                <a:solidFill>
                  <a:srgbClr val="1C1C1E"/>
                </a:solidFill>
                <a:latin typeface="SF Pro Text"/>
              </a:rPr>
              <a:t>Apply fungicides labeled for rice blast …</a:t>
            </a:r>
            <a:endParaRPr sz="11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949440" y="4910327"/>
            <a:ext cx="4572000" cy="10972"/>
          </a:xfrm>
          <a:prstGeom prst="rect">
            <a:avLst/>
          </a:prstGeom>
          <a:solidFill>
            <a:srgbClr val="D1D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49440" y="5074919"/>
            <a:ext cx="457200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500" b="1">
                <a:solidFill>
                  <a:srgbClr val="34C759"/>
                </a:solidFill>
                <a:latin typeface="SF Pro Display"/>
              </a:rPr>
              <a:t>▸  Prevention</a:t>
            </a:r>
            <a:endParaRPr sz="1500" b="1">
              <a:solidFill>
                <a:srgbClr val="34C759"/>
              </a:solidFill>
              <a:latin typeface="SF Pro Display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6949440" y="5458967"/>
            <a:ext cx="4572000" cy="10972"/>
          </a:xfrm>
          <a:prstGeom prst="rect">
            <a:avLst/>
          </a:prstGeom>
          <a:solidFill>
            <a:srgbClr val="D1D1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SF Pro Text"/>
              </a:rPr>
              <a:t>Week 6 · Pest &amp; Disease Guide · SmartFarmerAssistant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r"/>
            <a:r>
              <a:rPr sz="1000" b="0">
                <a:solidFill>
                  <a:srgbClr val="8E8E93"/>
                </a:solidFill>
                <a:latin typeface="SF Pro Text"/>
              </a:rPr>
              <a:t>9 / 12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2" cy="822960"/>
          </a:xfrm>
          <a:prstGeom prst="rect">
            <a:avLst/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97280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1">
                <a:solidFill>
                  <a:srgbClr val="FF9500"/>
                </a:solidFill>
                <a:latin typeface="SF Pro Text"/>
              </a:rPr>
              <a:t>CONCEPT</a:t>
            </a:r>
            <a:endParaRPr sz="1200" b="1">
              <a:solidFill>
                <a:srgbClr val="FF9500"/>
              </a:solidFill>
              <a:latin typeface="SF Pro Tex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3000" b="1">
                <a:solidFill>
                  <a:srgbClr val="1C1C1E"/>
                </a:solidFill>
                <a:latin typeface="SF Pro Display"/>
              </a:rPr>
              <a:t>Offline-first — what it really means</a:t>
            </a:r>
            <a:endParaRPr sz="3000" b="1">
              <a:solidFill>
                <a:srgbClr val="1C1C1E"/>
              </a:solidFill>
              <a:latin typeface="SF Pro Display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530352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1">
                <a:solidFill>
                  <a:srgbClr val="D03030"/>
                </a:solidFill>
                <a:latin typeface="SF Pro Text"/>
              </a:rPr>
              <a:t>❌ NETWORK-FIRST</a:t>
            </a:r>
            <a:endParaRPr sz="1200" b="1">
              <a:solidFill>
                <a:srgbClr val="D03030"/>
              </a:solidFill>
              <a:latin typeface="SF Pro Text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400800" y="1691640"/>
            <a:ext cx="530352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1">
                <a:solidFill>
                  <a:srgbClr val="34C759"/>
                </a:solidFill>
                <a:latin typeface="SF Pro Text"/>
              </a:rPr>
              <a:t>✅ OFFLINE-FIRST</a:t>
            </a:r>
            <a:endParaRPr sz="1200" b="1">
              <a:solidFill>
                <a:srgbClr val="34C759"/>
              </a:solidFill>
              <a:latin typeface="SF Pro Text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2103120"/>
            <a:ext cx="137160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300" b="1">
                <a:solidFill>
                  <a:srgbClr val="1C1C1E"/>
                </a:solidFill>
                <a:latin typeface="SF Pro Text"/>
              </a:rPr>
              <a:t>First launch</a:t>
            </a:r>
            <a:endParaRPr sz="1300" b="1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148840" y="2057400"/>
            <a:ext cx="4114800" cy="822960"/>
          </a:xfrm>
          <a:prstGeom prst="roundRect">
            <a:avLst>
              <a:gd name="adj" fmla="val 6000"/>
            </a:avLst>
          </a:prstGeom>
          <a:solidFill>
            <a:srgbClr val="FF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331720" y="2176272"/>
            <a:ext cx="3840480" cy="7315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0">
                <a:solidFill>
                  <a:srgbClr val="1C1C1E"/>
                </a:solidFill>
                <a:latin typeface="SF Pro Text"/>
              </a:rPr>
              <a:t>Spinner while pulling JSON from the server</a:t>
            </a:r>
            <a:endParaRPr sz="12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400800" y="2057400"/>
            <a:ext cx="5120640" cy="822960"/>
          </a:xfrm>
          <a:prstGeom prst="roundRect">
            <a:avLst>
              <a:gd name="adj" fmla="val 6000"/>
            </a:avLst>
          </a:prstGeom>
          <a:solidFill>
            <a:srgbClr val="E8F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176272"/>
            <a:ext cx="4846320" cy="7315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0">
                <a:solidFill>
                  <a:srgbClr val="1C1C1E"/>
                </a:solidFill>
                <a:latin typeface="SF Pro Text"/>
              </a:rPr>
              <a:t>Read bundled pests.json — zero latency</a:t>
            </a:r>
            <a:endParaRPr sz="12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5800" y="3108960"/>
            <a:ext cx="137160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300" b="1">
                <a:solidFill>
                  <a:srgbClr val="1C1C1E"/>
                </a:solidFill>
                <a:latin typeface="SF Pro Text"/>
              </a:rPr>
              <a:t>Updates</a:t>
            </a:r>
            <a:endParaRPr sz="1300" b="1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14" name="Rounded Rectangle 13"/>
          <p:cNvSpPr/>
          <p:nvPr/>
        </p:nvSpPr>
        <p:spPr>
          <a:xfrm>
            <a:off x="2148840" y="3063240"/>
            <a:ext cx="4114800" cy="822960"/>
          </a:xfrm>
          <a:prstGeom prst="roundRect">
            <a:avLst>
              <a:gd name="adj" fmla="val 6000"/>
            </a:avLst>
          </a:prstGeom>
          <a:solidFill>
            <a:srgbClr val="FF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331720" y="3182112"/>
            <a:ext cx="3840480" cy="7315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0">
                <a:solidFill>
                  <a:srgbClr val="1C1C1E"/>
                </a:solidFill>
                <a:latin typeface="SF Pro Text"/>
              </a:rPr>
              <a:t>Poll an API on every open</a:t>
            </a:r>
            <a:endParaRPr sz="12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6400800" y="3063240"/>
            <a:ext cx="5120640" cy="822960"/>
          </a:xfrm>
          <a:prstGeom prst="roundRect">
            <a:avLst>
              <a:gd name="adj" fmla="val 6000"/>
            </a:avLst>
          </a:prstGeom>
          <a:solidFill>
            <a:srgbClr val="E8F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80" y="3182112"/>
            <a:ext cx="4846320" cy="7315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0">
                <a:solidFill>
                  <a:srgbClr val="1C1C1E"/>
                </a:solidFill>
                <a:latin typeface="SF Pro Text"/>
              </a:rPr>
              <a:t>Ship a new pests.json with the next app release</a:t>
            </a:r>
            <a:endParaRPr sz="12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5800" y="4114800"/>
            <a:ext cx="137160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300" b="1">
                <a:solidFill>
                  <a:srgbClr val="1C1C1E"/>
                </a:solidFill>
                <a:latin typeface="SF Pro Text"/>
              </a:rPr>
              <a:t>Airplane mode</a:t>
            </a:r>
            <a:endParaRPr sz="1300" b="1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2148840" y="4069080"/>
            <a:ext cx="4114800" cy="822960"/>
          </a:xfrm>
          <a:prstGeom prst="roundRect">
            <a:avLst>
              <a:gd name="adj" fmla="val 6000"/>
            </a:avLst>
          </a:prstGeom>
          <a:solidFill>
            <a:srgbClr val="FF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2331720" y="4187952"/>
            <a:ext cx="3840480" cy="7315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0">
                <a:solidFill>
                  <a:srgbClr val="1C1C1E"/>
                </a:solidFill>
                <a:latin typeface="SF Pro Text"/>
              </a:rPr>
              <a:t>Blocked screen — 'no connection'</a:t>
            </a:r>
            <a:endParaRPr sz="12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21" name="Rounded Rectangle 20"/>
          <p:cNvSpPr/>
          <p:nvPr/>
        </p:nvSpPr>
        <p:spPr>
          <a:xfrm>
            <a:off x="6400800" y="4069080"/>
            <a:ext cx="5120640" cy="822960"/>
          </a:xfrm>
          <a:prstGeom prst="roundRect">
            <a:avLst>
              <a:gd name="adj" fmla="val 6000"/>
            </a:avLst>
          </a:prstGeom>
          <a:solidFill>
            <a:srgbClr val="E8F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583680" y="4187952"/>
            <a:ext cx="4846320" cy="7315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0">
                <a:solidFill>
                  <a:srgbClr val="1C1C1E"/>
                </a:solidFill>
                <a:latin typeface="SF Pro Text"/>
              </a:rPr>
              <a:t>Full app works exactly the same</a:t>
            </a:r>
            <a:endParaRPr sz="12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85800" y="5120640"/>
            <a:ext cx="137160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300" b="1">
                <a:solidFill>
                  <a:srgbClr val="1C1C1E"/>
                </a:solidFill>
                <a:latin typeface="SF Pro Text"/>
              </a:rPr>
              <a:t>Privacy</a:t>
            </a:r>
            <a:endParaRPr sz="1300" b="1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2148840" y="5074920"/>
            <a:ext cx="4114800" cy="822960"/>
          </a:xfrm>
          <a:prstGeom prst="roundRect">
            <a:avLst>
              <a:gd name="adj" fmla="val 6000"/>
            </a:avLst>
          </a:prstGeom>
          <a:solidFill>
            <a:srgbClr val="FF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31720" y="5193792"/>
            <a:ext cx="3840480" cy="7315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0">
                <a:solidFill>
                  <a:srgbClr val="1C1C1E"/>
                </a:solidFill>
                <a:latin typeface="SF Pro Text"/>
              </a:rPr>
              <a:t>Every read leaks to a server</a:t>
            </a:r>
            <a:endParaRPr sz="12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6400800" y="5074920"/>
            <a:ext cx="5120640" cy="822960"/>
          </a:xfrm>
          <a:prstGeom prst="roundRect">
            <a:avLst>
              <a:gd name="adj" fmla="val 6000"/>
            </a:avLst>
          </a:prstGeom>
          <a:solidFill>
            <a:srgbClr val="E8F7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0" y="5193792"/>
            <a:ext cx="4846320" cy="7315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0">
                <a:solidFill>
                  <a:srgbClr val="1C1C1E"/>
                </a:solidFill>
                <a:latin typeface="SF Pro Text"/>
              </a:rPr>
              <a:t>No network traffic at all</a:t>
            </a:r>
            <a:endParaRPr sz="12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28" name="Rounded Rectangle 27"/>
          <p:cNvSpPr/>
          <p:nvPr/>
        </p:nvSpPr>
        <p:spPr>
          <a:xfrm>
            <a:off x="685800" y="5989320"/>
            <a:ext cx="10789920" cy="411480"/>
          </a:xfrm>
          <a:prstGeom prst="roundRect">
            <a:avLst>
              <a:gd name="adj" fmla="val 6000"/>
            </a:avLst>
          </a:prstGeom>
          <a:solidFill>
            <a:srgbClr val="FFF4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68680" y="6035040"/>
            <a:ext cx="1042416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300" b="1">
                <a:solidFill>
                  <a:srgbClr val="FF9500"/>
                </a:solidFill>
                <a:latin typeface="SF Pro Text"/>
              </a:rPr>
              <a:t>Rule of thumb: if the user has to wait for the network on first tap, it isn't offline-first.</a:t>
            </a:r>
            <a:endParaRPr sz="1300" b="1">
              <a:solidFill>
                <a:srgbClr val="FF9500"/>
              </a:solidFill>
              <a:latin typeface="SF Pro Text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SF Pro Text"/>
              </a:rPr>
              <a:t>Week 6 · Pest &amp; Disease Guide · SmartFarmerAssistant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r"/>
            <a:r>
              <a:rPr sz="1000" b="0">
                <a:solidFill>
                  <a:srgbClr val="8E8E93"/>
                </a:solidFill>
                <a:latin typeface="SF Pro Text"/>
              </a:rPr>
              <a:t>10 / 12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</p:spTree>
  </p:cSld>
  <p:clrMapOvr>
    <a:masterClrMapping/>
  </p:clrMapOvr>
  <p:transition spd="med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502920" y="502920"/>
            <a:ext cx="73152" cy="822960"/>
          </a:xfrm>
          <a:prstGeom prst="rect">
            <a:avLst/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411480"/>
            <a:ext cx="10972800" cy="32004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SF Pro Text"/>
              </a:rPr>
              <a:t>DESIGN SYSTEM</a:t>
            </a:r>
            <a:endParaRPr sz="1200" b="1">
              <a:solidFill>
                <a:srgbClr val="0A84FF"/>
              </a:solidFill>
              <a:latin typeface="SF Pro Tex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685800"/>
            <a:ext cx="10972800" cy="68580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3000" b="1">
                <a:solidFill>
                  <a:srgbClr val="1C1C1E"/>
                </a:solidFill>
                <a:latin typeface="SF Pro Display"/>
              </a:rPr>
              <a:t>UI / UX — Apple-style recipe</a:t>
            </a:r>
            <a:endParaRPr sz="3000" b="1">
              <a:solidFill>
                <a:srgbClr val="1C1C1E"/>
              </a:solidFill>
              <a:latin typeface="SF Pro Display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5800" y="1691640"/>
            <a:ext cx="457200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SF Pro Text"/>
              </a:rPr>
              <a:t>PALETTE</a:t>
            </a:r>
            <a:endParaRPr sz="1200" b="1">
              <a:solidFill>
                <a:srgbClr val="0A84FF"/>
              </a:solidFill>
              <a:latin typeface="SF Pro Text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2057400"/>
            <a:ext cx="2011680" cy="594360"/>
          </a:xfrm>
          <a:prstGeom prst="roundRect">
            <a:avLst>
              <a:gd name="adj" fmla="val 12000"/>
            </a:avLst>
          </a:prstGeom>
          <a:solidFill>
            <a:srgbClr val="0A8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Menlo" panose="020B0609030804020204"/>
              </a:rPr>
              <a:t>#0A84FF</a:t>
            </a:r>
            <a:endParaRPr sz="1100" b="1">
              <a:solidFill>
                <a:srgbClr val="FFFFFF"/>
              </a:solidFill>
              <a:latin typeface="Menlo" panose="020B0609030804020204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85800" y="2697480"/>
            <a:ext cx="201168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SF Pro Text"/>
              </a:rPr>
              <a:t>iOS Blue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2880360" y="2057400"/>
            <a:ext cx="2011680" cy="594360"/>
          </a:xfrm>
          <a:prstGeom prst="roundRect">
            <a:avLst>
              <a:gd name="adj" fmla="val 12000"/>
            </a:avLst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Menlo" panose="020B0609030804020204"/>
              </a:rPr>
              <a:t>#34C759</a:t>
            </a:r>
            <a:endParaRPr sz="1100" b="1">
              <a:solidFill>
                <a:srgbClr val="FFFFFF"/>
              </a:solidFill>
              <a:latin typeface="Menlo" panose="020B0609030804020204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880360" y="2697480"/>
            <a:ext cx="201168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SF Pro Text"/>
              </a:rPr>
              <a:t>Leaf Green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074920" y="2057400"/>
            <a:ext cx="2011680" cy="594360"/>
          </a:xfrm>
          <a:prstGeom prst="roundRect">
            <a:avLst>
              <a:gd name="adj" fmla="val 12000"/>
            </a:avLst>
          </a:prstGeom>
          <a:solidFill>
            <a:srgbClr val="FF9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Menlo" panose="020B0609030804020204"/>
              </a:rPr>
              <a:t>#FF9500</a:t>
            </a:r>
            <a:endParaRPr sz="1100" b="1">
              <a:solidFill>
                <a:srgbClr val="FFFFFF"/>
              </a:solidFill>
              <a:latin typeface="Menlo" panose="020B0609030804020204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074920" y="2697480"/>
            <a:ext cx="201168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SF Pro Text"/>
              </a:rPr>
              <a:t>Alert Orange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7269479" y="2057400"/>
            <a:ext cx="2011680" cy="594360"/>
          </a:xfrm>
          <a:prstGeom prst="roundRect">
            <a:avLst>
              <a:gd name="adj" fmla="val 12000"/>
            </a:avLst>
          </a:prstGeom>
          <a:solidFill>
            <a:srgbClr val="F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rtlCol="0" anchor="ctr"/>
          <a:lstStyle/>
          <a:p>
            <a:pPr algn="l"/>
            <a:r>
              <a:rPr sz="1100" b="1">
                <a:solidFill>
                  <a:srgbClr val="1C1C1E"/>
                </a:solidFill>
                <a:latin typeface="Menlo" panose="020B0609030804020204"/>
              </a:rPr>
              <a:t>#F2F2F7</a:t>
            </a:r>
            <a:endParaRPr sz="1100" b="1">
              <a:solidFill>
                <a:srgbClr val="1C1C1E"/>
              </a:solidFill>
              <a:latin typeface="Menlo" panose="020B0609030804020204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269479" y="2697480"/>
            <a:ext cx="201168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SF Pro Text"/>
              </a:rPr>
              <a:t>Background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464040" y="2057400"/>
            <a:ext cx="2011680" cy="594360"/>
          </a:xfrm>
          <a:prstGeom prst="roundRect">
            <a:avLst>
              <a:gd name="adj" fmla="val 12000"/>
            </a:avLst>
          </a:prstGeom>
          <a:solidFill>
            <a:srgbClr val="1C1C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80000" rtlCol="0" anchor="ctr"/>
          <a:lstStyle/>
          <a:p>
            <a:pPr algn="l"/>
            <a:r>
              <a:rPr sz="1100" b="1">
                <a:solidFill>
                  <a:srgbClr val="FFFFFF"/>
                </a:solidFill>
                <a:latin typeface="Menlo" panose="020B0609030804020204"/>
              </a:rPr>
              <a:t>#1C1C1E</a:t>
            </a:r>
            <a:endParaRPr sz="1100" b="1">
              <a:solidFill>
                <a:srgbClr val="FFFFFF"/>
              </a:solidFill>
              <a:latin typeface="Menlo" panose="020B0609030804020204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464040" y="2697480"/>
            <a:ext cx="201168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SF Pro Text"/>
              </a:rPr>
              <a:t>Text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85800" y="3520440"/>
            <a:ext cx="548640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3611880"/>
            <a:ext cx="512064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SF Pro Text"/>
              </a:rPr>
              <a:t>SF SYMBOLS</a:t>
            </a:r>
            <a:endParaRPr sz="1200" b="1">
              <a:solidFill>
                <a:srgbClr val="0A84FF"/>
              </a:solidFill>
              <a:latin typeface="SF Pro Tex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8680" y="3977639"/>
            <a:ext cx="292608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1">
                <a:solidFill>
                  <a:srgbClr val="34C759"/>
                </a:solidFill>
                <a:latin typeface="Menlo" panose="020B0609030804020204"/>
              </a:rPr>
              <a:t>ladybug.fill</a:t>
            </a:r>
            <a:endParaRPr sz="1100" b="1">
              <a:solidFill>
                <a:srgbClr val="34C759"/>
              </a:solidFill>
              <a:latin typeface="Menlo" panose="020B0609030804020204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794760" y="3977639"/>
            <a:ext cx="237744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0">
                <a:solidFill>
                  <a:srgbClr val="1C1C1E"/>
                </a:solidFill>
                <a:latin typeface="SF Pro Text"/>
              </a:rPr>
              <a:t>Tab icon</a:t>
            </a:r>
            <a:endParaRPr sz="11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868680" y="4306824"/>
            <a:ext cx="292608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1">
                <a:solidFill>
                  <a:srgbClr val="34C759"/>
                </a:solidFill>
                <a:latin typeface="Menlo" panose="020B0609030804020204"/>
              </a:rPr>
              <a:t>magnifyingglass</a:t>
            </a:r>
            <a:endParaRPr sz="1100" b="1">
              <a:solidFill>
                <a:srgbClr val="34C759"/>
              </a:solidFill>
              <a:latin typeface="Menlo" panose="020B0609030804020204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794760" y="4306824"/>
            <a:ext cx="237744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0">
                <a:solidFill>
                  <a:srgbClr val="1C1C1E"/>
                </a:solidFill>
                <a:latin typeface="SF Pro Text"/>
              </a:rPr>
              <a:t>Search</a:t>
            </a:r>
            <a:endParaRPr sz="11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68680" y="4636007"/>
            <a:ext cx="292608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1">
                <a:solidFill>
                  <a:srgbClr val="34C759"/>
                </a:solidFill>
                <a:latin typeface="Menlo" panose="020B0609030804020204"/>
              </a:rPr>
              <a:t>xmark.circle.fill</a:t>
            </a:r>
            <a:endParaRPr sz="1100" b="1">
              <a:solidFill>
                <a:srgbClr val="34C759"/>
              </a:solidFill>
              <a:latin typeface="Menlo" panose="020B0609030804020204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794760" y="4636007"/>
            <a:ext cx="237744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0">
                <a:solidFill>
                  <a:srgbClr val="1C1C1E"/>
                </a:solidFill>
                <a:latin typeface="SF Pro Text"/>
              </a:rPr>
              <a:t>Clear search</a:t>
            </a:r>
            <a:endParaRPr sz="11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868680" y="4965192"/>
            <a:ext cx="292608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1">
                <a:solidFill>
                  <a:srgbClr val="34C759"/>
                </a:solidFill>
                <a:latin typeface="Menlo" panose="020B0609030804020204"/>
              </a:rPr>
              <a:t>stethoscope</a:t>
            </a:r>
            <a:endParaRPr sz="1100" b="1">
              <a:solidFill>
                <a:srgbClr val="34C759"/>
              </a:solidFill>
              <a:latin typeface="Menlo" panose="020B0609030804020204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794760" y="4965192"/>
            <a:ext cx="237744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0">
                <a:solidFill>
                  <a:srgbClr val="1C1C1E"/>
                </a:solidFill>
                <a:latin typeface="SF Pro Text"/>
              </a:rPr>
              <a:t>Symptoms</a:t>
            </a:r>
            <a:endParaRPr sz="11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68680" y="5294375"/>
            <a:ext cx="292608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1">
                <a:solidFill>
                  <a:srgbClr val="34C759"/>
                </a:solidFill>
                <a:latin typeface="Menlo" panose="020B0609030804020204"/>
              </a:rPr>
              <a:t>cross.case</a:t>
            </a:r>
            <a:endParaRPr sz="1100" b="1">
              <a:solidFill>
                <a:srgbClr val="34C759"/>
              </a:solidFill>
              <a:latin typeface="Menlo" panose="020B0609030804020204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94760" y="5294375"/>
            <a:ext cx="237744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0">
                <a:solidFill>
                  <a:srgbClr val="1C1C1E"/>
                </a:solidFill>
                <a:latin typeface="SF Pro Text"/>
              </a:rPr>
              <a:t>Treatment</a:t>
            </a:r>
            <a:endParaRPr sz="11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68680" y="5623559"/>
            <a:ext cx="292608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1">
                <a:solidFill>
                  <a:srgbClr val="34C759"/>
                </a:solidFill>
                <a:latin typeface="Menlo" panose="020B0609030804020204"/>
              </a:rPr>
              <a:t>shield.lefthalf.filled</a:t>
            </a:r>
            <a:endParaRPr sz="1100" b="1">
              <a:solidFill>
                <a:srgbClr val="34C759"/>
              </a:solidFill>
              <a:latin typeface="Menlo" panose="020B0609030804020204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3794760" y="5623559"/>
            <a:ext cx="237744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0">
                <a:solidFill>
                  <a:srgbClr val="1C1C1E"/>
                </a:solidFill>
                <a:latin typeface="SF Pro Text"/>
              </a:rPr>
              <a:t>Prevention</a:t>
            </a:r>
            <a:endParaRPr sz="11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68680" y="5952744"/>
            <a:ext cx="292608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1">
                <a:solidFill>
                  <a:srgbClr val="34C759"/>
                </a:solidFill>
                <a:latin typeface="Menlo" panose="020B0609030804020204"/>
              </a:rPr>
              <a:t>star.fill</a:t>
            </a:r>
            <a:endParaRPr sz="1100" b="1">
              <a:solidFill>
                <a:srgbClr val="34C759"/>
              </a:solidFill>
              <a:latin typeface="Menlo" panose="020B0609030804020204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794760" y="5952744"/>
            <a:ext cx="237744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0">
                <a:solidFill>
                  <a:srgbClr val="1C1C1E"/>
                </a:solidFill>
                <a:latin typeface="SF Pro Text"/>
              </a:rPr>
              <a:t>Favorite</a:t>
            </a:r>
            <a:endParaRPr sz="11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400800" y="3520440"/>
            <a:ext cx="5212080" cy="288036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0" y="3611880"/>
            <a:ext cx="484632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SF Pro Text"/>
              </a:rPr>
              <a:t>LAYOUT RECIPE</a:t>
            </a:r>
            <a:endParaRPr sz="1200" b="1">
              <a:solidFill>
                <a:srgbClr val="0A84FF"/>
              </a:solidFill>
              <a:latin typeface="SF Pro Text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583680" y="3977639"/>
            <a:ext cx="484632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0">
                <a:solidFill>
                  <a:srgbClr val="1C1C1E"/>
                </a:solidFill>
                <a:latin typeface="SF Pro Text"/>
              </a:rPr>
              <a:t>•  Rounded systemGray6 search bar pinned to top</a:t>
            </a:r>
            <a:endParaRPr sz="11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6583680" y="4306824"/>
            <a:ext cx="484632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0">
                <a:solidFill>
                  <a:srgbClr val="1C1C1E"/>
                </a:solidFill>
                <a:latin typeface="SF Pro Text"/>
              </a:rPr>
              <a:t>•  PlainListStyle — no inset gaps between rows</a:t>
            </a:r>
            <a:endParaRPr sz="11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583680" y="4636007"/>
            <a:ext cx="484632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0">
                <a:solidFill>
                  <a:srgbClr val="1C1C1E"/>
                </a:solidFill>
                <a:latin typeface="SF Pro Text"/>
              </a:rPr>
              <a:t>•  44pt thumbnail — asset if available, SF Symbol fallback</a:t>
            </a:r>
            <a:endParaRPr sz="11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583680" y="4965192"/>
            <a:ext cx="484632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0">
                <a:solidFill>
                  <a:srgbClr val="1C1C1E"/>
                </a:solidFill>
                <a:latin typeface="SF Pro Text"/>
              </a:rPr>
              <a:t>•  .title2.bold() name · .subheadline muted type</a:t>
            </a:r>
            <a:endParaRPr sz="11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6583680" y="5294375"/>
            <a:ext cx="484632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0">
                <a:solidFill>
                  <a:srgbClr val="1C1C1E"/>
                </a:solidFill>
                <a:latin typeface="SF Pro Text"/>
              </a:rPr>
              <a:t>•  Detail header: full-width image OR pastel-green placeholder</a:t>
            </a:r>
            <a:endParaRPr sz="11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6583680" y="5623559"/>
            <a:ext cx="484632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0">
                <a:solidFill>
                  <a:srgbClr val="1C1C1E"/>
                </a:solidFill>
                <a:latin typeface="SF Pro Text"/>
              </a:rPr>
              <a:t>•  Sections: icon + title row, chevron rotates 90° on open</a:t>
            </a:r>
            <a:endParaRPr sz="11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6583680" y="5952744"/>
            <a:ext cx="484632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100" b="0">
                <a:solidFill>
                  <a:srgbClr val="1C1C1E"/>
                </a:solidFill>
                <a:latin typeface="SF Pro Text"/>
              </a:rPr>
              <a:t>•  Yellow star in the detail nav bar — favorites</a:t>
            </a:r>
            <a:endParaRPr sz="11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SF Pro Text"/>
              </a:rPr>
              <a:t>Week 6 · Pest &amp; Disease Guide · SmartFarmerAssistant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r"/>
            <a:r>
              <a:rPr sz="1000" b="0">
                <a:solidFill>
                  <a:srgbClr val="8E8E93"/>
                </a:solidFill>
                <a:latin typeface="SF Pro Text"/>
              </a:rPr>
              <a:t>11 / 12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</p:spTree>
  </p:cSld>
  <p:clrMapOvr>
    <a:masterClrMapping/>
  </p:clrMapOvr>
  <p:transition spd="med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2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34C7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548640"/>
            <a:ext cx="1645920" cy="347472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40000" tIns="20000" rIns="40000" bIns="20000" rtlCol="0" anchor="ctr"/>
          <a:lstStyle/>
          <a:p>
            <a:pPr algn="ctr"/>
            <a:r>
              <a:rPr sz="1100" b="1">
                <a:solidFill>
                  <a:srgbClr val="34C759"/>
                </a:solidFill>
                <a:latin typeface="SF Pro Text"/>
              </a:rPr>
              <a:t>WEEK 6 · WRAP</a:t>
            </a:r>
            <a:endParaRPr sz="1100" b="1">
              <a:solidFill>
                <a:srgbClr val="34C759"/>
              </a:solidFill>
              <a:latin typeface="SF Pro Text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91440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SF Pro Display"/>
              </a:rPr>
              <a:t>You built an offline reference library.</a:t>
            </a:r>
            <a:endParaRPr sz="3800" b="1">
              <a:solidFill>
                <a:srgbClr val="FFFFFF"/>
              </a:solidFill>
              <a:latin typeface="SF Pro Display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1828800"/>
            <a:ext cx="10972800" cy="7315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SF Pro Text"/>
              </a:rPr>
              <a:t>Pest entity · JSON preload · Custom search · Expandable sections</a:t>
            </a:r>
            <a:endParaRPr sz="1800" b="0">
              <a:solidFill>
                <a:srgbClr val="FFFFFF"/>
              </a:solidFill>
              <a:latin typeface="SF Pro Text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548640" y="320040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3337560"/>
            <a:ext cx="512064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1">
                <a:solidFill>
                  <a:srgbClr val="34C759"/>
                </a:solidFill>
                <a:latin typeface="SF Pro Text"/>
              </a:rPr>
              <a:t>WHAT YOU SHIPPED</a:t>
            </a:r>
            <a:endParaRPr sz="1200" b="1">
              <a:solidFill>
                <a:srgbClr val="34C759"/>
              </a:solidFill>
              <a:latin typeface="SF Pro Text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3703320"/>
            <a:ext cx="521208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300" b="0">
                <a:solidFill>
                  <a:srgbClr val="1C1C1E"/>
                </a:solidFill>
                <a:latin typeface="SF Pro Text"/>
              </a:rPr>
              <a:t>•  Pest Core Data entity with 8 attributes</a:t>
            </a:r>
            <a:endParaRPr sz="13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7240" y="4087368"/>
            <a:ext cx="521208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300" b="0">
                <a:solidFill>
                  <a:srgbClr val="1C1C1E"/>
                </a:solidFill>
                <a:latin typeface="SF Pro Text"/>
              </a:rPr>
              <a:t>•  PestDataLoader — JSON → Core Data on first launch</a:t>
            </a:r>
            <a:endParaRPr sz="13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77240" y="4471416"/>
            <a:ext cx="521208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300" b="0">
                <a:solidFill>
                  <a:srgbClr val="1C1C1E"/>
                </a:solidFill>
                <a:latin typeface="SF Pro Text"/>
              </a:rPr>
              <a:t>•  pests.json bundled in Resources/ (6 seeded entries)</a:t>
            </a:r>
            <a:endParaRPr sz="13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4855464"/>
            <a:ext cx="521208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300" b="0">
                <a:solidFill>
                  <a:srgbClr val="1C1C1E"/>
                </a:solidFill>
                <a:latin typeface="SF Pro Text"/>
              </a:rPr>
              <a:t>•  SearchBar (iOS 13+) + PestGuideViewModel filter</a:t>
            </a:r>
            <a:endParaRPr sz="13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77240" y="5239512"/>
            <a:ext cx="521208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300" b="0">
                <a:solidFill>
                  <a:srgbClr val="1C1C1E"/>
                </a:solidFill>
                <a:latin typeface="SF Pro Text"/>
              </a:rPr>
              <a:t>•  ExpandableSection — reusable disclosure with @State</a:t>
            </a:r>
            <a:endParaRPr sz="13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5623560"/>
            <a:ext cx="521208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300" b="0">
                <a:solidFill>
                  <a:srgbClr val="1C1C1E"/>
                </a:solidFill>
                <a:latin typeface="SF Pro Text"/>
              </a:rPr>
              <a:t>•  PestGuideTabView — List + Search + Detail screen</a:t>
            </a:r>
            <a:endParaRPr sz="13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6172200" y="3200400"/>
            <a:ext cx="5486400" cy="301752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0" y="3337560"/>
            <a:ext cx="512064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SF Pro Text"/>
              </a:rPr>
              <a:t>QUESTIONS TO DRIVE DISCUSSION</a:t>
            </a:r>
            <a:endParaRPr sz="1200" b="1">
              <a:solidFill>
                <a:srgbClr val="0A84FF"/>
              </a:solidFill>
              <a:latin typeface="SF Pro Text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400800" y="3703320"/>
            <a:ext cx="521208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300" b="0">
                <a:solidFill>
                  <a:srgbClr val="1C1C1E"/>
                </a:solidFill>
                <a:latin typeface="SF Pro Text"/>
              </a:rPr>
              <a:t>?  Why preload from App.init() instead of onAppear?</a:t>
            </a:r>
            <a:endParaRPr sz="13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00800" y="4087368"/>
            <a:ext cx="521208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300" b="0">
                <a:solidFill>
                  <a:srgbClr val="1C1C1E"/>
                </a:solidFill>
                <a:latin typeface="SF Pro Text"/>
              </a:rPr>
              <a:t>?  What happens if pests.json has a typo on first launch?</a:t>
            </a:r>
            <a:endParaRPr sz="13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400800" y="4471416"/>
            <a:ext cx="521208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300" b="0">
                <a:solidFill>
                  <a:srgbClr val="1C1C1E"/>
                </a:solidFill>
                <a:latin typeface="SF Pro Text"/>
              </a:rPr>
              <a:t>?  Why do we use a DTO instead of decoding straight into Pest?</a:t>
            </a:r>
            <a:endParaRPr sz="13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00800" y="4855464"/>
            <a:ext cx="521208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300" b="0">
                <a:solidFill>
                  <a:srgbClr val="1C1C1E"/>
                </a:solidFill>
                <a:latin typeface="SF Pro Text"/>
              </a:rPr>
              <a:t>?  Why give each ExpandableSection its own @State?</a:t>
            </a:r>
            <a:endParaRPr sz="13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400800" y="5239512"/>
            <a:ext cx="521208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300" b="0">
                <a:solidFill>
                  <a:srgbClr val="1C1C1E"/>
                </a:solidFill>
                <a:latin typeface="SF Pro Text"/>
              </a:rPr>
              <a:t>?  What single change would make this network-first?</a:t>
            </a:r>
            <a:endParaRPr sz="1300" b="0">
              <a:solidFill>
                <a:srgbClr val="1C1C1E"/>
              </a:solidFill>
              <a:latin typeface="SF Pro Tex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400800" y="5760720"/>
            <a:ext cx="5120640" cy="36576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200" b="1">
                <a:solidFill>
                  <a:srgbClr val="0A84FF"/>
                </a:solidFill>
                <a:latin typeface="SF Pro Text"/>
              </a:rPr>
              <a:t>NEXT WEEK →  Farm Journal with photos &amp; weather (Week 7)</a:t>
            </a:r>
            <a:endParaRPr sz="1200" b="1">
              <a:solidFill>
                <a:srgbClr val="0A84FF"/>
              </a:solidFill>
              <a:latin typeface="SF Pro Tex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02920" y="6492240"/>
            <a:ext cx="548640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l"/>
            <a:r>
              <a:rPr sz="1000" b="0">
                <a:solidFill>
                  <a:srgbClr val="8E8E93"/>
                </a:solidFill>
                <a:latin typeface="SF Pro Text"/>
              </a:rPr>
              <a:t>Week 6 · Pest &amp; Disease Guide · SmartFarmerAssistant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9601200" y="6492240"/>
            <a:ext cx="2103120" cy="274320"/>
          </a:xfrm>
          <a:prstGeom prst="rect">
            <a:avLst/>
          </a:prstGeom>
          <a:noFill/>
        </p:spPr>
        <p:txBody>
          <a:bodyPr wrap="square" lIns="60000" tIns="40000" rIns="60000" bIns="40000" anchor="t">
            <a:spAutoFit/>
          </a:bodyPr>
          <a:lstStyle/>
          <a:p>
            <a:pPr algn="r"/>
            <a:r>
              <a:rPr sz="1000" b="0">
                <a:solidFill>
                  <a:srgbClr val="8E8E93"/>
                </a:solidFill>
                <a:latin typeface="SF Pro Text"/>
              </a:rPr>
              <a:t>12 / 12</a:t>
            </a:r>
            <a:endParaRPr sz="1000" b="0">
              <a:solidFill>
                <a:srgbClr val="8E8E93"/>
              </a:solidFill>
              <a:latin typeface="SF Pro Text"/>
            </a:endParaRP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7380</Words>
  <Application>WPS Presentation</Application>
  <PresentationFormat>On-screen Show (4:3)</PresentationFormat>
  <Paragraphs>469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9" baseType="lpstr">
      <vt:lpstr>Arial</vt:lpstr>
      <vt:lpstr>SimSun</vt:lpstr>
      <vt:lpstr>Wingdings</vt:lpstr>
      <vt:lpstr>Arial</vt:lpstr>
      <vt:lpstr>SF Pro Text</vt:lpstr>
      <vt:lpstr>SF Pro Display</vt:lpstr>
      <vt:lpstr>Menlo</vt:lpstr>
      <vt:lpstr>Calibri</vt:lpstr>
      <vt:lpstr>Helvetica Neue</vt:lpstr>
      <vt:lpstr>Microsoft YaHei</vt:lpstr>
      <vt:lpstr>汉仪旗黑</vt:lpstr>
      <vt:lpstr>Arial Unicode MS</vt:lpstr>
      <vt:lpstr>宋体-简</vt:lpstr>
      <vt:lpstr>Noto Sans KR</vt:lpstr>
      <vt:lpstr>Apple Color Emoji</vt:lpstr>
      <vt:lpstr>Battambang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sothea007</cp:lastModifiedBy>
  <cp:revision>5</cp:revision>
  <dcterms:created xsi:type="dcterms:W3CDTF">2026-04-22T10:39:11Z</dcterms:created>
  <dcterms:modified xsi:type="dcterms:W3CDTF">2026-04-22T10:39:11Z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EC55C1746997C2FFD7A4E869E3162636_42</vt:lpwstr>
  </property>
  <property fmtid="{D5CDD505-2E9C-101B-9397-08002B2CF9AE}" pid="3" name="KSOProductBuildVer">
    <vt:lpwstr>1033-12.1.25867.25867</vt:lpwstr>
  </property>
</Properties>
</file>