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828800" cy="45720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WEEK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UI កម្រិតខ្ពស់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1BB889"/>
                </a:solidFill>
              </a:rPr>
              <a:t>&amp; Animations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AAABB"/>
                </a:solidFill>
              </a:rPr>
              <a:t>SmartFarmerAssistant — តុបតែង iOS App ឱ្យស្អាតជាក្រុមហ៊ុន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297680"/>
            <a:ext cx="1691640" cy="1234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34340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9204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BB"/>
                </a:solidFill>
              </a:rPr>
              <a:t>ViewModifiers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4297680"/>
            <a:ext cx="1691640" cy="1234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4340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489204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BB"/>
                </a:solidFill>
              </a:rPr>
              <a:t>FarmCard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4297680"/>
            <a:ext cx="1691640" cy="1234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434340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89204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BB"/>
                </a:solidFill>
              </a:rPr>
              <a:t>Animations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7959" y="4297680"/>
            <a:ext cx="1691640" cy="1234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59" y="434340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489204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BB"/>
                </a:solidFill>
              </a:rPr>
              <a:t>Pull-to-Refresh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4297680"/>
            <a:ext cx="1691640" cy="1234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434340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89204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BB"/>
                </a:solidFill>
              </a:rPr>
              <a:t>Dark Mode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87000" y="4297680"/>
            <a:ext cx="1691640" cy="1234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87000" y="434340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87000" y="489204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AAABB"/>
                </a:solidFill>
              </a:rPr>
              <a:t>ភាពងាយស្រួលប្រើ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1672" y="64739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B889"/>
                </a:solidFill>
              </a:rPr>
              <a:t>📋  របៀបវារៈ — Week 9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502920" cy="566928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502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A2E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0058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Custom ViewModifiers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33502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រចនាប័ទ្មស្អាតឆ្លងកាត់គ្រប់ Views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502920" cy="566928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502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A2E"/>
                </a:solidFill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202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Components ប្រើម្ដងហើយម្ដងទៀត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4942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FarmCard · PrimaryButton · SectionHeader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34640"/>
            <a:ext cx="502920" cy="566928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834640"/>
            <a:ext cx="502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A2E"/>
                </a:solidFill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8346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Animations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16382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Fade-in lists · Scale-press buttons · Slide-in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49039"/>
            <a:ext cx="502920" cy="56692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749039"/>
            <a:ext cx="502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A2E"/>
                </a:solidFill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74903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Pull-to-Refresh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07822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Async refreshable + skeleton loading states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663440"/>
            <a:ext cx="502920" cy="566928"/>
          </a:xfrm>
          <a:prstGeom prst="rect">
            <a:avLst/>
          </a:prstGeom>
          <a:solidFill>
            <a:srgbClr val="00C9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663440"/>
            <a:ext cx="502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A2E"/>
                </a:solidFill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6634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Dark Mode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99262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Adaptive colors · systemBackground semantics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577840"/>
            <a:ext cx="502920" cy="566928"/>
          </a:xfrm>
          <a:prstGeom prst="rect">
            <a:avLst/>
          </a:prstGeom>
          <a:solidFill>
            <a:srgbClr val="E94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5577840"/>
            <a:ext cx="502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A2E"/>
                </a:solidFill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5778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ភាពងាយស្រួលប្រើ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90702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VoiceOver labels · Dynamic Type · A11y hints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1672" y="64739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B889"/>
                </a:solidFill>
              </a:rPr>
              <a:t>🎨  Custom ViewModifiers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ViewModifier គឺជាអ្វី?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BB889"/>
                </a:solidFill>
              </a:rPr>
              <a:t>• </a:t>
            </a:r>
            <a:r>
              <a:rPr sz="1400">
                <a:solidFill>
                  <a:srgbClr val="FFFFFF"/>
                </a:solidFill>
              </a:rPr>
              <a:t>ប្លុក transformations ប្រើម្ដងហើយម្ដងទៀត (background, shadow, corner radius…)</a:t>
            </a:r>
          </a:p>
          <a:p>
            <a:pPr algn="l"/>
            <a:r>
              <a:rPr sz="1400">
                <a:solidFill>
                  <a:srgbClr val="1BB889"/>
                </a:solidFill>
              </a:rPr>
              <a:t>• </a:t>
            </a:r>
            <a:r>
              <a:rPr sz="1400">
                <a:solidFill>
                  <a:srgbClr val="FFFFFF"/>
                </a:solidFill>
              </a:rPr>
              <a:t>ប្រើ .modifier(MyModifier()) ឬ extension .myModifier() ខ្លីជាង</a:t>
            </a:r>
          </a:p>
          <a:p>
            <a:pPr algn="l"/>
            <a:r>
              <a:rPr sz="1400">
                <a:solidFill>
                  <a:srgbClr val="1BB889"/>
                </a:solidFill>
              </a:rPr>
              <a:t>• </a:t>
            </a:r>
            <a:r>
              <a:rPr sz="1400">
                <a:solidFill>
                  <a:srgbClr val="FFFFFF"/>
                </a:solidFill>
              </a:rPr>
              <a:t>View code DRY — ផ្លាស់ប្ដូរម្ដង ធ្វើបច្ចុប្បន្នភាព cards ទាំងអស់</a:t>
            </a:r>
          </a:p>
          <a:p>
            <a:pPr algn="l"/>
            <a:r>
              <a:rPr sz="1400">
                <a:solidFill>
                  <a:srgbClr val="1BB889"/>
                </a:solidFill>
              </a:rPr>
              <a:t>• </a:t>
            </a:r>
            <a:r>
              <a:rPr sz="1400">
                <a:solidFill>
                  <a:srgbClr val="FFFFFF"/>
                </a:solidFill>
              </a:rPr>
              <a:t>អាចមាន @State, @Environment ហើយ respond ទៅ dark mode / accessibility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868680"/>
            <a:ext cx="4160520" cy="32004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82712" y="1005839"/>
            <a:ext cx="3831335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struct FarmCardModifier: ViewModifier {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func body(content: Content) -&gt; some View {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content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    .background(Color(.systemBackground))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    .cornerRadius(16)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    .shadow(color: .black.opacity(0.08),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            radius: 10, x: 0, y: 4)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}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extension View {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func farmCard() -&gt; some View { modifier(FarmCardModifier()) }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3375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C8"/>
                </a:solidFill>
              </a:rPr>
              <a:t>✅  ការប្រើប្រាស់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703320"/>
            <a:ext cx="7315200" cy="82296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3840480"/>
            <a:ext cx="698601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C9C8"/>
                </a:solidFill>
                <a:latin typeface="Courier New"/>
              </a:rPr>
              <a:t>VStack { ... }</a:t>
            </a:r>
          </a:p>
          <a:p>
            <a:r>
              <a:rPr sz="1200">
                <a:solidFill>
                  <a:srgbClr val="00C9C8"/>
                </a:solidFill>
                <a:latin typeface="Courier New"/>
              </a:rPr>
              <a:t>    .farmCard()   // applies everywhere consistently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1672" y="64739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39620"/>
                </a:solidFill>
              </a:rPr>
              <a:t>✨  FadeIn &amp; ScalePress Modifiers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5577840" cy="260604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620"/>
                </a:solidFill>
              </a:rPr>
              <a:t>FadeInModifier — entrance list ជំហាន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5577840" cy="214884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463039"/>
            <a:ext cx="5248655" cy="1874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00C9C8"/>
                </a:solidFill>
                <a:latin typeface="Courier New"/>
              </a:rPr>
              <a:t>struct FadeInModifier: ViewModifier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let delay: Double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@State private var opacity: Double = 0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func body(content: Content) -&gt; some View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content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.opacity(opacity)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.onAppear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withAnimation(.easeOut(duration: 0.5)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          .delay(delay))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opacity = 1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914400"/>
            <a:ext cx="5852160" cy="260604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9601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87DFA"/>
                </a:solidFill>
              </a:rPr>
              <a:t>ScalePressModifier — feedback button ពេលចុច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325880"/>
            <a:ext cx="5852160" cy="214884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9631" y="1463039"/>
            <a:ext cx="5522976" cy="1874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00C9C8"/>
                </a:solidFill>
                <a:latin typeface="Courier New"/>
              </a:rPr>
              <a:t>struct ScalePressModifier: ViewModifier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@GestureState private var isPressed = false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func body(content: Content) -&gt; some View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content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.scaleEffect(isPressed ? 0.96 : 1.0)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.animation(.spring(response: 0.3,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   dampingFraction: 0.6),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   value: isPressed)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.simultaneousGesture(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DragGesture(minimumDistance: 0)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.updating($isPressed)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    _, state, _ in state = true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6118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C8"/>
                </a:solidFill>
              </a:rPr>
              <a:t>ការប្រើប្រាស់ — stagger cards ក្នុង Dashboard: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977639"/>
            <a:ext cx="11430000" cy="8686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4114800"/>
            <a:ext cx="11100816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C9C8"/>
                </a:solidFill>
                <a:latin typeface="Courier New"/>
              </a:rPr>
              <a:t>monthlyProfitLossCard.fadeIn(delay: 0.1)</a:t>
            </a:r>
          </a:p>
          <a:p>
            <a:r>
              <a:rPr sz="1200">
                <a:solidFill>
                  <a:srgbClr val="00C9C8"/>
                </a:solidFill>
                <a:latin typeface="Courier New"/>
              </a:rPr>
              <a:t>recentTransactionsSection.fadeIn(delay: 0.2)</a:t>
            </a:r>
          </a:p>
          <a:p>
            <a:r>
              <a:rPr sz="1200">
                <a:solidFill>
                  <a:srgbClr val="00C9C8"/>
                </a:solidFill>
                <a:latin typeface="Courier New"/>
              </a:rPr>
              <a:t>QuickActionButton().scalePress()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1672" y="64739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287DFA"/>
                </a:solidFill>
              </a:rPr>
              <a:t>🃏  FarmCard — Container ទូទៅ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96112"/>
            <a:ext cx="5943600" cy="530352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033271"/>
            <a:ext cx="5614416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struct FarmCard&lt;Content: View&gt;: View {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let title: String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let icon: String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let iconColor: Color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@ViewBuilder let content: () -&gt; Content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var body: some View {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VStack(alignment: .leading, spacing: 0) {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    HStack(spacing: 10) {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        Image(systemName: icon)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            .foregroundColor(iconColor)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        Text(title).font(.headline)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        Spacer()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    }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    .padding(.horizontal, 16).padding(.vertical, 14)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    Divider().padding(.horizontal, 16)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    content()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        .padding(.horizontal, 16).padding(.vertical, 12)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}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.farmCard()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005840"/>
            <a:ext cx="5486400" cy="2011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1005840"/>
            <a:ext cx="5486400" cy="502920"/>
          </a:xfrm>
          <a:prstGeom prst="rect">
            <a:avLst/>
          </a:prstGeom>
          <a:solidFill>
            <a:srgbClr val="28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0515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💰  ចំណូល / ចំណាយ</a:t>
            </a:r>
          </a:p>
        </p:txBody>
      </p:sp>
      <p:sp>
        <p:nvSpPr>
          <p:cNvPr id="9" name="Rectangle 8"/>
          <p:cNvSpPr/>
          <p:nvPr/>
        </p:nvSpPr>
        <p:spPr>
          <a:xfrm>
            <a:off x="6446520" y="1490472"/>
            <a:ext cx="5394960" cy="18288"/>
          </a:xfrm>
          <a:prstGeom prst="rect">
            <a:avLst/>
          </a:prstGeom>
          <a:solidFill>
            <a:srgbClr val="AA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5727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ចំណូល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57276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BB889"/>
                </a:solidFill>
              </a:rPr>
              <a:t>$1,200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9019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AABB"/>
                </a:solidFill>
              </a:rPr>
              <a:t>ចំណាយ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90195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E54747"/>
                </a:solidFill>
              </a:rPr>
              <a:t>$850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1546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AAABB"/>
                </a:solidFill>
              </a:rPr>
              <a:t>← FarmCard render content ណាមួយ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520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C8"/>
                </a:solidFill>
              </a:rPr>
              <a:t>ការប្រើប្រាស់: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886200"/>
            <a:ext cx="5486400" cy="173736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4023360"/>
            <a:ext cx="5157216" cy="1463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0C9C8"/>
                </a:solidFill>
                <a:latin typeface="Courier New"/>
              </a:rPr>
              <a:t>FarmCard(title: "ចំណូល / ចំណាយ",</a:t>
            </a:r>
          </a:p>
          <a:p>
            <a:r>
              <a:rPr sz="1100">
                <a:solidFill>
                  <a:srgbClr val="00C9C8"/>
                </a:solidFill>
                <a:latin typeface="Courier New"/>
              </a:rPr>
              <a:t>         icon: "dollarsign.circle.fill",</a:t>
            </a:r>
          </a:p>
          <a:p>
            <a:r>
              <a:rPr sz="1100">
                <a:solidFill>
                  <a:srgbClr val="00C9C8"/>
                </a:solidFill>
                <a:latin typeface="Courier New"/>
              </a:rPr>
              <a:t>         iconColor: .green) {</a:t>
            </a:r>
          </a:p>
          <a:p>
            <a:r>
              <a:rPr sz="1100">
                <a:solidFill>
                  <a:srgbClr val="00C9C8"/>
                </a:solidFill>
                <a:latin typeface="Courier New"/>
              </a:rPr>
              <a:t>    // SwiftUI view ណាមួយ</a:t>
            </a:r>
          </a:p>
          <a:p>
            <a:r>
              <a:rPr sz="1100">
                <a:solidFill>
                  <a:srgbClr val="00C9C8"/>
                </a:solidFill>
                <a:latin typeface="Courier New"/>
              </a:rPr>
              <a:t>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1672" y="64739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8E44AD"/>
                </a:solidFill>
              </a:rPr>
              <a:t>🔘  PrimaryButton &amp; SectionHeader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E44AD"/>
                </a:solidFill>
              </a:rPr>
              <a:t>PrimaryButton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6035040" cy="512064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1417319"/>
            <a:ext cx="5705855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00C9C8"/>
                </a:solidFill>
                <a:latin typeface="Courier New"/>
              </a:rPr>
              <a:t>struct PrimaryButton: View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let title: String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var icon: String? = nil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var color: Color = .green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let action: () -&gt; Void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var body: some View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Button(action: action)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HStack(spacing: 8)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if let icon { Image(systemName: icon)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Text(title).font(.system(size: 17, weight: .semibold))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.foregroundColor(.white)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.frame(maxWidth: .infinity).frame(height: 54)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.background(color).cornerRadius(14)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.scalePress()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.accessibilityLabel(title)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9144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9C8"/>
                </a:solidFill>
              </a:rPr>
              <a:t>SectionHeader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280160"/>
            <a:ext cx="5577840" cy="512064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5392" y="1417319"/>
            <a:ext cx="5248655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00C9C8"/>
                </a:solidFill>
                <a:latin typeface="Courier New"/>
              </a:rPr>
              <a:t>struct SectionHeader: View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let title: String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let icon: String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let color: Color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var actionTitle: String? = nil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var action: (() -&gt; Void)? = nil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var body: some View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HStack(spacing: 8)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Image(systemName: icon)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.foregroundColor(color)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Text(title).font(.headline).bold()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Spacer()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if let t = actionTitle, let a = action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Button(action: a)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Text(t).font(.subheadline)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    .foregroundColor(color)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1672" y="64739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39620"/>
                </a:solidFill>
              </a:rPr>
              <a:t>🎬  Slide &amp; List Animations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AABB"/>
                </a:solidFill>
              </a:rPr>
              <a:t>Pattern animation ០៣ ប្រើក្នុង Week 9: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3794760" cy="5029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44475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620"/>
                </a:solidFill>
              </a:rPr>
              <a:t>Fade-In (Staggered)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73936"/>
            <a:ext cx="3611880" cy="18288"/>
          </a:xfrm>
          <a:prstGeom prst="rect">
            <a:avLst/>
          </a:prstGeom>
          <a:solidFill>
            <a:srgbClr val="F39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874519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ប្រើលើ Dashboard section នីមួយៗ នៅ .onAppear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286000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delay: 0.1s ក្នុង section → បង្កើត waterfall effect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697479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.easeOut(duration: 0.5).delay(delay)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291840"/>
            <a:ext cx="3703320" cy="123444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3429000"/>
            <a:ext cx="337413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00C9C8"/>
                </a:solidFill>
                <a:latin typeface="Courier New"/>
              </a:rPr>
              <a:t>.fadeIn(delay: 0.1)  // P&amp;L card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.fadeIn(delay: 0.2)  // transactions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.fadeIn(delay: 0.3)  // activities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1371600"/>
            <a:ext cx="3794760" cy="5029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44475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87DFA"/>
                </a:solidFill>
              </a:rPr>
              <a:t>Scale Press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399" y="1773936"/>
            <a:ext cx="3611880" cy="18288"/>
          </a:xfrm>
          <a:prstGeom prst="rect">
            <a:avLst/>
          </a:prstGeom>
          <a:solidFill>
            <a:srgbClr val="287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874519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ប្រើ @GestureState + DragGesture(minimumDistance:0)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286000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scaleEffect 1.0 → 0.96 ពេលចុច ត្រឡប់វិញ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697479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ប្រើលើ QuickActionButton, PrimaryButton, toolbar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79" y="3291840"/>
            <a:ext cx="3703320" cy="123444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62271" y="3429000"/>
            <a:ext cx="337413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00C9C8"/>
                </a:solidFill>
                <a:latin typeface="Courier New"/>
              </a:rPr>
              <a:t>.scalePress()   // on any tappable view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// spring(response:0.3, dampingFraction:0.6)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371600"/>
            <a:ext cx="3794760" cy="5029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144475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B889"/>
                </a:solidFill>
              </a:rPr>
              <a:t>List Rows (ក្នុងrow)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1773936"/>
            <a:ext cx="3611880" cy="18288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1874519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PestGuideTabView: enumerated ForEach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286000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Each row: .fadeIn(delay: Double(index) * 0.05)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2697479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• Max ~20 rows × 0.05 = 1.0 វ stagger សរុប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75320" y="3291840"/>
            <a:ext cx="3703320" cy="123444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39912" y="3429000"/>
            <a:ext cx="337413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00C9C8"/>
                </a:solidFill>
                <a:latin typeface="Courier New"/>
              </a:rPr>
              <a:t>ForEach(Array(pests.enumerated()), ...) {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PestRowView(pest: pest)</a:t>
            </a:r>
          </a:p>
          <a:p>
            <a:r>
              <a:rPr sz="900">
                <a:solidFill>
                  <a:srgbClr val="00C9C8"/>
                </a:solidFill>
                <a:latin typeface="Courier New"/>
              </a:rPr>
              <a:t>        .fadeIn(delay: Double(index) * 0.05)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91672" y="64739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9C8"/>
                </a:solidFill>
              </a:rPr>
              <a:t>🔄  Pull-to-Refresh &amp; Loading States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5669280" cy="29260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C8"/>
                </a:solidFill>
              </a:rPr>
              <a:t>.refreshable — SwiftUI native (iOS 15+)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5669280" cy="242316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508760"/>
            <a:ext cx="5340096" cy="2148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0C9C8"/>
                </a:solidFill>
                <a:latin typeface="Courier New"/>
              </a:rPr>
              <a:t>ScrollView {</a:t>
            </a:r>
          </a:p>
          <a:p>
            <a:r>
              <a:rPr sz="1100">
                <a:solidFill>
                  <a:srgbClr val="00C9C8"/>
                </a:solidFill>
                <a:latin typeface="Courier New"/>
              </a:rPr>
              <a:t>    VStack { ... }</a:t>
            </a:r>
          </a:p>
          <a:p>
            <a:r>
              <a:rPr sz="1100">
                <a:solidFill>
                  <a:srgbClr val="00C9C8"/>
                </a:solidFill>
                <a:latin typeface="Courier New"/>
              </a:rPr>
              <a:t>}</a:t>
            </a:r>
          </a:p>
          <a:p>
            <a:r>
              <a:rPr sz="1100">
                <a:solidFill>
                  <a:srgbClr val="00C9C8"/>
                </a:solidFill>
                <a:latin typeface="Courier New"/>
              </a:rPr>
              <a:t>.refreshable {</a:t>
            </a:r>
          </a:p>
          <a:p>
            <a:r>
              <a:rPr sz="1100">
                <a:solidFill>
                  <a:srgbClr val="00C9C8"/>
                </a:solidFill>
                <a:latin typeface="Courier New"/>
              </a:rPr>
              <a:t>    isRefreshing = true</a:t>
            </a:r>
          </a:p>
          <a:p>
            <a:r>
              <a:rPr sz="1100">
                <a:solidFill>
                  <a:srgbClr val="00C9C8"/>
                </a:solidFill>
                <a:latin typeface="Courier New"/>
              </a:rPr>
              <a:t>    try? await Task.sleep(</a:t>
            </a:r>
          </a:p>
          <a:p>
            <a:r>
              <a:rPr sz="1100">
                <a:solidFill>
                  <a:srgbClr val="00C9C8"/>
                </a:solidFill>
                <a:latin typeface="Courier New"/>
              </a:rPr>
              <a:t>        nanoseconds: 1_500_000_000)</a:t>
            </a:r>
          </a:p>
          <a:p>
            <a:r>
              <a:rPr sz="1100">
                <a:solidFill>
                  <a:srgbClr val="00C9C8"/>
                </a:solidFill>
                <a:latin typeface="Courier New"/>
              </a:rPr>
              <a:t>    // re-fetch data here</a:t>
            </a:r>
          </a:p>
          <a:p>
            <a:r>
              <a:rPr sz="1100">
                <a:solidFill>
                  <a:srgbClr val="00C9C8"/>
                </a:solidFill>
                <a:latin typeface="Courier New"/>
              </a:rPr>
              <a:t>    isRefreshing = false</a:t>
            </a:r>
          </a:p>
          <a:p>
            <a:r>
              <a:rPr sz="1100">
                <a:solidFill>
                  <a:srgbClr val="00C9C8"/>
                </a:solidFill>
                <a:latin typeface="Courier New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914400"/>
            <a:ext cx="5715000" cy="29260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987552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620"/>
                </a:solidFill>
              </a:rPr>
              <a:t>LoadingRowView — skeleton shimmer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371600"/>
            <a:ext cx="5715000" cy="242316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508760"/>
            <a:ext cx="5385816" cy="2148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00C9C8"/>
                </a:solidFill>
                <a:latin typeface="Courier New"/>
              </a:rPr>
              <a:t>struct LoadingRowView: View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@State private var pulse = false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var body: some View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VStack(alignment: .leading, spacing: 10)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RoundedRectangle(cornerRadius: 6)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.fill(Color(.systemGray4))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.frame(width: 180, height: 14)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// ... 2 more skeleton lines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.opacity(pulse ? 1.0 : 0.4)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.onAppear {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withAnimation(.easeInOut(duration: 0.9)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              .repeatForever(autoreverses: true))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    { pulse = true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950">
                <a:solidFill>
                  <a:srgbClr val="00C9C8"/>
                </a:solidFill>
                <a:latin typeface="Courier New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9319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បង្ហាញ skeleton ពេល refresh ក្នុង PestGuideTabView: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315968"/>
            <a:ext cx="11658600" cy="178308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4453128"/>
            <a:ext cx="11329416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0C9C8"/>
                </a:solidFill>
                <a:latin typeface="Courier New"/>
              </a:rPr>
              <a:t>if isLoading {</a:t>
            </a:r>
          </a:p>
          <a:p>
            <a:r>
              <a:rPr sz="1100">
                <a:solidFill>
                  <a:srgbClr val="00C9C8"/>
                </a:solidFill>
                <a:latin typeface="Courier New"/>
              </a:rPr>
              <a:t>    List { ForEach(0..&lt;5, id: \.self) { _ in LoadingRowView() } }</a:t>
            </a:r>
          </a:p>
          <a:p>
            <a:r>
              <a:rPr sz="1100">
                <a:solidFill>
                  <a:srgbClr val="00C9C8"/>
                </a:solidFill>
                <a:latin typeface="Courier New"/>
              </a:rPr>
              <a:t>} else {</a:t>
            </a:r>
          </a:p>
          <a:p>
            <a:r>
              <a:rPr sz="1100">
                <a:solidFill>
                  <a:srgbClr val="00C9C8"/>
                </a:solidFill>
                <a:latin typeface="Courier New"/>
              </a:rPr>
              <a:t>    List { /* real pest rows */ }</a:t>
            </a:r>
          </a:p>
          <a:p>
            <a:r>
              <a:rPr sz="1100">
                <a:solidFill>
                  <a:srgbClr val="00C9C8"/>
                </a:solidFill>
                <a:latin typeface="Courier New"/>
              </a:rPr>
              <a:t>        .refreshable { isLoading = true; await Task.sleep(...); isLoading = false }</a:t>
            </a:r>
          </a:p>
          <a:p>
            <a:r>
              <a:rPr sz="1100">
                <a:solidFill>
                  <a:srgbClr val="00C9C8"/>
                </a:solidFill>
                <a:latin typeface="Courier New"/>
              </a:rP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1672" y="64739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8E44AD"/>
                </a:solidFill>
              </a:rPr>
              <a:t>🌙  ការគាំទ្រ Dark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AABB"/>
                </a:solidFill>
              </a:rPr>
              <a:t>ប្រព័ន្ធ adaptive color SwiftUI — dark mode ស្វ័យប្រវត្តិ: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25880"/>
            <a:ext cx="11567160" cy="38404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53312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C8"/>
                </a:solidFill>
              </a:rPr>
              <a:t>ការប្រើ Color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353312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C8"/>
                </a:solidFill>
              </a:rPr>
              <a:t>SwiftUI Idiom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13533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C8"/>
                </a:solidFill>
              </a:rPr>
              <a:t>ស្ដាប់ Dynamic Mode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755648"/>
            <a:ext cx="11567160" cy="457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40233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Card background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828800"/>
            <a:ext cx="40233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Color(.systemBackground)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1828800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B889"/>
                </a:solidFill>
              </a:rPr>
              <a:t>✅ Yes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231136"/>
            <a:ext cx="1156716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304288"/>
            <a:ext cx="40233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Grouped screen bg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304288"/>
            <a:ext cx="40233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Color(.systemGroupedBackground)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304288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B889"/>
                </a:solidFill>
              </a:rPr>
              <a:t>✅ Yes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706624"/>
            <a:ext cx="11567160" cy="457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779776"/>
            <a:ext cx="40233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Skeleton shimmer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2779776"/>
            <a:ext cx="40233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Color(.systemGray4/5)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779776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B889"/>
                </a:solidFill>
              </a:rPr>
              <a:t>✅ Yes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182112"/>
            <a:ext cx="1156716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255264"/>
            <a:ext cx="40233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Primary 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255264"/>
            <a:ext cx="40233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.primary / .foregroundColor(.primary)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325526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B889"/>
                </a:solidFill>
              </a:rPr>
              <a:t>✅ Yes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657600"/>
            <a:ext cx="11567160" cy="4572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730752"/>
            <a:ext cx="40233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Shadows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3730752"/>
            <a:ext cx="40233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.black.opacity(0.08)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373075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Subtle — stays subtle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133087"/>
            <a:ext cx="11567160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206240"/>
            <a:ext cx="40233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Gradient card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4206240"/>
            <a:ext cx="40233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Custom RGB — keep low saturation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4206240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39620"/>
                </a:solidFill>
              </a:rPr>
              <a:t>⚠️ Test manually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4709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ច្បាប់សំខាន់: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94560" y="4709160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ប្រើឈ្មោះ semantic UIColor (systemBackground, label) ជាជំនួស hex hardcoded។ SwiftUI ផ្លាស់ប្ដូរដោយស្វ័យប្រវត្តិ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53035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BB"/>
                </a:solidFill>
              </a:rPr>
              <a:t>Test dark mode: Simulator → Features → Toggle Appearance  (Cmd+Shift+A)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91672" y="64739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94F97"/>
                </a:solidFill>
              </a:rPr>
              <a:t>♿  ភាពងាយស្រួលប្រើ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Accessibility Modifiers ដែលប្រើ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53312"/>
            <a:ext cx="5577840" cy="74980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99032"/>
            <a:ext cx="5303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0C9C8"/>
                </a:solidFill>
              </a:rPr>
              <a:t>.accessibilityLabel("...")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0078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ជំនួស label លំនាំដើម សម្រាប់ VoiceOver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157984"/>
            <a:ext cx="5577840" cy="74980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03703"/>
            <a:ext cx="5303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0C9C8"/>
                </a:solidFill>
              </a:rPr>
              <a:t>.accessibilityHint("...")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0545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ពិពណ៌នា អ្វីដែលកើតឡើងពេល activate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962656"/>
            <a:ext cx="5577840" cy="74980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008376"/>
            <a:ext cx="5303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0C9C8"/>
                </a:solidFill>
              </a:rPr>
              <a:t>.accessibilityElement(children: .combine)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1012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ដាក់ sub-elements ក្នុង unit ដែល focus បាន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767328"/>
            <a:ext cx="5577840" cy="74980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813048"/>
            <a:ext cx="5303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0C9C8"/>
                </a:solidFill>
              </a:rPr>
              <a:t>.accessibilityLabel(pest.name ?? "")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148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label ក្នុង row នីមួយៗ PestGuide list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572000"/>
            <a:ext cx="5577840" cy="749808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617720"/>
            <a:ext cx="5303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00C9C8"/>
                </a:solidFill>
              </a:rPr>
              <a:t>NavigationView label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91947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AABB"/>
                </a:solidFill>
              </a:rPr>
              <a:t>បន្ថែមទៅ nav កម្រិតខ្ពស់ ដើម្បី identity screen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91440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AccessibilityCardModifier (custom)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1325880"/>
            <a:ext cx="5852160" cy="365760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1463039"/>
            <a:ext cx="5522976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C9C8"/>
                </a:solidFill>
                <a:latin typeface="Courier New"/>
              </a:rPr>
              <a:t>struct AccessibilityCardModifier: ViewModifier {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let label: String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let hint: String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func body(content: Content) -&gt; some View {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content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    .accessibilityElement(children: .combine)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    .accessibilityLabel(label)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        .accessibilityHint(hint)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}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}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// P&amp;L card in Dashboard: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monthlyProfitLossCard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.accessibilityElement(children: .combine)</a:t>
            </a:r>
          </a:p>
          <a:p>
            <a:r>
              <a:rPr sz="1000">
                <a:solidFill>
                  <a:srgbClr val="00C9C8"/>
                </a:solidFill>
                <a:latin typeface="Courier New"/>
              </a:rPr>
              <a:t>    .accessibilityLabel("ចំណេញ / ខាត \(pl.formattedCurrency)")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548640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</a:rPr>
              <a:t>Dynamic Type: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548640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ប្រើ .font(.headline), .font(.caption) — ជំនួស Pt fixed — ឱ្យ text scale ទៅតាម preferences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1672" y="64739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D700"/>
                </a:solidFill>
              </a:rPr>
              <a:t>📊  មុន vs ក្រោយ — ការតុបតែង Week 9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5486400" cy="557784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5486400" cy="411480"/>
          </a:xfrm>
          <a:prstGeom prst="rect">
            <a:avLst/>
          </a:prstGeom>
          <a:solidFill>
            <a:srgbClr val="E54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5097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❌  មុន (Week 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417320"/>
            <a:ext cx="52120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54747"/>
                </a:solidFill>
              </a:rPr>
              <a:t>• </a:t>
            </a:r>
            <a:r>
              <a:rPr sz="1200">
                <a:solidFill>
                  <a:srgbClr val="AAAABB"/>
                </a:solidFill>
              </a:rPr>
              <a:t>Inline styling ដដែលៗរៀងរាល់ View</a:t>
            </a:r>
          </a:p>
          <a:p>
            <a:pPr algn="l"/>
            <a:r>
              <a:rPr sz="1200">
                <a:solidFill>
                  <a:srgbClr val="E54747"/>
                </a:solidFill>
              </a:rPr>
              <a:t>• </a:t>
            </a:r>
            <a:r>
              <a:rPr sz="1200">
                <a:solidFill>
                  <a:srgbClr val="AAAABB"/>
                </a:solidFill>
              </a:rPr>
              <a:t>Buttons ឆ្លើយតបភ្លាមៗ — គ្មាន tactile feedback</a:t>
            </a:r>
          </a:p>
          <a:p>
            <a:pPr algn="l"/>
            <a:r>
              <a:rPr sz="1200">
                <a:solidFill>
                  <a:srgbClr val="E54747"/>
                </a:solidFill>
              </a:rPr>
              <a:t>• </a:t>
            </a:r>
            <a:r>
              <a:rPr sz="1200">
                <a:solidFill>
                  <a:srgbClr val="AAAABB"/>
                </a:solidFill>
              </a:rPr>
              <a:t>Lists លោតចេញតែមួយដង — ខ្ទាស</a:t>
            </a:r>
          </a:p>
          <a:p>
            <a:pPr algn="l"/>
            <a:r>
              <a:rPr sz="1200">
                <a:solidFill>
                  <a:srgbClr val="E54747"/>
                </a:solidFill>
              </a:rPr>
              <a:t>• </a:t>
            </a:r>
            <a:r>
              <a:rPr sz="1200">
                <a:solidFill>
                  <a:srgbClr val="AAAABB"/>
                </a:solidFill>
              </a:rPr>
              <a:t>គ្មាន pull-to-refresh លើ screen ណាមួយ</a:t>
            </a:r>
          </a:p>
          <a:p>
            <a:pPr algn="l"/>
            <a:r>
              <a:rPr sz="1200">
                <a:solidFill>
                  <a:srgbClr val="E54747"/>
                </a:solidFill>
              </a:rPr>
              <a:t>• </a:t>
            </a:r>
            <a:r>
              <a:rPr sz="1200">
                <a:solidFill>
                  <a:srgbClr val="AAAABB"/>
                </a:solidFill>
              </a:rPr>
              <a:t>Empty states បង្ហាញ text ប្រផេះធម្មតា</a:t>
            </a:r>
          </a:p>
          <a:p>
            <a:pPr algn="l"/>
            <a:r>
              <a:rPr sz="1200">
                <a:solidFill>
                  <a:srgbClr val="E54747"/>
                </a:solidFill>
              </a:rPr>
              <a:t>• </a:t>
            </a:r>
            <a:r>
              <a:rPr sz="1200">
                <a:solidFill>
                  <a:srgbClr val="AAAABB"/>
                </a:solidFill>
              </a:rPr>
              <a:t>VoiceOver អានតែ elements ដើម</a:t>
            </a:r>
          </a:p>
          <a:p>
            <a:pPr algn="l"/>
            <a:r>
              <a:rPr sz="1200">
                <a:solidFill>
                  <a:srgbClr val="E54747"/>
                </a:solidFill>
              </a:rPr>
              <a:t>• </a:t>
            </a:r>
            <a:r>
              <a:rPr sz="1200">
                <a:solidFill>
                  <a:srgbClr val="AAAABB"/>
                </a:solidFill>
              </a:rPr>
              <a:t>White backgrounds hardcoded ខូចក្នុង dark mode</a:t>
            </a:r>
          </a:p>
          <a:p>
            <a:pPr algn="l"/>
            <a:r>
              <a:rPr sz="1200">
                <a:solidFill>
                  <a:srgbClr val="E54747"/>
                </a:solidFill>
              </a:rPr>
              <a:t>• </a:t>
            </a:r>
            <a:r>
              <a:rPr sz="1200">
                <a:solidFill>
                  <a:srgbClr val="AAAABB"/>
                </a:solidFill>
              </a:rPr>
              <a:t>គ្មាន loading indicator ពេលទាញទិន្នន័យ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914400"/>
            <a:ext cx="5669280" cy="5577840"/>
          </a:xfrm>
          <a:prstGeom prst="rect">
            <a:avLst/>
          </a:prstGeom>
          <a:solidFill>
            <a:srgbClr val="0F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914400"/>
            <a:ext cx="5669280" cy="41148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95097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✅  ក្រោយ (Week 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41732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BB889"/>
                </a:solidFill>
              </a:rPr>
              <a:t>• </a:t>
            </a:r>
            <a:r>
              <a:rPr sz="1200">
                <a:solidFill>
                  <a:srgbClr val="FFFFFF"/>
                </a:solidFill>
              </a:rPr>
              <a:t>.farmCard() modifier ប្រមូលរំដោះ card styling ទាំងអស់</a:t>
            </a:r>
          </a:p>
          <a:p>
            <a:pPr algn="l"/>
            <a:r>
              <a:rPr sz="1200">
                <a:solidFill>
                  <a:srgbClr val="1BB889"/>
                </a:solidFill>
              </a:rPr>
              <a:t>• </a:t>
            </a:r>
            <a:r>
              <a:rPr sz="1200">
                <a:solidFill>
                  <a:srgbClr val="FFFFFF"/>
                </a:solidFill>
              </a:rPr>
              <a:t>.scalePress() ឱ្យ animation ចុចដូចស្ព្រីង</a:t>
            </a:r>
          </a:p>
          <a:p>
            <a:pPr algn="l"/>
            <a:r>
              <a:rPr sz="1200">
                <a:solidFill>
                  <a:srgbClr val="1BB889"/>
                </a:solidFill>
              </a:rPr>
              <a:t>• </a:t>
            </a:r>
            <a:r>
              <a:rPr sz="1200">
                <a:solidFill>
                  <a:srgbClr val="FFFFFF"/>
                </a:solidFill>
              </a:rPr>
              <a:t>.fadeIn(delay:) ធ្វើ rows លេចចេញម្ដងៗ</a:t>
            </a:r>
          </a:p>
          <a:p>
            <a:pPr algn="l"/>
            <a:r>
              <a:rPr sz="1200">
                <a:solidFill>
                  <a:srgbClr val="1BB889"/>
                </a:solidFill>
              </a:rPr>
              <a:t>• </a:t>
            </a:r>
            <a:r>
              <a:rPr sz="1200">
                <a:solidFill>
                  <a:srgbClr val="FFFFFF"/>
                </a:solidFill>
              </a:rPr>
              <a:t>.refreshable {} លើ Dashboard, Finance, PestGuide</a:t>
            </a:r>
          </a:p>
          <a:p>
            <a:pPr algn="l"/>
            <a:r>
              <a:rPr sz="1200">
                <a:solidFill>
                  <a:srgbClr val="1BB889"/>
                </a:solidFill>
              </a:rPr>
              <a:t>• </a:t>
            </a:r>
            <a:r>
              <a:rPr sz="1200">
                <a:solidFill>
                  <a:srgbClr val="FFFFFF"/>
                </a:solidFill>
              </a:rPr>
              <a:t>EmptyStateView ជាមួយ icon + title + button</a:t>
            </a:r>
          </a:p>
          <a:p>
            <a:pPr algn="l"/>
            <a:r>
              <a:rPr sz="1200">
                <a:solidFill>
                  <a:srgbClr val="1BB889"/>
                </a:solidFill>
              </a:rPr>
              <a:t>• </a:t>
            </a:r>
            <a:r>
              <a:rPr sz="1200">
                <a:solidFill>
                  <a:srgbClr val="FFFFFF"/>
                </a:solidFill>
              </a:rPr>
              <a:t>accessibilityLabel លើ elements focus-able ទាំងអស់</a:t>
            </a:r>
          </a:p>
          <a:p>
            <a:pPr algn="l"/>
            <a:r>
              <a:rPr sz="1200">
                <a:solidFill>
                  <a:srgbClr val="1BB889"/>
                </a:solidFill>
              </a:rPr>
              <a:t>• </a:t>
            </a:r>
            <a:r>
              <a:rPr sz="1200">
                <a:solidFill>
                  <a:srgbClr val="FFFFFF"/>
                </a:solidFill>
              </a:rPr>
              <a:t>Color(.systemBackground) ស្ដាប់ light/dark ដោយស្វ័យ</a:t>
            </a:r>
          </a:p>
          <a:p>
            <a:pPr algn="l"/>
            <a:r>
              <a:rPr sz="1200">
                <a:solidFill>
                  <a:srgbClr val="1BB889"/>
                </a:solidFill>
              </a:rPr>
              <a:t>• </a:t>
            </a:r>
            <a:r>
              <a:rPr sz="1200">
                <a:solidFill>
                  <a:srgbClr val="FFFFFF"/>
                </a:solidFill>
              </a:rPr>
              <a:t>LoadingRowView skeleton ពេល refresh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1672" y="64739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BB889"/>
                </a:solidFill>
              </a:rPr>
              <a:t>🎯  សង្ខេប &amp; ជំហានបន្ទាប់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លទ្ធផល Week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5760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1BB889"/>
                </a:solidFill>
              </a:rPr>
              <a:t>• </a:t>
            </a:r>
            <a:r>
              <a:rPr sz="1250">
                <a:solidFill>
                  <a:srgbClr val="FFFFFF"/>
                </a:solidFill>
              </a:rPr>
              <a:t>Components/ViewModifiers.swift — modifiers 5 + View extensions</a:t>
            </a:r>
          </a:p>
          <a:p>
            <a:pPr algn="l"/>
            <a:r>
              <a:rPr sz="1250">
                <a:solidFill>
                  <a:srgbClr val="1BB889"/>
                </a:solidFill>
              </a:rPr>
              <a:t>• </a:t>
            </a:r>
            <a:r>
              <a:rPr sz="1250">
                <a:solidFill>
                  <a:srgbClr val="FFFFFF"/>
                </a:solidFill>
              </a:rPr>
              <a:t>Components/FarmCard.swift — generic card container</a:t>
            </a:r>
          </a:p>
          <a:p>
            <a:pPr algn="l"/>
            <a:r>
              <a:rPr sz="1250">
                <a:solidFill>
                  <a:srgbClr val="1BB889"/>
                </a:solidFill>
              </a:rPr>
              <a:t>• </a:t>
            </a:r>
            <a:r>
              <a:rPr sz="1250">
                <a:solidFill>
                  <a:srgbClr val="FFFFFF"/>
                </a:solidFill>
              </a:rPr>
              <a:t>Components/PrimaryButton.swift — button variants ០៣</a:t>
            </a:r>
          </a:p>
          <a:p>
            <a:pPr algn="l"/>
            <a:r>
              <a:rPr sz="1250">
                <a:solidFill>
                  <a:srgbClr val="1BB889"/>
                </a:solidFill>
              </a:rPr>
              <a:t>• </a:t>
            </a:r>
            <a:r>
              <a:rPr sz="1250">
                <a:solidFill>
                  <a:srgbClr val="FFFFFF"/>
                </a:solidFill>
              </a:rPr>
              <a:t>Components/SectionHeader.swift — header + skeleton + empty state</a:t>
            </a:r>
          </a:p>
          <a:p>
            <a:pPr algn="l"/>
            <a:r>
              <a:rPr sz="1250">
                <a:solidFill>
                  <a:srgbClr val="1BB889"/>
                </a:solidFill>
              </a:rPr>
              <a:t>• </a:t>
            </a:r>
            <a:r>
              <a:rPr sz="1250">
                <a:solidFill>
                  <a:srgbClr val="FFFFFF"/>
                </a:solidFill>
              </a:rPr>
              <a:t>Dashboard: fade-in stagger, pull-to-refresh, accessibility labels</a:t>
            </a:r>
          </a:p>
          <a:p>
            <a:pPr algn="l"/>
            <a:r>
              <a:rPr sz="1250">
                <a:solidFill>
                  <a:srgbClr val="1BB889"/>
                </a:solidFill>
              </a:rPr>
              <a:t>• </a:t>
            </a:r>
            <a:r>
              <a:rPr sz="1250">
                <a:solidFill>
                  <a:srgbClr val="FFFFFF"/>
                </a:solidFill>
              </a:rPr>
              <a:t>PestGuide: fade ក្នុង row, skeleton loading, refreshable list</a:t>
            </a:r>
          </a:p>
          <a:p>
            <a:pPr algn="l"/>
            <a:r>
              <a:rPr sz="1250">
                <a:solidFill>
                  <a:srgbClr val="1BB889"/>
                </a:solidFill>
              </a:rPr>
              <a:t>• </a:t>
            </a:r>
            <a:r>
              <a:rPr sz="1250">
                <a:solidFill>
                  <a:srgbClr val="FFFFFF"/>
                </a:solidFill>
              </a:rPr>
              <a:t>Finance: summary cards staggered, pull-to-refresh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9144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ខាងមុខ — Week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25880"/>
            <a:ext cx="5394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287DFA"/>
                </a:solidFill>
              </a:rPr>
              <a:t>• </a:t>
            </a:r>
            <a:r>
              <a:rPr sz="1250">
                <a:solidFill>
                  <a:srgbClr val="FFFFFF"/>
                </a:solidFill>
              </a:rPr>
              <a:t>CloudKit sync — ចែករំលែកទិន្នន័យចម្ការ</a:t>
            </a:r>
          </a:p>
          <a:p>
            <a:pPr algn="l"/>
            <a:r>
              <a:rPr sz="1250">
                <a:solidFill>
                  <a:srgbClr val="287DFA"/>
                </a:solidFill>
              </a:rPr>
              <a:t>• </a:t>
            </a:r>
            <a:r>
              <a:rPr sz="1250">
                <a:solidFill>
                  <a:srgbClr val="FFFFFF"/>
                </a:solidFill>
              </a:rPr>
              <a:t>WidgetKit — សង្ខេបចម្ការ Home Screen</a:t>
            </a:r>
          </a:p>
          <a:p>
            <a:pPr algn="l"/>
            <a:r>
              <a:rPr sz="1250">
                <a:solidFill>
                  <a:srgbClr val="287DFA"/>
                </a:solidFill>
              </a:rPr>
              <a:t>• </a:t>
            </a:r>
            <a:r>
              <a:rPr sz="1250">
                <a:solidFill>
                  <a:srgbClr val="FFFFFF"/>
                </a:solidFill>
              </a:rPr>
              <a:t>Checklist ដាក់ App Store</a:t>
            </a:r>
          </a:p>
          <a:p>
            <a:pPr algn="l"/>
            <a:r>
              <a:rPr sz="1250">
                <a:solidFill>
                  <a:srgbClr val="287DFA"/>
                </a:solidFill>
              </a:rPr>
              <a:t>• </a:t>
            </a:r>
            <a:r>
              <a:rPr sz="1250">
                <a:solidFill>
                  <a:srgbClr val="FFFFFF"/>
                </a:solidFill>
              </a:rPr>
              <a:t>TestFlight distribution ខាងក្នុង</a:t>
            </a:r>
          </a:p>
          <a:p>
            <a:pPr algn="l"/>
            <a:r>
              <a:rPr sz="1250">
                <a:solidFill>
                  <a:srgbClr val="287DFA"/>
                </a:solidFill>
              </a:rPr>
              <a:t>• </a:t>
            </a:r>
            <a:r>
              <a:rPr sz="1250">
                <a:solidFill>
                  <a:srgbClr val="FFFFFF"/>
                </a:solidFill>
              </a:rPr>
              <a:t>Performance profiling ជាមួយ Instruments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5349240"/>
            <a:ext cx="11658600" cy="1143000"/>
          </a:xfrm>
          <a:prstGeom prst="rect">
            <a:avLst/>
          </a:prstGeom>
          <a:solidFill>
            <a:srgbClr val="1B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539496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💡  ចំណាំសំខាន់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742432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UX ស្អាតមិនមែនអំពីការបន្ថែម complexity — វាអំពីការប្រើ patterns ស៊ីសង្វាក់ (ViewModifiers, reusable components) ដែលធ្វើ interactions ទាំងអស់ ចេះចង់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1672" y="64739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AAAABB"/>
                </a:solidFill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