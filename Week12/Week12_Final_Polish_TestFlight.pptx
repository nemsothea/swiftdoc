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C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2743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AABB"/>
                </a:solidFill>
              </a:rPr>
              <a:t>SmartFarmer Assistant · iOS SwiftUI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229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00C9C8"/>
                </a:solidFill>
              </a:rPr>
              <a:t>Week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600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ការតុបតែងចុងក្រោយ &amp; TestFlight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260604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AAAABB"/>
                </a:solidFill>
              </a:rPr>
              <a:t>រៀបចំសម្រាប់ការសាកល្បងកសិករពិត —
App icon, launch screen, TestFlight &amp; ការណែនាំ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3931920"/>
            <a:ext cx="2011680" cy="457200"/>
          </a:xfrm>
          <a:prstGeom prst="rect">
            <a:avLst/>
          </a:prstGeom>
          <a:solidFill>
            <a:srgbClr val="00C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3977639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🎨  ការតុបតែង App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0320" y="3931920"/>
            <a:ext cx="2011680" cy="457200"/>
          </a:xfrm>
          <a:prstGeom prst="rect">
            <a:avLst/>
          </a:prstGeom>
          <a:solidFill>
            <a:srgbClr val="287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51760" y="3977639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🚀  TestFlight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46320" y="3931920"/>
            <a:ext cx="2011680" cy="457200"/>
          </a:xfrm>
          <a:prstGeom prst="rect">
            <a:avLst/>
          </a:prstGeom>
          <a:solidFill>
            <a:srgbClr val="1BB8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59" y="3977639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📖  ការណែនាំ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0" y="3931920"/>
            <a:ext cx="2011680" cy="457200"/>
          </a:xfrm>
          <a:prstGeom prst="rect">
            <a:avLst/>
          </a:prstGeom>
          <a:solidFill>
            <a:srgbClr val="F396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59" y="3977639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📣  មតិ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418320" y="3931920"/>
            <a:ext cx="2011680" cy="45720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0" y="3977639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🏆  Demo ចុងក្រោយ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02952" y="64008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AAAABB"/>
                </a:solidFill>
              </a:rPr>
              <a:t>Week 12 ក្នុង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C9C8"/>
                </a:solidFill>
              </a:rPr>
              <a:t>🎯  គោលបំណងរៀន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430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700">
                <a:solidFill>
                  <a:srgbClr val="FFFFFF"/>
                </a:solidFill>
              </a:rPr>
              <a:t>• Design និង export icon set app ប្រធានបទចម្ការ (ទំហំទាំងអស់) ដោយ SF Symbols / Figma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FFFFFF"/>
                </a:solidFill>
              </a:rPr>
              <a:t>• Configure LaunchScreen.storyboard ជាមួយ splash screen ម៉ាក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FFFFFF"/>
                </a:solidFill>
              </a:rPr>
              <a:t>• កំណត់ bundle ID, display name, version/build numbers ត្រឹមត្រូវ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FFFFFF"/>
                </a:solidFill>
              </a:rPr>
              <a:t>• Archive ហើយ upload build ទៅ App Store Connect ដោយ Xcode Organizer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FFFFFF"/>
                </a:solidFill>
              </a:rPr>
              <a:t>• បង្កើត TestFlight beta group ហើយអញ្ជើញកសិករពិតជា testers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FFFFFF"/>
                </a:solidFill>
              </a:rPr>
              <a:t>• បង្កើតផ្ទាំងណែនាំ in-app ដែលពន្យល់ features ដល់ users ថ្មី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FFFFFF"/>
                </a:solidFill>
              </a:rPr>
              <a:t>• Design ផែនការ feedback ដែលស្ថានភាពប្រមូលទិន្នន័យ ពីកសិករ testers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FFFFFF"/>
                </a:solidFill>
              </a:rPr>
              <a:t>• សរសេរ README ចុងក្រោយ ឯកសារ architecture, features, ការ run project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🎨  App Icon &amp; Launch Screen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058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C9C8"/>
                </a:solidFill>
              </a:rPr>
              <a:t>ទំហំ Icon ដែលត្រូវការ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63040"/>
            <a:ext cx="5486400" cy="6858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9C8"/>
                </a:solidFill>
              </a:rPr>
              <a:t>iPhone Notification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AABB"/>
                </a:solidFill>
              </a:rPr>
              <a:t>20 pt  → 40×40 / 60×60 px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286000"/>
            <a:ext cx="5486400" cy="6858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3774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9C8"/>
                </a:solidFill>
              </a:rPr>
              <a:t>iPhone Settings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5176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AABB"/>
                </a:solidFill>
              </a:rPr>
              <a:t>29 pt  → 58×58 / 87×87 px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3108960"/>
            <a:ext cx="5486400" cy="6858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32004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9C8"/>
                </a:solidFill>
              </a:rPr>
              <a:t>iPhone Spotlight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47472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AABB"/>
                </a:solidFill>
              </a:rPr>
              <a:t>40 pt  → 80×80 / 120×120 px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3931920"/>
            <a:ext cx="5486400" cy="6858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023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9C8"/>
                </a:solidFill>
              </a:rPr>
              <a:t>iPhone App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29768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AABB"/>
                </a:solidFill>
              </a:rPr>
              <a:t>60 pt  → 120×120 / 180×180 px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4754880"/>
            <a:ext cx="5486400" cy="6858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463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9C8"/>
                </a:solidFill>
              </a:rPr>
              <a:t>App Store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12064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AABB"/>
                </a:solidFill>
              </a:rPr>
              <a:t>1024 pt → 1024×1024 px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100584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39620"/>
                </a:solidFill>
              </a:rPr>
              <a:t>LaunchScreen.storyboard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0" y="1417320"/>
            <a:ext cx="3200400" cy="50292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903720" y="1463040"/>
            <a:ext cx="3108960" cy="4937760"/>
          </a:xfrm>
          <a:prstGeom prst="rect">
            <a:avLst/>
          </a:prstGeom>
          <a:solidFill>
            <a:srgbClr val="125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0" y="2560320"/>
            <a:ext cx="1097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>
                <a:solidFill>
                  <a:srgbClr val="FFFFFF"/>
                </a:solidFill>
              </a:rPr>
              <a:t>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3749039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SmartFarmer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95160" y="425196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AAAABB"/>
                </a:solidFill>
              </a:rPr>
              <a:t>ជំនួយស្មាតសម្រាប់
កសិករ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0" y="2103120"/>
            <a:ext cx="56692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• ប្រើ UIImageView សម្រាប់ logo នៅចំកណ្ដាល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• កំណត់ background color ឱ្យស្របតាម theme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• បន្ថែម CFBundleDisplayName ក្នុង Info.plist ចំពោះឈ្មោះខ្មែរ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• គ្មាន animations — LaunchScreen ត្រូវ static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⚙️  Identity App — Bundle ID, ឈ្មោះ &amp; Version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51560"/>
            <a:ext cx="2560320" cy="658368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926080" y="1051560"/>
            <a:ext cx="3657600" cy="65836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0" y="1051560"/>
            <a:ext cx="5212080" cy="658368"/>
          </a:xfrm>
          <a:prstGeom prst="rect">
            <a:avLst/>
          </a:prstGeom>
          <a:solidFill>
            <a:srgbClr val="10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16151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9C8"/>
                </a:solidFill>
              </a:rPr>
              <a:t>Display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63240" y="1216151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SmartFarmer Assistant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2280" y="1216151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</a:rPr>
              <a:t>បង្ហាញពីក្រោម app icon ផ្ទាំងដើម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847088"/>
            <a:ext cx="2560320" cy="658368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926080" y="1847088"/>
            <a:ext cx="3657600" cy="65836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0" y="1847088"/>
            <a:ext cx="5212080" cy="658368"/>
          </a:xfrm>
          <a:prstGeom prst="rect">
            <a:avLst/>
          </a:prstGeom>
          <a:solidFill>
            <a:srgbClr val="10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20116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9C8"/>
                </a:solidFill>
              </a:rPr>
              <a:t>Bundle 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63240" y="20116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com.yourname.smartfarmer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80" y="20116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</a:rPr>
              <a:t>តែមួយ — ត្រូវដូចគ្នា App Store Connect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642615"/>
            <a:ext cx="2560320" cy="658368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26080" y="2642615"/>
            <a:ext cx="3657600" cy="65836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2642615"/>
            <a:ext cx="5212080" cy="658368"/>
          </a:xfrm>
          <a:prstGeom prst="rect">
            <a:avLst/>
          </a:prstGeom>
          <a:solidFill>
            <a:srgbClr val="10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2807208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9C8"/>
                </a:solidFill>
              </a:rPr>
              <a:t>Version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63240" y="280720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1.0.0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80" y="280720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</a:rPr>
              <a:t>Version marketing បង្ហាញដល់ users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3438144"/>
            <a:ext cx="2560320" cy="658368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926080" y="3438144"/>
            <a:ext cx="3657600" cy="65836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675120" y="3438144"/>
            <a:ext cx="5212080" cy="658368"/>
          </a:xfrm>
          <a:prstGeom prst="rect">
            <a:avLst/>
          </a:prstGeom>
          <a:solidFill>
            <a:srgbClr val="10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3602736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9C8"/>
                </a:solidFill>
              </a:rPr>
              <a:t>Build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63240" y="3602736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2280" y="3602736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</a:rPr>
              <a:t>Build number ខាងក្នុង — បង្កើនរៀងរាល់ upload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233672"/>
            <a:ext cx="2560320" cy="658368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926080" y="4233672"/>
            <a:ext cx="3657600" cy="65836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675120" y="4233672"/>
            <a:ext cx="5212080" cy="658368"/>
          </a:xfrm>
          <a:prstGeom prst="rect">
            <a:avLst/>
          </a:prstGeom>
          <a:solidFill>
            <a:srgbClr val="10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4398264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9C8"/>
                </a:solidFill>
              </a:rPr>
              <a:t>Min Deployment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63240" y="4398264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iOS 13.0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2280" y="4398264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</a:rPr>
              <a:t>គ្របដណ្ដប់ 99%+ iPhones ដំណើរការ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5029200"/>
            <a:ext cx="2560320" cy="658368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926080" y="5029200"/>
            <a:ext cx="3657600" cy="65836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675120" y="5029200"/>
            <a:ext cx="5212080" cy="658368"/>
          </a:xfrm>
          <a:prstGeom prst="rect">
            <a:avLst/>
          </a:prstGeom>
          <a:solidFill>
            <a:srgbClr val="10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5193792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9C8"/>
                </a:solidFill>
              </a:rPr>
              <a:t>Device Family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63240" y="519379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iPhone only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12280" y="51937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</a:rPr>
              <a:t>កំណត់ iPad បើចង់ universal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5824727"/>
            <a:ext cx="2560320" cy="658368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926080" y="5824727"/>
            <a:ext cx="3657600" cy="65836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675120" y="5824727"/>
            <a:ext cx="5212080" cy="658368"/>
          </a:xfrm>
          <a:prstGeom prst="rect">
            <a:avLst/>
          </a:prstGeom>
          <a:solidFill>
            <a:srgbClr val="10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1480" y="5989319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9C8"/>
                </a:solidFill>
              </a:rPr>
              <a:t>Orientations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063240" y="5989319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Portrait only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12280" y="5989319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</a:rPr>
              <a:t>Lock ដើម្បីប្រើ — ការពារ rotation ចៃដន្យ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1480" y="804672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AAAABB"/>
                </a:solidFill>
              </a:rPr>
              <a:t>ការកំណត់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063240" y="80467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AAAABB"/>
                </a:solidFill>
              </a:rPr>
              <a:t>តម្លៃ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12280" y="80467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AAAABB"/>
                </a:solidFill>
              </a:rPr>
              <a:t>ដំបូន្មាន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🚀  ការរៀបចំ TestFlight — ជំហានម្ដងម្ដង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51560"/>
            <a:ext cx="914400" cy="868680"/>
          </a:xfrm>
          <a:prstGeom prst="rect">
            <a:avLst/>
          </a:prstGeom>
          <a:solidFill>
            <a:srgbClr val="00C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1298448"/>
            <a:ext cx="8778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ជំហាន 1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1051560"/>
            <a:ext cx="10607040" cy="8686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17320" y="1097280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9C8"/>
                </a:solidFill>
              </a:rPr>
              <a:t>បង្កើត App Record ក្នុង App Store Connect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490472"/>
            <a:ext cx="10332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</a:rPr>
              <a:t>appstoreconnect.apple.com → My Apps → + → New App
បំពេញ: Platform (iOS), Name, Bundle ID, Primary Language, SKU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167128"/>
            <a:ext cx="914400" cy="868680"/>
          </a:xfrm>
          <a:prstGeom prst="rect">
            <a:avLst/>
          </a:prstGeom>
          <a:solidFill>
            <a:srgbClr val="287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2414016"/>
            <a:ext cx="8778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ជំហាន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80160" y="2167128"/>
            <a:ext cx="10607040" cy="8686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17320" y="2212848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87DFA"/>
                </a:solidFill>
              </a:rPr>
              <a:t>Archive ក្នុង Xcode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606040"/>
            <a:ext cx="10332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</a:rPr>
              <a:t>ជ្រើស 'Any iOS Device (arm64)'
Product → Archive → Xcode Organizer បើកស្វ័យ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3282696"/>
            <a:ext cx="914400" cy="868680"/>
          </a:xfrm>
          <a:prstGeom prst="rect">
            <a:avLst/>
          </a:prstGeom>
          <a:solidFill>
            <a:srgbClr val="1BB8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2608" y="3529584"/>
            <a:ext cx="8778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ជំហាន 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80160" y="3282696"/>
            <a:ext cx="10607040" cy="8686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17320" y="3328415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B889"/>
                </a:solidFill>
              </a:rPr>
              <a:t>Upload ទៅ App Store Connect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3721608"/>
            <a:ext cx="10332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</a:rPr>
              <a:t>ក្នុង Organizer: Distribute App → Upload
បើក 'Upload your app's symbols'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4398264"/>
            <a:ext cx="914400" cy="868680"/>
          </a:xfrm>
          <a:prstGeom prst="rect">
            <a:avLst/>
          </a:prstGeom>
          <a:solidFill>
            <a:srgbClr val="F396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2608" y="4645152"/>
            <a:ext cx="8778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ជំហាន 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" y="4398264"/>
            <a:ext cx="10607040" cy="8686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17320" y="4443984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39620"/>
                </a:solidFill>
              </a:rPr>
              <a:t>បន្ថែម Beta Testers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4837176"/>
            <a:ext cx="10332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</a:rPr>
              <a:t>App Store Connect → TestFlight → Group
អញ្ជើញ email — កសិករទទួល link ដំឡើង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5513831"/>
            <a:ext cx="914400" cy="86868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2608" y="5760719"/>
            <a:ext cx="8778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ជំហាន 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280160" y="5513831"/>
            <a:ext cx="10607040" cy="8686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17320" y="5559551"/>
            <a:ext cx="10332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8E44AD"/>
                </a:solidFill>
              </a:rPr>
              <a:t>ត្រួតពិនិត្យ &amp; ប្រមូល Feedback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17320" y="5952744"/>
            <a:ext cx="10332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</a:rPr>
              <a:t>TestFlight បង្ហាញ crash logs, screenshots feedback
Testers long-press → Send Feedback ជាមួយ screenshot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📖  ផ្ទាំងណែនាំ In-App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7132320" cy="53949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79" y="1097280"/>
            <a:ext cx="6858000" cy="5212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A8D8FF"/>
                </a:solidFill>
                <a:latin typeface="Courier New"/>
              </a:rPr>
              <a:t>struct UserGuideView: View {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    let sections: [GuideSection] = [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        .init(icon: "dollarsign.circle.fill",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              color: .green,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              title: "ការគ្រប់គ្រងហិរញ្ញវត្ថុ",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              tips: ["ចុច + ដើម្បីបន្ថែមប្រតិបត្តិការ",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                     "ជ្រើសប្រភេទ: ចំណូល ឬ ចំណាយ",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                     "ប្រើតម្រងដើម្បីមើលតាមប្រភេទ"]),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        .init(icon: "calendar.badge.plus",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              color: .blue,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              title: "ប្រតិទិន &amp; ការជូនដំណឹង",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              tips: ["កំណត់ការរំលឹកចម្ការ",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                     "ការជូនដំណឹងមកមុន ១ ថ្ងៃ"]),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        // ... PestGuide, Journal sections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    ]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    var body: some View {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        NavigationView {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            List(sections) { section in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                GuideSectionRow(section: section)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            }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            .navigationTitle("ការណែនាំប្រើប្រាស់")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        }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    }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0" y="100584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B889"/>
                </a:solidFill>
              </a:rPr>
              <a:t>ការអនុវត្ត UX ល្អ</a:t>
            </a:r>
          </a:p>
        </p:txBody>
      </p:sp>
      <p:sp>
        <p:nvSpPr>
          <p:cNvPr id="7" name="Rectangle 6"/>
          <p:cNvSpPr/>
          <p:nvPr/>
        </p:nvSpPr>
        <p:spPr>
          <a:xfrm>
            <a:off x="7589520" y="1508760"/>
            <a:ext cx="4297680" cy="8686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55448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B889"/>
                </a:solidFill>
              </a:rPr>
              <a:t>រក្សាភ្លឺ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911095"/>
            <a:ext cx="4114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</a:rPr>
              <a:t>tips 3-4 per feature
— កសិករ មិនអានអត្ថបទវែង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89520" y="2532888"/>
            <a:ext cx="4297680" cy="8686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26679" y="257860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B889"/>
                </a:solidFill>
              </a:rPr>
              <a:t>ប្រើ SF Symbols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2935224"/>
            <a:ext cx="4114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</a:rPr>
              <a:t>ផ្ដល់ icons ដូចក្នុង app
ដើម្បីកសិករស្គាល់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89520" y="3557016"/>
            <a:ext cx="4297680" cy="8686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26679" y="3602736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B889"/>
                </a:solidFill>
              </a:rPr>
              <a:t>ខ្មែរជាមុន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26679" y="3959352"/>
            <a:ext cx="4114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</a:rPr>
              <a:t>សរសេរ ការណែនាំ ជាខ្មែរ;
បន្ថែម English ក្នុងវង់ក្រចក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89520" y="4581144"/>
            <a:ext cx="4297680" cy="8686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26679" y="4626864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B889"/>
                </a:solidFill>
              </a:rPr>
              <a:t>Screenshot cards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26679" y="4983480"/>
            <a:ext cx="4114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</a:rPr>
              <a:t>បន្ថែម screenshot ពិត
ចំពោះ feature នីមួយៗ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589520" y="5605272"/>
            <a:ext cx="4297680" cy="8686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6679" y="565099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B889"/>
                </a:solidFill>
              </a:rPr>
              <a:t>ចូលតាម ⚙️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26679" y="6007608"/>
            <a:ext cx="4114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</a:rPr>
              <a:t>បន្ថែម ការណែនាំ ក្នុង Settings tab
ឱ្យ​ស្វែងរកបានជានិច្ច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📣  ផែនការប្រមូល Feedback កសិករ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0584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39620"/>
                </a:solidFill>
              </a:rPr>
              <a:t>សំណួរសំខាន់ ដែលត្រូវសួរកសិករ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508760"/>
            <a:ext cx="5486400" cy="8686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508760"/>
            <a:ext cx="54864" cy="868680"/>
          </a:xfrm>
          <a:prstGeom prst="rect">
            <a:avLst/>
          </a:prstGeom>
          <a:solidFill>
            <a:srgbClr val="F396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39620"/>
                </a:solidFill>
              </a:rPr>
              <a:t>💰 Finance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202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Did you record all income &amp; expenses this week?
Were any categories missing?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514600"/>
            <a:ext cx="5486400" cy="8686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2514600"/>
            <a:ext cx="54864" cy="868680"/>
          </a:xfrm>
          <a:prstGeom prst="rect">
            <a:avLst/>
          </a:prstGeom>
          <a:solidFill>
            <a:srgbClr val="F396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5603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39620"/>
                </a:solidFill>
              </a:rPr>
              <a:t>📅 Calendar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92608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Did you receive reminders before farm tasks?
Were times correct?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3520440"/>
            <a:ext cx="5486400" cy="8686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4320" y="3520440"/>
            <a:ext cx="54864" cy="868680"/>
          </a:xfrm>
          <a:prstGeom prst="rect">
            <a:avLst/>
          </a:prstGeom>
          <a:solidFill>
            <a:srgbClr val="F396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5661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39620"/>
                </a:solidFill>
              </a:rPr>
              <a:t>🌿 Pest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3192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Did you find your crop's pest in the guide?
Was the treatment clear enough?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4526280"/>
            <a:ext cx="5486400" cy="8686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320" y="4526280"/>
            <a:ext cx="54864" cy="868680"/>
          </a:xfrm>
          <a:prstGeom prst="rect">
            <a:avLst/>
          </a:prstGeom>
          <a:solidFill>
            <a:srgbClr val="F396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57200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39620"/>
                </a:solidFill>
              </a:rPr>
              <a:t>📓 Journal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93776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Did you add daily notes &amp; photos?
Was the weather picker useful?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5532120"/>
            <a:ext cx="5486400" cy="8686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4320" y="5532120"/>
            <a:ext cx="54864" cy="868680"/>
          </a:xfrm>
          <a:prstGeom prst="rect">
            <a:avLst/>
          </a:prstGeom>
          <a:solidFill>
            <a:srgbClr val="F396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57784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39620"/>
                </a:solidFill>
              </a:rPr>
              <a:t>🏠 Dashboard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94360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Could you see today's summary at a glance?
Was anything confusing?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0" y="100584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C9C8"/>
                </a:solidFill>
              </a:rPr>
              <a:t>វិធីប្រមូល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26480" y="1508760"/>
            <a:ext cx="5669280" cy="10515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26480" y="1508760"/>
            <a:ext cx="54864" cy="1051560"/>
          </a:xfrm>
          <a:prstGeom prst="rect">
            <a:avLst/>
          </a:prstGeom>
          <a:solidFill>
            <a:srgbClr val="00C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1581912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9C8"/>
                </a:solidFill>
              </a:rPr>
              <a:t>TestFlight built-in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1965960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កសិករ long-press → screenshot + comment
→ ផ្ញើដោយផ្ទាល់ App Store Connect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26480" y="2743200"/>
            <a:ext cx="5669280" cy="10515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26480" y="2743200"/>
            <a:ext cx="54864" cy="1051560"/>
          </a:xfrm>
          <a:prstGeom prst="rect">
            <a:avLst/>
          </a:prstGeom>
          <a:solidFill>
            <a:srgbClr val="00C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2816352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9C8"/>
                </a:solidFill>
              </a:rPr>
              <a:t>Form Feedback In-App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3200400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Form សាមញ្ញ: rating 1-5 ⭐ ក្នុង module
+ text field ប្រឹក្សា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26480" y="3977639"/>
            <a:ext cx="5669280" cy="10515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26480" y="3977639"/>
            <a:ext cx="54864" cy="1051560"/>
          </a:xfrm>
          <a:prstGeom prst="rect">
            <a:avLst/>
          </a:prstGeom>
          <a:solidFill>
            <a:srgbClr val="00C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09360" y="4050791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9C8"/>
                </a:solidFill>
              </a:rPr>
              <a:t>WhatsApp / Telegram Group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9360" y="4434840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បង្កើត group beta testers — កសិករ
ចែករំលែក voice messages (ងាយជាង type)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26480" y="5212080"/>
            <a:ext cx="5669280" cy="10515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26480" y="5212080"/>
            <a:ext cx="54864" cy="1051560"/>
          </a:xfrm>
          <a:prstGeom prst="rect">
            <a:avLst/>
          </a:prstGeom>
          <a:solidFill>
            <a:srgbClr val="00C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09360" y="5285232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9C8"/>
                </a:solidFill>
              </a:rPr>
              <a:t>ការសង្កេត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9360" y="5669280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មើល 3-5 កសិករប្រើ app 30 នាទី
ដោយមិនជួយ — កត់ចំណុចវង្វេង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⚙️  Form Feedback In-App — ឧទាហរណ៍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7132320" cy="53949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79" y="1097280"/>
            <a:ext cx="6858000" cy="5212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A8D8FF"/>
                </a:solidFill>
                <a:latin typeface="Courier New"/>
              </a:rPr>
              <a:t>struct FeedbackView: View {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    @State private var rating: Int = 0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    @State private var comment: String = ""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    @State private var submitted = false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/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    var body: some View {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        Form {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            Section("វាយតម្លៃកម្មវិធី") {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                HStack {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                    ForEach(1...5, id: \.self) { star in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                        Image(systemName: star &lt;= rating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                            ? "star.fill" : "star")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                            .foregroundColor(.yellow)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                            .font(.title2)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                            .onTapGesture { rating = star }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                    }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                }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            }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            Section("យោបល់") {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                TextEditor(text: $comment)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                    .frame(minHeight: 100)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            }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            Button("ផ្ញើ") { submitted = true }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                .disabled(rating == 0)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        }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        .navigationTitle("ផ្ញើមតិ")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    }</a:t>
            </a:r>
          </a:p>
          <a:p>
            <a:r>
              <a:rPr sz="1100">
                <a:solidFill>
                  <a:srgbClr val="A8D8FF"/>
                </a:solidFill>
                <a:latin typeface="Courier New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0" y="10058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AAAABB"/>
                </a:solidFill>
              </a:rPr>
              <a:t>Preview</a:t>
            </a:r>
          </a:p>
        </p:txBody>
      </p:sp>
      <p:sp>
        <p:nvSpPr>
          <p:cNvPr id="7" name="Rectangle 6"/>
          <p:cNvSpPr/>
          <p:nvPr/>
        </p:nvSpPr>
        <p:spPr>
          <a:xfrm>
            <a:off x="7589520" y="1463040"/>
            <a:ext cx="4297680" cy="49377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0" y="160020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9C8"/>
                </a:solidFill>
              </a:rPr>
              <a:t>វាយតម្លៃកម្មវិធី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205740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D700"/>
                </a:solidFill>
              </a:rPr>
              <a:t>★ ★ ★ ★ 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26517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9C8"/>
                </a:solidFill>
              </a:rPr>
              <a:t>យោបល់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3063240"/>
            <a:ext cx="4114800" cy="1097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0" y="3108960"/>
            <a:ext cx="3931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AABB"/>
                </a:solidFill>
              </a:rPr>
              <a:t>ផ្នែកប្រតិទិនល្អណាស់!
ចង់បានប្រភេទពាណិជ្ជកម្ម
បន្ថែម...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4343400"/>
            <a:ext cx="2834640" cy="502920"/>
          </a:xfrm>
          <a:prstGeom prst="rect">
            <a:avLst/>
          </a:prstGeom>
          <a:solidFill>
            <a:srgbClr val="00C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2440" y="441655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ផ្ញើ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5029200"/>
            <a:ext cx="4297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39620"/>
                </a:solidFill>
              </a:rPr>
              <a:t>⭐ Ask farmers to rate EACH module
    separately for granular feedback.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🔧  Live Coding — Archive &amp; Upload to TestFlight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0584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C9C8"/>
                </a:solidFill>
              </a:rPr>
              <a:t>Pre-Archive Checklist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508760"/>
            <a:ext cx="5486400" cy="56692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618488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BB889"/>
                </a:solidFill>
              </a:rPr>
              <a:t>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618488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Scheme set to Release (not Debug)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212848"/>
            <a:ext cx="5486400" cy="56692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2322576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BB889"/>
                </a:solidFill>
              </a:rPr>
              <a:t>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322576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Version: 1.0.0 · Build: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916936"/>
            <a:ext cx="5486400" cy="56692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026664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BB889"/>
                </a:solidFill>
              </a:rPr>
              <a:t>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026664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Signing: Automatic, your Team selected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3621024"/>
            <a:ext cx="5486400" cy="56692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73075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BB889"/>
                </a:solidFill>
              </a:rPr>
              <a:t>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730752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All DEBUG code removed (print statements)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4325112"/>
            <a:ext cx="5486400" cy="56692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4434840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BB889"/>
                </a:solidFill>
              </a:rPr>
              <a:t>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434840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App icon set — no missing sizes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5029200"/>
            <a:ext cx="5486400" cy="56692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5138928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BB889"/>
                </a:solidFill>
              </a:rPr>
              <a:t>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138928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LaunchScreen configured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733288"/>
            <a:ext cx="5486400" cy="56692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5843016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BB889"/>
                </a:solidFill>
              </a:rPr>
              <a:t>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843016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Destination: Any iOS Device (arm64)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0" y="100584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39620"/>
                </a:solidFill>
              </a:rPr>
              <a:t>Upload Steps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26480" y="1508760"/>
            <a:ext cx="457200" cy="530352"/>
          </a:xfrm>
          <a:prstGeom prst="rect">
            <a:avLst/>
          </a:prstGeom>
          <a:solidFill>
            <a:srgbClr val="F396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44768" y="1600200"/>
            <a:ext cx="4206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5120" y="1508760"/>
            <a:ext cx="5212080" cy="53035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12280" y="161848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Product → Archive  (wait 2-5 min for build)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26480" y="2194560"/>
            <a:ext cx="457200" cy="530352"/>
          </a:xfrm>
          <a:prstGeom prst="rect">
            <a:avLst/>
          </a:prstGeom>
          <a:solidFill>
            <a:srgbClr val="F396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44768" y="2286000"/>
            <a:ext cx="4206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5120" y="2194560"/>
            <a:ext cx="5212080" cy="53035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12280" y="230428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Organizer window opens automatically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26480" y="2880360"/>
            <a:ext cx="457200" cy="530352"/>
          </a:xfrm>
          <a:prstGeom prst="rect">
            <a:avLst/>
          </a:prstGeom>
          <a:solidFill>
            <a:srgbClr val="F396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44768" y="2971800"/>
            <a:ext cx="4206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675120" y="2880360"/>
            <a:ext cx="5212080" cy="53035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12280" y="299008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Select archive → Distribute App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26480" y="3566160"/>
            <a:ext cx="457200" cy="530352"/>
          </a:xfrm>
          <a:prstGeom prst="rect">
            <a:avLst/>
          </a:prstGeom>
          <a:solidFill>
            <a:srgbClr val="F396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44768" y="3657600"/>
            <a:ext cx="4206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75120" y="3566160"/>
            <a:ext cx="5212080" cy="53035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12280" y="3675887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Choose: App Store Connect → Next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26480" y="4251960"/>
            <a:ext cx="457200" cy="530352"/>
          </a:xfrm>
          <a:prstGeom prst="rect">
            <a:avLst/>
          </a:prstGeom>
          <a:solidFill>
            <a:srgbClr val="F396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44768" y="4343400"/>
            <a:ext cx="4206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675120" y="4251960"/>
            <a:ext cx="5212080" cy="53035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12280" y="436168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Upload (not Export) → keep all checkboxes 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26480" y="4937760"/>
            <a:ext cx="457200" cy="530352"/>
          </a:xfrm>
          <a:prstGeom prst="rect">
            <a:avLst/>
          </a:prstGeom>
          <a:solidFill>
            <a:srgbClr val="F396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44768" y="5029200"/>
            <a:ext cx="4206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675120" y="4937760"/>
            <a:ext cx="5212080" cy="53035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812280" y="504748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Wait for processing email (5-30 min)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26480" y="5623560"/>
            <a:ext cx="457200" cy="530352"/>
          </a:xfrm>
          <a:prstGeom prst="rect">
            <a:avLst/>
          </a:prstGeom>
          <a:solidFill>
            <a:srgbClr val="F396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44768" y="5715000"/>
            <a:ext cx="4206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675120" y="5623560"/>
            <a:ext cx="5212080" cy="53035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812280" y="573328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App Store Connect → TestFlight → Select build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26480" y="6309360"/>
            <a:ext cx="457200" cy="530352"/>
          </a:xfrm>
          <a:prstGeom prst="rect">
            <a:avLst/>
          </a:prstGeom>
          <a:solidFill>
            <a:srgbClr val="F396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44768" y="6400800"/>
            <a:ext cx="4206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675120" y="6309360"/>
            <a:ext cx="5212080" cy="53035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812280" y="641908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Add Internal Testers → Send Invitations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🐛  Common Mistakes &amp; How to Fix Them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51560"/>
            <a:ext cx="54864" cy="804672"/>
          </a:xfrm>
          <a:prstGeom prst="rect">
            <a:avLst/>
          </a:prstGeom>
          <a:solidFill>
            <a:srgbClr val="E5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7589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54747"/>
                </a:solidFill>
              </a:rPr>
              <a:t>❌ Wrong destination selected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3"/>
            <a:ext cx="7589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AABB"/>
                </a:solidFill>
              </a:rPr>
              <a:t>→ Archive greys out or produces simulator build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0" y="1051560"/>
            <a:ext cx="54864" cy="804672"/>
          </a:xfrm>
          <a:prstGeom prst="rect">
            <a:avLst/>
          </a:prstGeom>
          <a:solidFill>
            <a:srgbClr val="1BB8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66760" y="1216151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BB889"/>
                </a:solidFill>
              </a:rPr>
              <a:t>✅ Always select 'Any iOS Device (arm64)' before archiving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020824"/>
            <a:ext cx="54864" cy="804672"/>
          </a:xfrm>
          <a:prstGeom prst="rect">
            <a:avLst/>
          </a:prstGeom>
          <a:solidFill>
            <a:srgbClr val="E5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020824"/>
            <a:ext cx="7589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54747"/>
                </a:solidFill>
              </a:rPr>
              <a:t>❌ Bundle ID mismatch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350008"/>
            <a:ext cx="7589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AABB"/>
                </a:solidFill>
              </a:rPr>
              <a:t>→ Upload fails: 'No app found with bundle ID'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2020824"/>
            <a:ext cx="54864" cy="804672"/>
          </a:xfrm>
          <a:prstGeom prst="rect">
            <a:avLst/>
          </a:prstGeom>
          <a:solidFill>
            <a:srgbClr val="1BB8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2185416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BB889"/>
                </a:solidFill>
              </a:rPr>
              <a:t>✅ Bundle ID in Xcode must exactly match App Store Connect record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990088"/>
            <a:ext cx="54864" cy="804672"/>
          </a:xfrm>
          <a:prstGeom prst="rect">
            <a:avLst/>
          </a:prstGeom>
          <a:solidFill>
            <a:srgbClr val="E5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990088"/>
            <a:ext cx="7589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54747"/>
                </a:solidFill>
              </a:rPr>
              <a:t>❌ Missing icon sizes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319272"/>
            <a:ext cx="7589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AABB"/>
                </a:solidFill>
              </a:rPr>
              <a:t>→ Upload fails: 'Invalid App Store Icon'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2990088"/>
            <a:ext cx="54864" cy="804672"/>
          </a:xfrm>
          <a:prstGeom prst="rect">
            <a:avLst/>
          </a:prstGeom>
          <a:solidFill>
            <a:srgbClr val="1BB8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66760" y="3154680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BB889"/>
                </a:solidFill>
              </a:rPr>
              <a:t>✅ Use an icon generator — fill ALL required slots in Assets.xcassets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959352"/>
            <a:ext cx="54864" cy="804672"/>
          </a:xfrm>
          <a:prstGeom prst="rect">
            <a:avLst/>
          </a:prstGeom>
          <a:solidFill>
            <a:srgbClr val="E5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959352"/>
            <a:ext cx="7589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54747"/>
                </a:solidFill>
              </a:rPr>
              <a:t>❌ Build number not incremented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288536"/>
            <a:ext cx="7589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AABB"/>
                </a:solidFill>
              </a:rPr>
              <a:t>→ Upload fails: 'Build already exists'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0" y="3959352"/>
            <a:ext cx="54864" cy="804672"/>
          </a:xfrm>
          <a:prstGeom prst="rect">
            <a:avLst/>
          </a:prstGeom>
          <a:solidFill>
            <a:srgbClr val="1BB8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66760" y="4123944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BB889"/>
                </a:solidFill>
              </a:rPr>
              <a:t>✅ Increment CURRENT_PROJECT_VERSION before every archive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4928616"/>
            <a:ext cx="54864" cy="804672"/>
          </a:xfrm>
          <a:prstGeom prst="rect">
            <a:avLst/>
          </a:prstGeom>
          <a:solidFill>
            <a:srgbClr val="E5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928616"/>
            <a:ext cx="7589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54747"/>
                </a:solidFill>
              </a:rPr>
              <a:t>❌ LaunchScreen uses code/animations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257800"/>
            <a:ext cx="7589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AABB"/>
                </a:solidFill>
              </a:rPr>
              <a:t>→ App rejected or slow launch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0" y="4928616"/>
            <a:ext cx="54864" cy="804672"/>
          </a:xfrm>
          <a:prstGeom prst="rect">
            <a:avLst/>
          </a:prstGeom>
          <a:solidFill>
            <a:srgbClr val="1BB8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66760" y="5093208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BB889"/>
                </a:solidFill>
              </a:rPr>
              <a:t>✅ LaunchScreen.storyboard must be static — no Swift code, no animation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5897880"/>
            <a:ext cx="54864" cy="804672"/>
          </a:xfrm>
          <a:prstGeom prst="rect">
            <a:avLst/>
          </a:prstGeom>
          <a:solidFill>
            <a:srgbClr val="E5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5897880"/>
            <a:ext cx="7589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54747"/>
                </a:solidFill>
              </a:rPr>
              <a:t>❌ Testers can't find TestFlight invite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227064"/>
            <a:ext cx="7589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AABB"/>
                </a:solidFill>
              </a:rPr>
              <a:t>→ Farmers say they received no email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0" y="5897880"/>
            <a:ext cx="54864" cy="804672"/>
          </a:xfrm>
          <a:prstGeom prst="rect">
            <a:avLst/>
          </a:prstGeom>
          <a:solidFill>
            <a:srgbClr val="1BB8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66760" y="6062472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BB889"/>
                </a:solidFill>
              </a:rPr>
              <a:t>✅ Check spam folder; use Internal Testing for first beta (no review wait)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🏆  Final Project 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058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C9C8"/>
                </a:solidFill>
              </a:rPr>
              <a:t>Polish &amp; Submission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508760"/>
            <a:ext cx="5486400" cy="53035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18488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☐ App icon (all sizes)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2167128"/>
            <a:ext cx="5486400" cy="53035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276856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☐ LaunchScreen with farm theme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825496"/>
            <a:ext cx="5486400" cy="53035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935224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☐ Bundle ID &amp; version configured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3483864"/>
            <a:ext cx="5486400" cy="53035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3593592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☐ Release scheme build succeeds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4142231"/>
            <a:ext cx="5486400" cy="53035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251959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☐ App uploaded to TestFlight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4800600"/>
            <a:ext cx="5486400" cy="53035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4910328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☐ 3+ real farmers invited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5458968"/>
            <a:ext cx="5486400" cy="53035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5568696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☐ In-app User Guide screen done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6117336"/>
            <a:ext cx="5486400" cy="53035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227064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☐ Feedback form implemented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100584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39620"/>
                </a:solidFill>
              </a:rPr>
              <a:t>Final Presentation &amp; Docs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1508760"/>
            <a:ext cx="5760720" cy="53035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1618488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☐ README.md with architecture overview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26480" y="2167128"/>
            <a:ext cx="5760720" cy="53035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276856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☐ Feature list with screenshots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26480" y="2825496"/>
            <a:ext cx="5760720" cy="53035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9360" y="2935224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☐ How to run / build instructions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26480" y="3483864"/>
            <a:ext cx="5760720" cy="53035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09360" y="3593592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☐ CoreData schema diagram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26480" y="4142231"/>
            <a:ext cx="5760720" cy="53035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4251959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☐ Known limitations section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26480" y="4800600"/>
            <a:ext cx="5760720" cy="53035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0" y="4910328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☐ Live demo prepared (10 min)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26480" y="5458968"/>
            <a:ext cx="5760720" cy="53035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09360" y="5568696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☐ Farmer feedback summary written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26480" y="6117336"/>
            <a:ext cx="5760720" cy="53035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6227064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☐ Next steps / roadmap documented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00800"/>
            <a:ext cx="11612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00C9C8"/>
                </a:solidFill>
              </a:rPr>
              <a:t>🎯 Goal: Farmers can install and use the app independently without any help from the developer.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C9C8"/>
                </a:solidFill>
              </a:rPr>
              <a:t>🎓  Course Complete — What You Built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143000"/>
            <a:ext cx="5394960" cy="84124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143000"/>
            <a:ext cx="54864" cy="841248"/>
          </a:xfrm>
          <a:prstGeom prst="rect">
            <a:avLst/>
          </a:prstGeom>
          <a:solidFill>
            <a:srgbClr val="1BB8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120700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B889"/>
                </a:solidFill>
              </a:rPr>
              <a:t>💰  Finance Tracker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1618488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</a:rPr>
              <a:t>Income/expense, profit reports, categories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2160" y="1143000"/>
            <a:ext cx="5394960" cy="84124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852160" y="1143000"/>
            <a:ext cx="54864" cy="841248"/>
          </a:xfrm>
          <a:prstGeom prst="rect">
            <a:avLst/>
          </a:prstGeom>
          <a:solidFill>
            <a:srgbClr val="287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16752" y="120700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87DFA"/>
                </a:solidFill>
              </a:rPr>
              <a:t>📅  Calendar &amp; Reminders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16752" y="1618488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</a:rPr>
              <a:t>Activity scheduling, local notifications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148840"/>
            <a:ext cx="5394960" cy="84124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2148840"/>
            <a:ext cx="54864" cy="841248"/>
          </a:xfrm>
          <a:prstGeom prst="rect">
            <a:avLst/>
          </a:prstGeom>
          <a:solidFill>
            <a:srgbClr val="E5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" y="221284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54747"/>
                </a:solidFill>
              </a:rPr>
              <a:t>🌿  Pest &amp; Disease Guide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" y="2624328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</a:rPr>
              <a:t>Offline reference library with search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0" y="2148840"/>
            <a:ext cx="5394960" cy="84124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852160" y="2148840"/>
            <a:ext cx="54864" cy="841248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16752" y="221284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8E44AD"/>
                </a:solidFill>
              </a:rPr>
              <a:t>📓  Daily Journal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16752" y="2624328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</a:rPr>
              <a:t>Notes with photos and weather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154680"/>
            <a:ext cx="5394960" cy="84124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4320" y="3154680"/>
            <a:ext cx="54864" cy="841248"/>
          </a:xfrm>
          <a:prstGeom prst="rect">
            <a:avLst/>
          </a:prstGeom>
          <a:solidFill>
            <a:srgbClr val="00C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8912" y="321868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9C8"/>
                </a:solidFill>
              </a:rPr>
              <a:t>🏠  Dashboard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" y="3630168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</a:rPr>
              <a:t>Unified view of all farm data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852160" y="3154680"/>
            <a:ext cx="5394960" cy="84124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852160" y="3154680"/>
            <a:ext cx="54864" cy="841248"/>
          </a:xfrm>
          <a:prstGeom prst="rect">
            <a:avLst/>
          </a:prstGeom>
          <a:solidFill>
            <a:srgbClr val="F396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16752" y="321868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39620"/>
                </a:solidFill>
              </a:rPr>
              <a:t>📊  Reports &amp; Charts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16752" y="3630168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</a:rPr>
              <a:t>Visual profit/loss analysis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160520"/>
            <a:ext cx="5394960" cy="84124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74320" y="4160520"/>
            <a:ext cx="54864" cy="841248"/>
          </a:xfrm>
          <a:prstGeom prst="rect">
            <a:avLst/>
          </a:prstGeom>
          <a:solidFill>
            <a:srgbClr val="1BB8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8912" y="422452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B889"/>
                </a:solidFill>
              </a:rPr>
              <a:t>🚀  TestFlight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" y="4636008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</a:rPr>
              <a:t>Real-world testing with farmers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0" y="4160520"/>
            <a:ext cx="5394960" cy="84124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200400" y="4160520"/>
            <a:ext cx="54864" cy="841248"/>
          </a:xfrm>
          <a:prstGeom prst="rect">
            <a:avLst/>
          </a:prstGeom>
          <a:solidFill>
            <a:srgbClr val="1BB8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64992" y="422452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B889"/>
                </a:solidFill>
              </a:rPr>
              <a:t>🚀  TestFlight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64992" y="4636008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</a:rPr>
              <a:t>Real-world testing with farmers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943600"/>
            <a:ext cx="11612880" cy="54864"/>
          </a:xfrm>
          <a:prstGeom prst="rect">
            <a:avLst/>
          </a:prstGeom>
          <a:solidFill>
            <a:srgbClr val="00C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4320" y="608076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🌾  You have built a complete, production-ready agricultural app for Cambodian farmers. Ship it. Collect feedback. Iterate.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