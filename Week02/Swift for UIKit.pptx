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7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7" r:id="rId14"/>
    <p:sldId id="308" r:id="rId15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m path" initials="authorId_54098778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601"/>
    <p:restoredTop sz="94660"/>
  </p:normalViewPr>
  <p:slideViewPr>
    <p:cSldViewPr snapToGrid="0" showGuides="1">
      <p:cViewPr varScale="1">
        <p:scale>
          <a:sx n="70" d="100"/>
          <a:sy n="70" d="100"/>
        </p:scale>
        <p:origin x="-75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sldNum="0"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web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7625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矩形 5"/>
          <p:cNvSpPr/>
          <p:nvPr/>
        </p:nvSpPr>
        <p:spPr>
          <a:xfrm flipH="1">
            <a:off x="0" y="2192338"/>
            <a:ext cx="6908800" cy="2162175"/>
          </a:xfrm>
          <a:custGeom>
            <a:avLst/>
            <a:gdLst>
              <a:gd name="connsiteX0" fmla="*/ 0 w 8485632"/>
              <a:gd name="connsiteY0" fmla="*/ 0 h 1490472"/>
              <a:gd name="connsiteX1" fmla="*/ 8485632 w 8485632"/>
              <a:gd name="connsiteY1" fmla="*/ 0 h 1490472"/>
              <a:gd name="connsiteX2" fmla="*/ 8485632 w 8485632"/>
              <a:gd name="connsiteY2" fmla="*/ 1490472 h 1490472"/>
              <a:gd name="connsiteX3" fmla="*/ 0 w 8485632"/>
              <a:gd name="connsiteY3" fmla="*/ 1490472 h 1490472"/>
              <a:gd name="connsiteX4" fmla="*/ 0 w 8485632"/>
              <a:gd name="connsiteY4" fmla="*/ 0 h 1490472"/>
              <a:gd name="connsiteX0-1" fmla="*/ 0 w 8485632"/>
              <a:gd name="connsiteY0-2" fmla="*/ 0 h 1490472"/>
              <a:gd name="connsiteX1-3" fmla="*/ 8485632 w 8485632"/>
              <a:gd name="connsiteY1-4" fmla="*/ 0 h 1490472"/>
              <a:gd name="connsiteX2-5" fmla="*/ 8485632 w 8485632"/>
              <a:gd name="connsiteY2-6" fmla="*/ 1490472 h 1490472"/>
              <a:gd name="connsiteX3-7" fmla="*/ 0 w 8485632"/>
              <a:gd name="connsiteY3-8" fmla="*/ 1490472 h 1490472"/>
              <a:gd name="connsiteX4-9" fmla="*/ 0 w 8485632"/>
              <a:gd name="connsiteY4-10" fmla="*/ 0 h 1490472"/>
              <a:gd name="connsiteX0-11" fmla="*/ 491744 w 8977376"/>
              <a:gd name="connsiteY0-12" fmla="*/ 0 h 1490472"/>
              <a:gd name="connsiteX1-13" fmla="*/ 8977376 w 8977376"/>
              <a:gd name="connsiteY1-14" fmla="*/ 0 h 1490472"/>
              <a:gd name="connsiteX2-15" fmla="*/ 8977376 w 8977376"/>
              <a:gd name="connsiteY2-16" fmla="*/ 1490472 h 1490472"/>
              <a:gd name="connsiteX3-17" fmla="*/ 491744 w 8977376"/>
              <a:gd name="connsiteY3-18" fmla="*/ 1490472 h 1490472"/>
              <a:gd name="connsiteX4-19" fmla="*/ 491744 w 8977376"/>
              <a:gd name="connsiteY4-20" fmla="*/ 0 h 1490472"/>
              <a:gd name="connsiteX0-21" fmla="*/ 617932 w 9103564"/>
              <a:gd name="connsiteY0-22" fmla="*/ 0 h 1490472"/>
              <a:gd name="connsiteX1-23" fmla="*/ 9103564 w 9103564"/>
              <a:gd name="connsiteY1-24" fmla="*/ 0 h 1490472"/>
              <a:gd name="connsiteX2-25" fmla="*/ 9103564 w 9103564"/>
              <a:gd name="connsiteY2-26" fmla="*/ 1490472 h 1490472"/>
              <a:gd name="connsiteX3-27" fmla="*/ 617932 w 9103564"/>
              <a:gd name="connsiteY3-28" fmla="*/ 1490472 h 1490472"/>
              <a:gd name="connsiteX4-29" fmla="*/ 617932 w 9103564"/>
              <a:gd name="connsiteY4-30" fmla="*/ 0 h 1490472"/>
              <a:gd name="connsiteX0-31" fmla="*/ 471887 w 8957519"/>
              <a:gd name="connsiteY0-32" fmla="*/ 0 h 1490472"/>
              <a:gd name="connsiteX1-33" fmla="*/ 8957519 w 8957519"/>
              <a:gd name="connsiteY1-34" fmla="*/ 0 h 1490472"/>
              <a:gd name="connsiteX2-35" fmla="*/ 8957519 w 8957519"/>
              <a:gd name="connsiteY2-36" fmla="*/ 1490472 h 1490472"/>
              <a:gd name="connsiteX3-37" fmla="*/ 471887 w 8957519"/>
              <a:gd name="connsiteY3-38" fmla="*/ 1490472 h 1490472"/>
              <a:gd name="connsiteX4-39" fmla="*/ 471887 w 8957519"/>
              <a:gd name="connsiteY4-40" fmla="*/ 0 h 1490472"/>
              <a:gd name="connsiteX0-41" fmla="*/ 542128 w 9027760"/>
              <a:gd name="connsiteY0-42" fmla="*/ 0 h 1490472"/>
              <a:gd name="connsiteX1-43" fmla="*/ 9027760 w 9027760"/>
              <a:gd name="connsiteY1-44" fmla="*/ 0 h 1490472"/>
              <a:gd name="connsiteX2-45" fmla="*/ 9027760 w 9027760"/>
              <a:gd name="connsiteY2-46" fmla="*/ 1490472 h 1490472"/>
              <a:gd name="connsiteX3-47" fmla="*/ 542128 w 9027760"/>
              <a:gd name="connsiteY3-48" fmla="*/ 1490472 h 1490472"/>
              <a:gd name="connsiteX4-49" fmla="*/ 542128 w 9027760"/>
              <a:gd name="connsiteY4-50" fmla="*/ 0 h 1490472"/>
              <a:gd name="connsiteX0-51" fmla="*/ 531634 w 9017266"/>
              <a:gd name="connsiteY0-52" fmla="*/ 0 h 1490472"/>
              <a:gd name="connsiteX1-53" fmla="*/ 9017266 w 9017266"/>
              <a:gd name="connsiteY1-54" fmla="*/ 0 h 1490472"/>
              <a:gd name="connsiteX2-55" fmla="*/ 9017266 w 9017266"/>
              <a:gd name="connsiteY2-56" fmla="*/ 1490472 h 1490472"/>
              <a:gd name="connsiteX3-57" fmla="*/ 531634 w 9017266"/>
              <a:gd name="connsiteY3-58" fmla="*/ 1490472 h 1490472"/>
              <a:gd name="connsiteX4-59" fmla="*/ 531634 w 9017266"/>
              <a:gd name="connsiteY4-60" fmla="*/ 0 h 14904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017266" h="1490472">
                <a:moveTo>
                  <a:pt x="531634" y="0"/>
                </a:moveTo>
                <a:lnTo>
                  <a:pt x="9017266" y="0"/>
                </a:lnTo>
                <a:lnTo>
                  <a:pt x="9017266" y="1490472"/>
                </a:lnTo>
                <a:lnTo>
                  <a:pt x="531634" y="1490472"/>
                </a:lnTo>
                <a:cubicBezTo>
                  <a:pt x="-199886" y="1432560"/>
                  <a:pt x="-154166" y="76200"/>
                  <a:pt x="531634" y="0"/>
                </a:cubicBezTo>
                <a:close/>
              </a:path>
            </a:pathLst>
          </a:custGeom>
          <a:solidFill>
            <a:schemeClr val="bg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3" name="文本框 13"/>
          <p:cNvSpPr txBox="1"/>
          <p:nvPr/>
        </p:nvSpPr>
        <p:spPr>
          <a:xfrm>
            <a:off x="551180" y="2389505"/>
            <a:ext cx="9393555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5400" b="1" dirty="0">
                <a:solidFill>
                  <a:srgbClr val="00B0F0"/>
                </a:solidFill>
                <a:latin typeface="Microsoft YaHei" pitchFamily="34" charset="-122"/>
                <a:ea typeface="Microsoft YaHei" pitchFamily="34" charset="-122"/>
              </a:rPr>
              <a:t> Week 2 - Swift for UIKit</a:t>
            </a:r>
            <a:endParaRPr lang="en-US" altLang="en-US" sz="5400" b="1" dirty="0">
              <a:solidFill>
                <a:srgbClr val="00B0F0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5158" y="3263583"/>
            <a:ext cx="788860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5" name="文本框 15"/>
          <p:cNvSpPr txBox="1"/>
          <p:nvPr/>
        </p:nvSpPr>
        <p:spPr>
          <a:xfrm>
            <a:off x="588963" y="3400425"/>
            <a:ext cx="4481512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In the AI Era(Swift + SwiftUI)</a:t>
            </a:r>
            <a:endParaRPr lang="en-US" altLang="zh-CN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" name="文本框 15"/>
          <p:cNvSpPr txBox="1"/>
          <p:nvPr/>
        </p:nvSpPr>
        <p:spPr>
          <a:xfrm>
            <a:off x="7103428" y="5876925"/>
            <a:ext cx="4481512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en-US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Instructor : </a:t>
            </a:r>
            <a:r>
              <a:rPr lang="en-US" altLang="zh-CN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Mr. Nem Sothea</a:t>
            </a:r>
            <a:endParaRPr lang="en-US" altLang="zh-CN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3" name="文本框 15"/>
          <p:cNvSpPr txBox="1"/>
          <p:nvPr/>
        </p:nvSpPr>
        <p:spPr>
          <a:xfrm>
            <a:off x="8331200" y="6189980"/>
            <a:ext cx="3339465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 sz="1600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nemsothea13@gmail.com</a:t>
            </a:r>
            <a:endParaRPr lang="en-US" altLang="zh-CN" sz="1600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rcRect l="3876" t="5679" r="5069"/>
          <a:stretch>
            <a:fillRect/>
          </a:stretch>
        </p:blipFill>
        <p:spPr>
          <a:xfrm>
            <a:off x="7321550" y="3543935"/>
            <a:ext cx="4263390" cy="177482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295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 Review &amp; Today's Goals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057910" y="1328420"/>
            <a:ext cx="7138670" cy="3800475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lnSpc>
                <a:spcPts val="286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b="0" i="0">
                <a:solidFill>
                  <a:srgbClr val="F8FAFF"/>
                </a:solidFill>
                <a:latin typeface="quote-cjk-patch"/>
                <a:ea typeface="quote-cjk-patch"/>
              </a:rPr>
              <a:t>Last Week: </a:t>
            </a:r>
            <a:r>
              <a:rPr lang="en-US" altLang="en-US" sz="1600" b="0" i="0">
                <a:solidFill>
                  <a:srgbClr val="FF0000"/>
                </a:solidFill>
                <a:latin typeface="quote-cjk-patch"/>
                <a:ea typeface="quote-cjk-patch"/>
              </a:rPr>
              <a:t>Variables, Constants, Types, Operators, if/else.</a:t>
            </a:r>
            <a:endParaRPr lang="en-US" altLang="en-US" sz="1600" b="0" i="0">
              <a:solidFill>
                <a:srgbClr val="FF0000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ts val="286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b="0" i="0">
                <a:solidFill>
                  <a:srgbClr val="F8FAFF"/>
                </a:solidFill>
                <a:latin typeface="quote-cjk-patch"/>
                <a:ea typeface="quote-cjk-patch"/>
              </a:rPr>
              <a:t>This Week's Goals:</a:t>
            </a:r>
            <a:endParaRPr lang="en-US" altLang="en-US" sz="1600" b="0" i="0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800100" lvl="1" indent="-342900">
              <a:lnSpc>
                <a:spcPts val="286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0" i="0">
                <a:solidFill>
                  <a:srgbClr val="F8FAFF"/>
                </a:solidFill>
                <a:latin typeface="quote-cjk-patch"/>
                <a:ea typeface="quote-cjk-patch"/>
              </a:rPr>
              <a:t>Understand Functions to organize our code.</a:t>
            </a:r>
            <a:endParaRPr lang="en-US" altLang="en-US" sz="1600" b="0" i="0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800100" lvl="1" indent="-342900">
              <a:lnSpc>
                <a:spcPts val="286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0" i="0">
                <a:solidFill>
                  <a:srgbClr val="F8FAFF"/>
                </a:solidFill>
                <a:latin typeface="quote-cjk-patch"/>
                <a:ea typeface="quote-cjk-patch"/>
              </a:rPr>
              <a:t>Master Optionals to handle missing data safely.</a:t>
            </a:r>
            <a:endParaRPr lang="en-US" altLang="en-US" sz="1600" b="0" i="0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800100" lvl="1" indent="-342900">
              <a:lnSpc>
                <a:spcPts val="286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0" i="0">
                <a:solidFill>
                  <a:srgbClr val="F8FAFF"/>
                </a:solidFill>
                <a:latin typeface="quote-cjk-patch"/>
                <a:ea typeface="quote-cjk-patch"/>
              </a:rPr>
              <a:t>Use Collections (</a:t>
            </a:r>
            <a:r>
              <a:rPr lang="en-US" altLang="en-US" sz="1600" b="0" i="0">
                <a:solidFill>
                  <a:srgbClr val="FF0000"/>
                </a:solidFill>
                <a:latin typeface="quote-cjk-patch"/>
                <a:ea typeface="quote-cjk-patch"/>
              </a:rPr>
              <a:t>Arrays, Dictionaries</a:t>
            </a:r>
            <a:r>
              <a:rPr lang="en-US" altLang="en-US" sz="1600" b="0" i="0">
                <a:solidFill>
                  <a:srgbClr val="F8FAFF"/>
                </a:solidFill>
                <a:latin typeface="quote-cjk-patch"/>
                <a:ea typeface="quote-cjk-patch"/>
              </a:rPr>
              <a:t>) to manage groups of data.</a:t>
            </a:r>
            <a:endParaRPr lang="en-US" altLang="en-US" sz="1600" b="0" i="0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800100" lvl="1" indent="-342900">
              <a:lnSpc>
                <a:spcPts val="286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0" i="0">
                <a:solidFill>
                  <a:srgbClr val="F8FAFF"/>
                </a:solidFill>
                <a:latin typeface="quote-cjk-patch"/>
                <a:ea typeface="quote-cjk-patch"/>
              </a:rPr>
              <a:t>Connect code to a UI with IBOutlet and IBAction.</a:t>
            </a:r>
            <a:endParaRPr lang="en-US" altLang="en-US" sz="1600" b="0" i="0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295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Why Functions?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89330" y="1328420"/>
            <a:ext cx="5792470" cy="5528945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b="0" i="0">
                <a:solidFill>
                  <a:srgbClr val="F8FAFF"/>
                </a:solidFill>
                <a:latin typeface="quote-cjk-patch"/>
                <a:ea typeface="quote-cjk-patch"/>
              </a:rPr>
              <a:t>Functions are reusable blocks of code that perform a specific task.</a:t>
            </a:r>
            <a:endParaRPr lang="en-US" altLang="en-US" sz="1600" b="0" i="0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b="0" i="0">
                <a:solidFill>
                  <a:srgbClr val="F8FAFF"/>
                </a:solidFill>
                <a:latin typeface="quote-cjk-patch"/>
                <a:ea typeface="quote-cjk-patch"/>
              </a:rPr>
              <a:t>Why use them?</a:t>
            </a:r>
            <a:endParaRPr lang="en-US" altLang="en-US" sz="1600" b="0" i="0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742950" lvl="1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b="0" i="0">
                <a:solidFill>
                  <a:srgbClr val="F8FAFF"/>
                </a:solidFill>
                <a:latin typeface="quote-cjk-patch"/>
                <a:ea typeface="quote-cjk-patch"/>
              </a:rPr>
              <a:t>Organization: Break complex problems into small, manageable pieces.</a:t>
            </a:r>
            <a:endParaRPr lang="en-US" altLang="en-US" sz="1600" b="0" i="0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742950" lvl="1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b="0" i="0">
                <a:solidFill>
                  <a:srgbClr val="F8FAFF"/>
                </a:solidFill>
                <a:latin typeface="quote-cjk-patch"/>
                <a:ea typeface="quote-cjk-patch"/>
              </a:rPr>
              <a:t>Reusability: Write once, use many times.</a:t>
            </a:r>
            <a:endParaRPr lang="en-US" altLang="en-US" sz="1600" b="0" i="0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742950" lvl="1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b="0" i="0">
                <a:solidFill>
                  <a:srgbClr val="F8FAFF"/>
                </a:solidFill>
                <a:latin typeface="quote-cjk-patch"/>
                <a:ea typeface="quote-cjk-patch"/>
              </a:rPr>
              <a:t>Avoid Repetition:</a:t>
            </a: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 Don't Repeat Yourself (DRY principle).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781800" y="1987550"/>
            <a:ext cx="5080000" cy="230695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rgbClr val="7CB554"/>
                </a:solidFill>
              </a:rPr>
              <a:t>// Defining a function</a:t>
            </a:r>
            <a:endParaRPr lang="en-US" altLang="zh-CN" sz="1800">
              <a:solidFill>
                <a:srgbClr val="7CB554"/>
              </a:solidFill>
            </a:endParaRPr>
          </a:p>
          <a:p>
            <a:r>
              <a:rPr lang="en-US" altLang="zh-CN" sz="1800">
                <a:solidFill>
                  <a:srgbClr val="FC6BAA"/>
                </a:solidFill>
              </a:rPr>
              <a:t>func</a:t>
            </a:r>
            <a:r>
              <a:rPr lang="en-US" altLang="en-US" sz="1800">
                <a:solidFill>
                  <a:srgbClr val="FC6BAA"/>
                </a:solidFill>
              </a:rPr>
              <a:t> </a:t>
            </a:r>
            <a:r>
              <a:rPr lang="en-US" altLang="zh-CN" sz="1800">
                <a:solidFill>
                  <a:srgbClr val="42B8E0"/>
                </a:solidFill>
              </a:rPr>
              <a:t>greetUser</a:t>
            </a:r>
            <a:r>
              <a:rPr lang="en-US" altLang="zh-CN" sz="1800">
                <a:solidFill>
                  <a:srgbClr val="FFFFFF"/>
                </a:solidFill>
              </a:rPr>
              <a:t>(</a:t>
            </a:r>
            <a:r>
              <a:rPr lang="en-US" altLang="en-US" sz="1800">
                <a:solidFill>
                  <a:srgbClr val="FFFFFF"/>
                </a:solidFill>
              </a:rPr>
              <a:t> </a:t>
            </a:r>
            <a:r>
              <a:rPr lang="en-US" altLang="zh-CN" sz="1800">
                <a:solidFill>
                  <a:srgbClr val="FFFFFF"/>
                </a:solidFill>
              </a:rPr>
              <a:t>) {</a:t>
            </a:r>
            <a:endParaRPr lang="en-US" altLang="zh-CN" sz="1800">
              <a:solidFill>
                <a:srgbClr val="FFFFFF"/>
              </a:solidFill>
            </a:endParaRPr>
          </a:p>
          <a:p>
            <a:r>
              <a:rPr lang="en-US" altLang="zh-CN" sz="1800"/>
              <a:t>    </a:t>
            </a:r>
            <a:r>
              <a:rPr lang="en-US" altLang="zh-CN" sz="1800">
                <a:solidFill>
                  <a:srgbClr val="FFFFFF"/>
                </a:solidFill>
              </a:rPr>
              <a:t>print(</a:t>
            </a:r>
            <a:r>
              <a:rPr lang="en-US" altLang="zh-CN" sz="1800">
                <a:solidFill>
                  <a:srgbClr val="FC7467"/>
                </a:solidFill>
              </a:rPr>
              <a:t>"Hello, welcome to the app!"</a:t>
            </a:r>
            <a:r>
              <a:rPr lang="en-US" altLang="zh-CN" sz="1800">
                <a:solidFill>
                  <a:srgbClr val="FFFFFF"/>
                </a:solidFill>
              </a:rPr>
              <a:t>)</a:t>
            </a:r>
            <a:endParaRPr lang="en-US" altLang="zh-CN" sz="1800">
              <a:solidFill>
                <a:srgbClr val="FFFFFF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rgbClr val="FFFFFF"/>
                </a:solidFill>
              </a:rPr>
              <a:t>}</a:t>
            </a:r>
            <a:endParaRPr lang="en-US" altLang="zh-CN" sz="1800">
              <a:solidFill>
                <a:srgbClr val="FFFFFF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zh-CN" sz="1800">
              <a:solidFill>
                <a:srgbClr val="FFFFFF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rgbClr val="7CB554"/>
                </a:solidFill>
              </a:rPr>
              <a:t>// Calling a function</a:t>
            </a:r>
            <a:endParaRPr lang="en-US" altLang="zh-CN" sz="1800">
              <a:solidFill>
                <a:srgbClr val="7CB554"/>
              </a:solidFill>
            </a:endParaRPr>
          </a:p>
          <a:p>
            <a:r>
              <a:rPr lang="en-US" altLang="zh-CN" sz="1800">
                <a:solidFill>
                  <a:srgbClr val="72BFAE"/>
                </a:solidFill>
              </a:rPr>
              <a:t>greetUser</a:t>
            </a:r>
            <a:r>
              <a:rPr lang="en-US" altLang="zh-CN" sz="1800">
                <a:solidFill>
                  <a:srgbClr val="FFFFFF"/>
                </a:solidFill>
              </a:rPr>
              <a:t>(</a:t>
            </a:r>
            <a:r>
              <a:rPr lang="en-US" altLang="en-US" sz="1800">
                <a:solidFill>
                  <a:srgbClr val="FFFFFF"/>
                </a:solidFill>
              </a:rPr>
              <a:t> </a:t>
            </a:r>
            <a:r>
              <a:rPr lang="en-US" altLang="zh-CN" sz="1800">
                <a:solidFill>
                  <a:srgbClr val="FFFFFF"/>
                </a:solidFill>
              </a:rPr>
              <a:t>) </a:t>
            </a:r>
            <a:r>
              <a:rPr lang="en-US" altLang="zh-CN" sz="1800">
                <a:solidFill>
                  <a:srgbClr val="7CB554"/>
                </a:solidFill>
              </a:rPr>
              <a:t>// Prints "Hello, welcome to the app!"</a:t>
            </a:r>
            <a:endParaRPr lang="en-US" altLang="zh-CN" sz="1800">
              <a:solidFill>
                <a:srgbClr val="7CB554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633603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 Functions with Parameters and Returns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12495" y="1263650"/>
            <a:ext cx="5792470" cy="1448435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b="0" i="0">
                <a:solidFill>
                  <a:srgbClr val="F8FAFF"/>
                </a:solidFill>
                <a:latin typeface="quote-cjk-patch"/>
                <a:ea typeface="quote-cjk-patch"/>
              </a:rPr>
              <a:t>Parameters: Inputs to the function.</a:t>
            </a:r>
            <a:endParaRPr lang="en-US" altLang="en-US" sz="1600" b="0" i="0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b="0" i="0">
                <a:solidFill>
                  <a:srgbClr val="F8FAFF"/>
                </a:solidFill>
                <a:latin typeface="quote-cjk-patch"/>
                <a:ea typeface="quote-cjk-patch"/>
              </a:rPr>
              <a:t>Return Value: The output of the function.</a:t>
            </a:r>
            <a:endParaRPr lang="en-US" altLang="en-US" sz="1600" b="0" i="0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139190" y="2712085"/>
            <a:ext cx="10584815" cy="34150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rgbClr val="7CB554"/>
                </a:solidFill>
              </a:rPr>
              <a:t>// Function with parameters</a:t>
            </a:r>
            <a:endParaRPr lang="en-US" altLang="zh-CN" sz="1800">
              <a:solidFill>
                <a:srgbClr val="7CB554"/>
              </a:solidFill>
            </a:endParaRPr>
          </a:p>
          <a:p>
            <a:r>
              <a:rPr lang="en-US" altLang="zh-CN" sz="1800">
                <a:solidFill>
                  <a:srgbClr val="FC6BAA"/>
                </a:solidFill>
              </a:rPr>
              <a:t>func</a:t>
            </a:r>
            <a:r>
              <a:rPr lang="en-US" altLang="en-US" sz="1800">
                <a:solidFill>
                  <a:srgbClr val="FC6BAA"/>
                </a:solidFill>
              </a:rPr>
              <a:t> </a:t>
            </a:r>
            <a:r>
              <a:rPr lang="en-US" altLang="zh-CN" sz="1800">
                <a:solidFill>
                  <a:srgbClr val="42B8E0"/>
                </a:solidFill>
              </a:rPr>
              <a:t>greetUserByName</a:t>
            </a:r>
            <a:r>
              <a:rPr lang="en-US" altLang="zh-CN" sz="1800">
                <a:solidFill>
                  <a:srgbClr val="FFFFFF"/>
                </a:solidFill>
              </a:rPr>
              <a:t>(</a:t>
            </a:r>
            <a:r>
              <a:rPr lang="en-US" altLang="zh-CN" sz="1800">
                <a:solidFill>
                  <a:srgbClr val="42B8E0"/>
                </a:solidFill>
              </a:rPr>
              <a:t>name</a:t>
            </a:r>
            <a:r>
              <a:rPr lang="en-US" altLang="zh-CN" sz="1800">
                <a:solidFill>
                  <a:srgbClr val="FFFFFF"/>
                </a:solidFill>
              </a:rPr>
              <a:t>: </a:t>
            </a:r>
            <a:r>
              <a:rPr lang="en-US" altLang="zh-CN" sz="1800">
                <a:solidFill>
                  <a:srgbClr val="DEC1FF"/>
                </a:solidFill>
              </a:rPr>
              <a:t>String</a:t>
            </a:r>
            <a:r>
              <a:rPr lang="en-US" altLang="zh-CN" sz="1800">
                <a:solidFill>
                  <a:srgbClr val="FFFFFF"/>
                </a:solidFill>
              </a:rPr>
              <a:t>) {</a:t>
            </a:r>
            <a:endParaRPr lang="en-US" altLang="zh-CN" sz="1800">
              <a:solidFill>
                <a:srgbClr val="FFFFFF"/>
              </a:solidFill>
            </a:endParaRPr>
          </a:p>
          <a:p>
            <a:r>
              <a:rPr lang="en-US" altLang="zh-CN" sz="1800"/>
              <a:t>    </a:t>
            </a:r>
            <a:r>
              <a:rPr lang="en-US" altLang="zh-CN" sz="1800">
                <a:solidFill>
                  <a:srgbClr val="FFFFFF"/>
                </a:solidFill>
              </a:rPr>
              <a:t>print(</a:t>
            </a:r>
            <a:r>
              <a:rPr lang="en-US" altLang="zh-CN" sz="1800">
                <a:solidFill>
                  <a:srgbClr val="FC7467"/>
                </a:solidFill>
              </a:rPr>
              <a:t>"Hello, </a:t>
            </a:r>
            <a:r>
              <a:rPr lang="en-US" altLang="zh-CN" sz="1800">
                <a:solidFill>
                  <a:srgbClr val="FFFFFF"/>
                </a:solidFill>
              </a:rPr>
              <a:t>\(name)</a:t>
            </a:r>
            <a:r>
              <a:rPr lang="en-US" altLang="zh-CN" sz="1800">
                <a:solidFill>
                  <a:srgbClr val="FC7467"/>
                </a:solidFill>
              </a:rPr>
              <a:t>!"</a:t>
            </a:r>
            <a:r>
              <a:rPr lang="en-US" altLang="zh-CN" sz="1800">
                <a:solidFill>
                  <a:srgbClr val="FFFFFF"/>
                </a:solidFill>
              </a:rPr>
              <a:t>)</a:t>
            </a:r>
            <a:endParaRPr lang="en-US" altLang="zh-CN" sz="1800">
              <a:solidFill>
                <a:srgbClr val="FFFFFF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rgbClr val="FFFFFF"/>
                </a:solidFill>
              </a:rPr>
              <a:t>}</a:t>
            </a:r>
            <a:endParaRPr lang="en-US" altLang="zh-CN" sz="1800">
              <a:solidFill>
                <a:srgbClr val="FFFFFF"/>
              </a:solidFill>
            </a:endParaRPr>
          </a:p>
          <a:p>
            <a:r>
              <a:rPr lang="en-US" altLang="zh-CN" sz="1800">
                <a:solidFill>
                  <a:srgbClr val="72BFAE"/>
                </a:solidFill>
              </a:rPr>
              <a:t>greetUserByName</a:t>
            </a:r>
            <a:r>
              <a:rPr lang="en-US" altLang="zh-CN" sz="1800">
                <a:solidFill>
                  <a:srgbClr val="FFFFFF"/>
                </a:solidFill>
              </a:rPr>
              <a:t>(</a:t>
            </a:r>
            <a:r>
              <a:rPr lang="en-US" altLang="zh-CN" sz="1800">
                <a:solidFill>
                  <a:srgbClr val="72BFAE"/>
                </a:solidFill>
              </a:rPr>
              <a:t>name</a:t>
            </a:r>
            <a:r>
              <a:rPr lang="en-US" altLang="zh-CN" sz="1800">
                <a:solidFill>
                  <a:srgbClr val="FFFFFF"/>
                </a:solidFill>
              </a:rPr>
              <a:t>: </a:t>
            </a:r>
            <a:r>
              <a:rPr lang="en-US" altLang="zh-CN" sz="1800">
                <a:solidFill>
                  <a:srgbClr val="FC7467"/>
                </a:solidFill>
              </a:rPr>
              <a:t>"Marina"</a:t>
            </a:r>
            <a:r>
              <a:rPr lang="en-US" altLang="zh-CN" sz="1800">
                <a:solidFill>
                  <a:srgbClr val="FFFFFF"/>
                </a:solidFill>
              </a:rPr>
              <a:t>) </a:t>
            </a:r>
            <a:r>
              <a:rPr lang="en-US" altLang="zh-CN" sz="1800">
                <a:solidFill>
                  <a:srgbClr val="7CB554"/>
                </a:solidFill>
              </a:rPr>
              <a:t>// Calls the function with an argument</a:t>
            </a:r>
            <a:endParaRPr lang="en-US" altLang="zh-CN" sz="1800">
              <a:solidFill>
                <a:srgbClr val="7CB554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zh-CN" sz="1800">
              <a:solidFill>
                <a:srgbClr val="7CB554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rgbClr val="7CB554"/>
                </a:solidFill>
              </a:rPr>
              <a:t>// Function with a return value</a:t>
            </a:r>
            <a:endParaRPr lang="en-US" altLang="zh-CN" sz="1800">
              <a:solidFill>
                <a:srgbClr val="7CB554"/>
              </a:solidFill>
            </a:endParaRPr>
          </a:p>
          <a:p>
            <a:r>
              <a:rPr lang="en-US" altLang="zh-CN" sz="1800">
                <a:solidFill>
                  <a:srgbClr val="FC6BAA"/>
                </a:solidFill>
              </a:rPr>
              <a:t>func</a:t>
            </a:r>
            <a:r>
              <a:rPr lang="en-US" altLang="en-US" sz="1800">
                <a:solidFill>
                  <a:srgbClr val="FC6BAA"/>
                </a:solidFill>
              </a:rPr>
              <a:t> </a:t>
            </a:r>
            <a:r>
              <a:rPr lang="en-US" altLang="zh-CN" sz="1800">
                <a:solidFill>
                  <a:srgbClr val="42B8E0"/>
                </a:solidFill>
              </a:rPr>
              <a:t>createGreeting</a:t>
            </a:r>
            <a:r>
              <a:rPr lang="en-US" altLang="zh-CN" sz="1800">
                <a:solidFill>
                  <a:srgbClr val="FFFFFF"/>
                </a:solidFill>
              </a:rPr>
              <a:t>(</a:t>
            </a:r>
            <a:r>
              <a:rPr lang="en-US" altLang="zh-CN" sz="1800">
                <a:solidFill>
                  <a:srgbClr val="42B8E0"/>
                </a:solidFill>
              </a:rPr>
              <a:t>name</a:t>
            </a:r>
            <a:r>
              <a:rPr lang="en-US" altLang="zh-CN" sz="1800">
                <a:solidFill>
                  <a:srgbClr val="FFFFFF"/>
                </a:solidFill>
              </a:rPr>
              <a:t>: </a:t>
            </a:r>
            <a:r>
              <a:rPr lang="en-US" altLang="zh-CN" sz="1800">
                <a:solidFill>
                  <a:srgbClr val="DEC1FF"/>
                </a:solidFill>
              </a:rPr>
              <a:t>String</a:t>
            </a:r>
            <a:r>
              <a:rPr lang="en-US" altLang="zh-CN" sz="1800">
                <a:solidFill>
                  <a:srgbClr val="FFFFFF"/>
                </a:solidFill>
              </a:rPr>
              <a:t>) -&gt; </a:t>
            </a:r>
            <a:r>
              <a:rPr lang="en-US" altLang="zh-CN" sz="1800">
                <a:solidFill>
                  <a:srgbClr val="DEC1FF"/>
                </a:solidFill>
              </a:rPr>
              <a:t>String</a:t>
            </a:r>
            <a:r>
              <a:rPr lang="en-US" altLang="zh-CN" sz="1800">
                <a:solidFill>
                  <a:srgbClr val="FFFFFF"/>
                </a:solidFill>
              </a:rPr>
              <a:t> {</a:t>
            </a:r>
            <a:endParaRPr lang="en-US" altLang="zh-CN" sz="1800">
              <a:solidFill>
                <a:srgbClr val="FFFFFF"/>
              </a:solidFill>
            </a:endParaRPr>
          </a:p>
          <a:p>
            <a:r>
              <a:rPr lang="en-US" altLang="zh-CN" sz="1800"/>
              <a:t>    </a:t>
            </a:r>
            <a:r>
              <a:rPr lang="en-US" altLang="zh-CN" sz="1800">
                <a:solidFill>
                  <a:srgbClr val="FC6BAA"/>
                </a:solidFill>
              </a:rPr>
              <a:t>return</a:t>
            </a:r>
            <a:r>
              <a:rPr lang="en-US" altLang="zh-CN" sz="1800">
                <a:solidFill>
                  <a:srgbClr val="FC7467"/>
                </a:solidFill>
              </a:rPr>
              <a:t>"Hello, </a:t>
            </a:r>
            <a:r>
              <a:rPr lang="en-US" altLang="zh-CN" sz="1800">
                <a:solidFill>
                  <a:srgbClr val="FFFFFF"/>
                </a:solidFill>
              </a:rPr>
              <a:t>\(name)</a:t>
            </a:r>
            <a:r>
              <a:rPr lang="en-US" altLang="zh-CN" sz="1800">
                <a:solidFill>
                  <a:srgbClr val="FC7467"/>
                </a:solidFill>
              </a:rPr>
              <a:t>!"</a:t>
            </a:r>
            <a:endParaRPr lang="en-US" altLang="zh-CN" sz="1800">
              <a:solidFill>
                <a:srgbClr val="FC7467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rgbClr val="FFFFFF"/>
                </a:solidFill>
              </a:rPr>
              <a:t>}</a:t>
            </a:r>
            <a:endParaRPr lang="en-US" altLang="zh-CN" sz="1800">
              <a:solidFill>
                <a:srgbClr val="FFFFFF"/>
              </a:solidFill>
            </a:endParaRPr>
          </a:p>
          <a:p>
            <a:endParaRPr lang="en-US" altLang="zh-CN" sz="1800">
              <a:solidFill>
                <a:srgbClr val="FC6BAA"/>
              </a:solidFill>
            </a:endParaRPr>
          </a:p>
          <a:p>
            <a:r>
              <a:rPr lang="en-US" altLang="zh-CN" sz="1800">
                <a:solidFill>
                  <a:srgbClr val="FC6BAA"/>
                </a:solidFill>
              </a:rPr>
              <a:t>let</a:t>
            </a:r>
            <a:r>
              <a:rPr lang="en-US" altLang="zh-CN" sz="1800">
                <a:solidFill>
                  <a:srgbClr val="42B8E0"/>
                </a:solidFill>
              </a:rPr>
              <a:t>message</a:t>
            </a:r>
            <a:r>
              <a:rPr lang="en-US" altLang="zh-CN" sz="1800">
                <a:solidFill>
                  <a:srgbClr val="FFFFFF"/>
                </a:solidFill>
              </a:rPr>
              <a:t> = </a:t>
            </a:r>
            <a:r>
              <a:rPr lang="en-US" altLang="zh-CN" sz="1800">
                <a:solidFill>
                  <a:srgbClr val="72BFAE"/>
                </a:solidFill>
              </a:rPr>
              <a:t>createGreeting</a:t>
            </a:r>
            <a:r>
              <a:rPr lang="en-US" altLang="zh-CN" sz="1800">
                <a:solidFill>
                  <a:srgbClr val="FFFFFF"/>
                </a:solidFill>
              </a:rPr>
              <a:t>(</a:t>
            </a:r>
            <a:r>
              <a:rPr lang="en-US" altLang="zh-CN" sz="1800">
                <a:solidFill>
                  <a:srgbClr val="72BFAE"/>
                </a:solidFill>
              </a:rPr>
              <a:t>name</a:t>
            </a:r>
            <a:r>
              <a:rPr lang="en-US" altLang="zh-CN" sz="1800">
                <a:solidFill>
                  <a:srgbClr val="FFFFFF"/>
                </a:solidFill>
              </a:rPr>
              <a:t>: </a:t>
            </a:r>
            <a:r>
              <a:rPr lang="en-US" altLang="zh-CN" sz="1800">
                <a:solidFill>
                  <a:srgbClr val="FC7467"/>
                </a:solidFill>
              </a:rPr>
              <a:t>"Sothea"</a:t>
            </a:r>
            <a:r>
              <a:rPr lang="en-US" altLang="zh-CN" sz="1800">
                <a:solidFill>
                  <a:srgbClr val="FFFFFF"/>
                </a:solidFill>
              </a:rPr>
              <a:t>) </a:t>
            </a:r>
            <a:r>
              <a:rPr lang="en-US" altLang="zh-CN" sz="1800">
                <a:solidFill>
                  <a:srgbClr val="7CB554"/>
                </a:solidFill>
              </a:rPr>
              <a:t>// message holds "Hello, Sothea!"</a:t>
            </a:r>
            <a:endParaRPr lang="en-US" altLang="zh-CN" sz="1800">
              <a:solidFill>
                <a:srgbClr val="7CB554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60604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 The Billion-Dollar Mistake: Optionals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12495" y="1263650"/>
            <a:ext cx="6642735" cy="2223135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b="0" i="0">
                <a:solidFill>
                  <a:srgbClr val="F8FAFF"/>
                </a:solidFill>
                <a:latin typeface="quote-cjk-patch"/>
                <a:ea typeface="quote-cjk-patch"/>
              </a:rPr>
              <a:t>How do you represent the absence of a value?</a:t>
            </a:r>
            <a:endParaRPr lang="en-US" altLang="en-US" sz="1600" b="0" i="0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b="0" i="0">
                <a:solidFill>
                  <a:srgbClr val="F8FAFF"/>
                </a:solidFill>
                <a:latin typeface="quote-cjk-patch"/>
                <a:ea typeface="quote-cjk-patch"/>
              </a:rPr>
              <a:t>Example: A user's middle name (they might not have one).</a:t>
            </a:r>
            <a:endParaRPr lang="en-US" altLang="en-US" sz="1600" b="0" i="0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b="0" i="0">
                <a:solidFill>
                  <a:srgbClr val="F8FAFF"/>
                </a:solidFill>
                <a:latin typeface="quote-cjk-patch"/>
                <a:ea typeface="quote-cjk-patch"/>
              </a:rPr>
              <a:t>An Optional is a type that can hold either a value OR nil.</a:t>
            </a:r>
            <a:endParaRPr lang="en-US" altLang="en-US" sz="1600" b="0" i="0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b="0" i="0">
                <a:solidFill>
                  <a:srgbClr val="F8FAFF"/>
                </a:solidFill>
                <a:latin typeface="quote-cjk-patch"/>
                <a:ea typeface="quote-cjk-patch"/>
              </a:rPr>
              <a:t>nil means "no value”.</a:t>
            </a:r>
            <a:endParaRPr lang="en-US" altLang="en-US" sz="1600" b="0" i="0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87425" y="3429000"/>
            <a:ext cx="7899400" cy="286131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200000"/>
              </a:lnSpc>
            </a:pPr>
            <a:r>
              <a:rPr lang="en-US" altLang="zh-CN" sz="1800">
                <a:solidFill>
                  <a:srgbClr val="FC6BAA"/>
                </a:solidFill>
              </a:rPr>
              <a:t>var</a:t>
            </a:r>
            <a:r>
              <a:rPr lang="en-US" altLang="en-US" sz="1800">
                <a:solidFill>
                  <a:srgbClr val="FC6BAA"/>
                </a:solidFill>
              </a:rPr>
              <a:t> </a:t>
            </a:r>
            <a:r>
              <a:rPr lang="en-US" altLang="zh-CN" sz="1800">
                <a:solidFill>
                  <a:srgbClr val="42B8E0"/>
                </a:solidFill>
              </a:rPr>
              <a:t>middleName</a:t>
            </a:r>
            <a:r>
              <a:rPr lang="en-US" altLang="zh-CN" sz="1800">
                <a:solidFill>
                  <a:srgbClr val="FFFFFF"/>
                </a:solidFill>
              </a:rPr>
              <a:t>: </a:t>
            </a:r>
            <a:r>
              <a:rPr lang="en-US" altLang="zh-CN" sz="1800">
                <a:solidFill>
                  <a:srgbClr val="DEC1FF"/>
                </a:solidFill>
              </a:rPr>
              <a:t>String</a:t>
            </a:r>
            <a:r>
              <a:rPr lang="en-US" altLang="zh-CN" sz="1800">
                <a:solidFill>
                  <a:srgbClr val="FFFFFF"/>
                </a:solidFill>
              </a:rPr>
              <a:t>? = </a:t>
            </a:r>
            <a:r>
              <a:rPr lang="en-US" altLang="zh-CN" sz="1800">
                <a:solidFill>
                  <a:srgbClr val="FC7467"/>
                </a:solidFill>
              </a:rPr>
              <a:t>"Mama"</a:t>
            </a:r>
            <a:r>
              <a:rPr lang="en-US" altLang="zh-CN" sz="1800">
                <a:solidFill>
                  <a:srgbClr val="7CB554"/>
                </a:solidFill>
              </a:rPr>
              <a:t>// The '?' makes it an Optional String</a:t>
            </a:r>
            <a:endParaRPr lang="en-US" altLang="zh-CN" sz="1800">
              <a:solidFill>
                <a:srgbClr val="7CB554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1800">
                <a:solidFill>
                  <a:srgbClr val="FFFFFF"/>
                </a:solidFill>
              </a:rPr>
              <a:t>print(</a:t>
            </a:r>
            <a:r>
              <a:rPr lang="en-US" altLang="zh-CN" sz="1800">
                <a:solidFill>
                  <a:srgbClr val="72BFAE"/>
                </a:solidFill>
              </a:rPr>
              <a:t>middleName</a:t>
            </a:r>
            <a:r>
              <a:rPr lang="en-US" altLang="zh-CN" sz="1800">
                <a:solidFill>
                  <a:srgbClr val="FFFFFF"/>
                </a:solidFill>
              </a:rPr>
              <a:t>) </a:t>
            </a:r>
            <a:r>
              <a:rPr lang="en-US" altLang="zh-CN" sz="1800">
                <a:solidFill>
                  <a:srgbClr val="7CB554"/>
                </a:solidFill>
              </a:rPr>
              <a:t>// Output: Optional("Mama")</a:t>
            </a:r>
            <a:endParaRPr lang="en-US" altLang="zh-CN" sz="1800">
              <a:solidFill>
                <a:srgbClr val="7CB554"/>
              </a:solidFill>
            </a:endParaRPr>
          </a:p>
          <a:p>
            <a:pPr>
              <a:lnSpc>
                <a:spcPct val="200000"/>
              </a:lnSpc>
            </a:pPr>
            <a:endParaRPr lang="en-US" altLang="zh-CN" sz="1800">
              <a:solidFill>
                <a:srgbClr val="72BFAE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1800">
                <a:solidFill>
                  <a:srgbClr val="72BFAE"/>
                </a:solidFill>
              </a:rPr>
              <a:t>middleName</a:t>
            </a:r>
            <a:r>
              <a:rPr lang="en-US" altLang="zh-CN" sz="1800">
                <a:solidFill>
                  <a:srgbClr val="FFFFFF"/>
                </a:solidFill>
              </a:rPr>
              <a:t> = </a:t>
            </a:r>
            <a:r>
              <a:rPr lang="en-US" altLang="zh-CN" sz="1800">
                <a:solidFill>
                  <a:srgbClr val="FC6BAA"/>
                </a:solidFill>
              </a:rPr>
              <a:t>nil</a:t>
            </a:r>
            <a:r>
              <a:rPr lang="en-US" altLang="zh-CN" sz="1800">
                <a:solidFill>
                  <a:srgbClr val="7CB554"/>
                </a:solidFill>
              </a:rPr>
              <a:t>// Now it has no value</a:t>
            </a:r>
            <a:endParaRPr lang="en-US" altLang="zh-CN" sz="1800">
              <a:solidFill>
                <a:srgbClr val="7CB554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1800">
                <a:solidFill>
                  <a:srgbClr val="FFFFFF"/>
                </a:solidFill>
              </a:rPr>
              <a:t>print(</a:t>
            </a:r>
            <a:r>
              <a:rPr lang="en-US" altLang="zh-CN" sz="1800">
                <a:solidFill>
                  <a:srgbClr val="72BFAE"/>
                </a:solidFill>
              </a:rPr>
              <a:t>middleName</a:t>
            </a:r>
            <a:r>
              <a:rPr lang="en-US" altLang="zh-CN" sz="1800">
                <a:solidFill>
                  <a:srgbClr val="FFFFFF"/>
                </a:solidFill>
              </a:rPr>
              <a:t>) </a:t>
            </a:r>
            <a:r>
              <a:rPr lang="en-US" altLang="zh-CN" sz="1800">
                <a:solidFill>
                  <a:srgbClr val="7CB554"/>
                </a:solidFill>
              </a:rPr>
              <a:t>// Output: nil</a:t>
            </a:r>
            <a:endParaRPr lang="en-US" altLang="zh-CN" sz="1800">
              <a:solidFill>
                <a:srgbClr val="7CB554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1054735" y="809625"/>
            <a:ext cx="60604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 Unwrapping Optionals Safely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88695" y="1351915"/>
            <a:ext cx="10929620" cy="1569720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b="0" i="0">
                <a:solidFill>
                  <a:srgbClr val="F8FAFF"/>
                </a:solidFill>
                <a:latin typeface="quote-cjk-patch"/>
                <a:ea typeface="quote-cjk-patch"/>
              </a:rPr>
              <a:t>You must unwrap an optional to use the value inside.</a:t>
            </a:r>
            <a:endParaRPr lang="en-US" altLang="en-US" sz="1600" b="0" i="0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b="0" i="0">
                <a:solidFill>
                  <a:srgbClr val="F8FAFF"/>
                </a:solidFill>
                <a:latin typeface="quote-cjk-patch"/>
                <a:ea typeface="quote-cjk-patch"/>
              </a:rPr>
              <a:t>if let Binding: Safely unwrap. If there's a value, use it. If it's nil, skip the code.</a:t>
            </a:r>
            <a:endParaRPr lang="en-US" altLang="en-US" sz="1600" b="0" i="0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54735" y="2693035"/>
            <a:ext cx="10863580" cy="258445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800">
                <a:solidFill>
                  <a:srgbClr val="FC6BAA"/>
                </a:solidFill>
              </a:rPr>
              <a:t>var</a:t>
            </a:r>
            <a:r>
              <a:rPr lang="en-US" altLang="en-US" sz="1800">
                <a:solidFill>
                  <a:srgbClr val="FC6BAA"/>
                </a:solidFill>
              </a:rPr>
              <a:t> </a:t>
            </a:r>
            <a:r>
              <a:rPr lang="en-US" altLang="zh-CN" sz="1800">
                <a:solidFill>
                  <a:srgbClr val="42B8E0"/>
                </a:solidFill>
              </a:rPr>
              <a:t>possibleNumber</a:t>
            </a:r>
            <a:r>
              <a:rPr lang="en-US" altLang="zh-CN" sz="1800">
                <a:solidFill>
                  <a:srgbClr val="FFFFFF"/>
                </a:solidFill>
              </a:rPr>
              <a:t>: </a:t>
            </a:r>
            <a:r>
              <a:rPr lang="en-US" altLang="zh-CN" sz="1800">
                <a:solidFill>
                  <a:srgbClr val="DEC1FF"/>
                </a:solidFill>
              </a:rPr>
              <a:t>String</a:t>
            </a:r>
            <a:r>
              <a:rPr lang="en-US" altLang="zh-CN" sz="1800">
                <a:solidFill>
                  <a:srgbClr val="FFFFFF"/>
                </a:solidFill>
              </a:rPr>
              <a:t>? = </a:t>
            </a:r>
            <a:r>
              <a:rPr lang="en-US" altLang="zh-CN" sz="1800">
                <a:solidFill>
                  <a:srgbClr val="FC7467"/>
                </a:solidFill>
              </a:rPr>
              <a:t>"42"</a:t>
            </a:r>
            <a:endParaRPr lang="en-US" altLang="zh-CN" sz="1800">
              <a:solidFill>
                <a:srgbClr val="FC7467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1800">
                <a:solidFill>
                  <a:srgbClr val="FC6BAA"/>
                </a:solidFill>
              </a:rPr>
              <a:t>if let</a:t>
            </a:r>
            <a:r>
              <a:rPr lang="en-US" altLang="zh-CN" sz="1800">
                <a:solidFill>
                  <a:srgbClr val="FFFFFF"/>
                </a:solidFill>
              </a:rPr>
              <a:t> actualNumber = </a:t>
            </a:r>
            <a:r>
              <a:rPr lang="en-US" altLang="zh-CN" sz="1800">
                <a:solidFill>
                  <a:srgbClr val="72BFAE"/>
                </a:solidFill>
              </a:rPr>
              <a:t>possibleNumber</a:t>
            </a:r>
            <a:r>
              <a:rPr lang="en-US" altLang="zh-CN" sz="1800">
                <a:solidFill>
                  <a:srgbClr val="FFFFFF"/>
                </a:solidFill>
              </a:rPr>
              <a:t> {</a:t>
            </a:r>
            <a:endParaRPr lang="en-US" altLang="zh-CN" sz="1800">
              <a:solidFill>
                <a:srgbClr val="FFFFFF"/>
              </a:solidFill>
            </a:endParaRPr>
          </a:p>
          <a:p>
            <a:r>
              <a:rPr lang="en-US" altLang="zh-CN" sz="1800"/>
              <a:t>    </a:t>
            </a:r>
            <a:r>
              <a:rPr lang="en-US" altLang="zh-CN" sz="1800">
                <a:solidFill>
                  <a:srgbClr val="7CB554"/>
                </a:solidFill>
              </a:rPr>
              <a:t>// This code only runs if possibleNumber is NOT nil</a:t>
            </a:r>
            <a:endParaRPr lang="en-US" altLang="zh-CN" sz="1800">
              <a:solidFill>
                <a:srgbClr val="7CB554"/>
              </a:solidFill>
            </a:endParaRPr>
          </a:p>
          <a:p>
            <a:r>
              <a:rPr lang="en-US" altLang="zh-CN" sz="1800"/>
              <a:t>    </a:t>
            </a:r>
            <a:r>
              <a:rPr lang="en-US" altLang="zh-CN" sz="1800">
                <a:solidFill>
                  <a:srgbClr val="FFFFFF"/>
                </a:solidFill>
              </a:rPr>
              <a:t>print(</a:t>
            </a:r>
            <a:r>
              <a:rPr lang="en-US" altLang="zh-CN" sz="1800">
                <a:solidFill>
                  <a:srgbClr val="FC7467"/>
                </a:solidFill>
              </a:rPr>
              <a:t>"The number is </a:t>
            </a:r>
            <a:r>
              <a:rPr lang="en-US" altLang="zh-CN" sz="1800">
                <a:solidFill>
                  <a:srgbClr val="FFFFFF"/>
                </a:solidFill>
              </a:rPr>
              <a:t>\(</a:t>
            </a:r>
            <a:r>
              <a:rPr lang="en-US" altLang="zh-CN" sz="1800">
                <a:solidFill>
                  <a:srgbClr val="72BFAE"/>
                </a:solidFill>
              </a:rPr>
              <a:t>actualNumber</a:t>
            </a:r>
            <a:r>
              <a:rPr lang="en-US" altLang="zh-CN" sz="1800">
                <a:solidFill>
                  <a:srgbClr val="FFFFFF"/>
                </a:solidFill>
              </a:rPr>
              <a:t>)</a:t>
            </a:r>
            <a:r>
              <a:rPr lang="en-US" altLang="zh-CN" sz="1800">
                <a:solidFill>
                  <a:srgbClr val="FC7467"/>
                </a:solidFill>
              </a:rPr>
              <a:t>."</a:t>
            </a:r>
            <a:r>
              <a:rPr lang="en-US" altLang="zh-CN" sz="1800">
                <a:solidFill>
                  <a:srgbClr val="FFFFFF"/>
                </a:solidFill>
              </a:rPr>
              <a:t>) </a:t>
            </a:r>
            <a:r>
              <a:rPr lang="en-US" altLang="zh-CN" sz="1800">
                <a:solidFill>
                  <a:srgbClr val="7CB554"/>
                </a:solidFill>
              </a:rPr>
              <a:t>// 'actualNumber' is a String, not an Optional</a:t>
            </a:r>
            <a:endParaRPr lang="en-US" altLang="zh-CN" sz="1800">
              <a:solidFill>
                <a:srgbClr val="7CB554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rgbClr val="FFFFFF"/>
                </a:solidFill>
              </a:rPr>
              <a:t>} </a:t>
            </a:r>
            <a:r>
              <a:rPr lang="en-US" altLang="zh-CN" sz="1800">
                <a:solidFill>
                  <a:srgbClr val="FC6BAA"/>
                </a:solidFill>
              </a:rPr>
              <a:t>else</a:t>
            </a:r>
            <a:r>
              <a:rPr lang="en-US" altLang="zh-CN" sz="1800">
                <a:solidFill>
                  <a:srgbClr val="FFFFFF"/>
                </a:solidFill>
              </a:rPr>
              <a:t> {</a:t>
            </a:r>
            <a:endParaRPr lang="en-US" altLang="zh-CN" sz="1800">
              <a:solidFill>
                <a:srgbClr val="FFFFFF"/>
              </a:solidFill>
            </a:endParaRPr>
          </a:p>
          <a:p>
            <a:r>
              <a:rPr lang="en-US" altLang="zh-CN" sz="1800"/>
              <a:t>    </a:t>
            </a:r>
            <a:r>
              <a:rPr lang="en-US" altLang="zh-CN" sz="1800">
                <a:solidFill>
                  <a:srgbClr val="FFFFFF"/>
                </a:solidFill>
              </a:rPr>
              <a:t>print(</a:t>
            </a:r>
            <a:r>
              <a:rPr lang="en-US" altLang="zh-CN" sz="1800">
                <a:solidFill>
                  <a:srgbClr val="FC7467"/>
                </a:solidFill>
              </a:rPr>
              <a:t>"The number is missing."</a:t>
            </a:r>
            <a:r>
              <a:rPr lang="en-US" altLang="zh-CN" sz="1800">
                <a:solidFill>
                  <a:srgbClr val="FFFFFF"/>
                </a:solidFill>
              </a:rPr>
              <a:t>)</a:t>
            </a:r>
            <a:endParaRPr lang="en-US" altLang="zh-CN" sz="1800">
              <a:solidFill>
                <a:srgbClr val="FFFFFF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rgbClr val="FFFFFF"/>
                </a:solidFill>
              </a:rPr>
              <a:t>}</a:t>
            </a:r>
            <a:endParaRPr lang="en-US" altLang="zh-CN" sz="1800">
              <a:solidFill>
                <a:srgbClr val="FFFFFF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rgbClr val="7CB554"/>
                </a:solidFill>
              </a:rPr>
              <a:t>// 'actualNumber' does not exist out here.</a:t>
            </a:r>
            <a:endParaRPr lang="en-US" altLang="zh-CN" sz="1800">
              <a:solidFill>
                <a:srgbClr val="7CB554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1016000" y="902970"/>
            <a:ext cx="60604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Collections: Arrays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16000" y="1626870"/>
            <a:ext cx="6927850" cy="1045845"/>
          </a:xfrm>
          <a:prstGeom prst="rect">
            <a:avLst/>
          </a:prstGeom>
        </p:spPr>
        <p:txBody>
          <a:bodyPr>
            <a:noAutofit/>
          </a:bodyPr>
          <a:p>
            <a:pPr marL="285750" lvl="0" indent="-285750" algn="l">
              <a:lnSpc>
                <a:spcPct val="200000"/>
              </a:lnSpc>
              <a:buClrTx/>
              <a:buSzTx/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rgbClr val="F8FAFF"/>
                </a:solidFill>
                <a:latin typeface="quote-cjk-patch"/>
                <a:ea typeface="quote-cjk-patch"/>
                <a:sym typeface="+mn-ea"/>
              </a:rPr>
              <a:t>An Array stores an ordered list of values of the same type.</a:t>
            </a:r>
            <a:endParaRPr lang="en-US" altLang="en-US" sz="1600">
              <a:solidFill>
                <a:srgbClr val="F8FAFF"/>
              </a:solidFill>
              <a:latin typeface="quote-cjk-patch"/>
              <a:ea typeface="quote-cjk-patch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81405" y="2253615"/>
            <a:ext cx="9972675" cy="45231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rgbClr val="7CB554"/>
                </a:solidFill>
              </a:rPr>
              <a:t>// Creating Arrays</a:t>
            </a:r>
            <a:endParaRPr lang="en-US" altLang="zh-CN" sz="1800">
              <a:solidFill>
                <a:srgbClr val="7CB554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1800">
                <a:solidFill>
                  <a:srgbClr val="FC6BAA"/>
                </a:solidFill>
              </a:rPr>
              <a:t>var </a:t>
            </a:r>
            <a:r>
              <a:rPr lang="en-US" altLang="zh-CN" sz="1800">
                <a:solidFill>
                  <a:srgbClr val="42B8E0"/>
                </a:solidFill>
              </a:rPr>
              <a:t>shoppingList</a:t>
            </a:r>
            <a:r>
              <a:rPr lang="en-US" altLang="zh-CN" sz="1800">
                <a:solidFill>
                  <a:srgbClr val="FFFFFF"/>
                </a:solidFill>
              </a:rPr>
              <a:t>: [</a:t>
            </a:r>
            <a:r>
              <a:rPr lang="en-US" altLang="zh-CN" sz="1800">
                <a:solidFill>
                  <a:srgbClr val="DEC1FF"/>
                </a:solidFill>
              </a:rPr>
              <a:t>String</a:t>
            </a:r>
            <a:r>
              <a:rPr lang="en-US" altLang="zh-CN" sz="1800">
                <a:solidFill>
                  <a:srgbClr val="FFFFFF"/>
                </a:solidFill>
              </a:rPr>
              <a:t>] = [</a:t>
            </a:r>
            <a:r>
              <a:rPr lang="en-US" altLang="zh-CN" sz="1800">
                <a:solidFill>
                  <a:srgbClr val="FC7467"/>
                </a:solidFill>
              </a:rPr>
              <a:t>"Eggs"</a:t>
            </a:r>
            <a:r>
              <a:rPr lang="en-US" altLang="zh-CN" sz="1800">
                <a:solidFill>
                  <a:srgbClr val="FFFFFF"/>
                </a:solidFill>
              </a:rPr>
              <a:t>, </a:t>
            </a:r>
            <a:r>
              <a:rPr lang="en-US" altLang="zh-CN" sz="1800">
                <a:solidFill>
                  <a:srgbClr val="FC7467"/>
                </a:solidFill>
              </a:rPr>
              <a:t>"Milk"</a:t>
            </a:r>
            <a:r>
              <a:rPr lang="en-US" altLang="zh-CN" sz="1800">
                <a:solidFill>
                  <a:srgbClr val="FFFFFF"/>
                </a:solidFill>
              </a:rPr>
              <a:t>, </a:t>
            </a:r>
            <a:r>
              <a:rPr lang="en-US" altLang="zh-CN" sz="1800">
                <a:solidFill>
                  <a:srgbClr val="FC7467"/>
                </a:solidFill>
              </a:rPr>
              <a:t>"Bread"</a:t>
            </a:r>
            <a:r>
              <a:rPr lang="en-US" altLang="zh-CN" sz="1800">
                <a:solidFill>
                  <a:srgbClr val="FFFFFF"/>
                </a:solidFill>
              </a:rPr>
              <a:t>]</a:t>
            </a:r>
            <a:endParaRPr lang="en-US" altLang="zh-CN" sz="1800">
              <a:solidFill>
                <a:srgbClr val="FFFFFF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1800">
                <a:solidFill>
                  <a:srgbClr val="FC6BAA"/>
                </a:solidFill>
              </a:rPr>
              <a:t>var </a:t>
            </a:r>
            <a:r>
              <a:rPr lang="en-US" altLang="zh-CN" sz="1800">
                <a:solidFill>
                  <a:srgbClr val="42B8E0"/>
                </a:solidFill>
              </a:rPr>
              <a:t>scores</a:t>
            </a:r>
            <a:r>
              <a:rPr lang="en-US" altLang="zh-CN" sz="1800">
                <a:solidFill>
                  <a:srgbClr val="FFFFFF"/>
                </a:solidFill>
              </a:rPr>
              <a:t> = [</a:t>
            </a:r>
            <a:r>
              <a:rPr lang="en-US" altLang="zh-CN" sz="1800">
                <a:solidFill>
                  <a:srgbClr val="D0BC56"/>
                </a:solidFill>
              </a:rPr>
              <a:t>92</a:t>
            </a:r>
            <a:r>
              <a:rPr lang="en-US" altLang="zh-CN" sz="1800">
                <a:solidFill>
                  <a:srgbClr val="FFFFFF"/>
                </a:solidFill>
              </a:rPr>
              <a:t>, </a:t>
            </a:r>
            <a:r>
              <a:rPr lang="en-US" altLang="zh-CN" sz="1800">
                <a:solidFill>
                  <a:srgbClr val="D0BC56"/>
                </a:solidFill>
              </a:rPr>
              <a:t>85</a:t>
            </a:r>
            <a:r>
              <a:rPr lang="en-US" altLang="zh-CN" sz="1800">
                <a:solidFill>
                  <a:srgbClr val="FFFFFF"/>
                </a:solidFill>
              </a:rPr>
              <a:t>, </a:t>
            </a:r>
            <a:r>
              <a:rPr lang="en-US" altLang="zh-CN" sz="1800">
                <a:solidFill>
                  <a:srgbClr val="D0BC56"/>
                </a:solidFill>
              </a:rPr>
              <a:t>97</a:t>
            </a:r>
            <a:r>
              <a:rPr lang="en-US" altLang="zh-CN" sz="1800">
                <a:solidFill>
                  <a:srgbClr val="FFFFFF"/>
                </a:solidFill>
              </a:rPr>
              <a:t>] </a:t>
            </a:r>
            <a:r>
              <a:rPr lang="en-US" altLang="zh-CN" sz="1800">
                <a:solidFill>
                  <a:srgbClr val="7CB554"/>
                </a:solidFill>
              </a:rPr>
              <a:t>// Type inferred as [Int]</a:t>
            </a:r>
            <a:endParaRPr lang="en-US" altLang="zh-CN" sz="1800">
              <a:solidFill>
                <a:srgbClr val="7CB554"/>
              </a:solidFill>
            </a:endParaRPr>
          </a:p>
          <a:p>
            <a:pPr marL="0" inden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rgbClr val="7CB554"/>
                </a:solidFill>
              </a:rPr>
              <a:t>// Accessing &amp; Modifying</a:t>
            </a:r>
            <a:endParaRPr lang="en-US" altLang="zh-CN" sz="1800">
              <a:solidFill>
                <a:srgbClr val="7CB554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1800">
                <a:solidFill>
                  <a:srgbClr val="FFFFFF"/>
                </a:solidFill>
              </a:rPr>
              <a:t>print(</a:t>
            </a:r>
            <a:r>
              <a:rPr lang="en-US" altLang="zh-CN" sz="1800">
                <a:solidFill>
                  <a:srgbClr val="72BFAE"/>
                </a:solidFill>
              </a:rPr>
              <a:t>shoppingList</a:t>
            </a:r>
            <a:r>
              <a:rPr lang="en-US" altLang="zh-CN" sz="1800">
                <a:solidFill>
                  <a:srgbClr val="FFFFFF"/>
                </a:solidFill>
              </a:rPr>
              <a:t>[</a:t>
            </a:r>
            <a:r>
              <a:rPr lang="en-US" altLang="zh-CN" sz="1800">
                <a:solidFill>
                  <a:srgbClr val="D0BC56"/>
                </a:solidFill>
              </a:rPr>
              <a:t>0</a:t>
            </a:r>
            <a:r>
              <a:rPr lang="en-US" altLang="zh-CN" sz="1800">
                <a:solidFill>
                  <a:srgbClr val="FFFFFF"/>
                </a:solidFill>
              </a:rPr>
              <a:t>]) </a:t>
            </a:r>
            <a:r>
              <a:rPr lang="en-US" altLang="zh-CN" sz="1800">
                <a:solidFill>
                  <a:srgbClr val="7CB554"/>
                </a:solidFill>
              </a:rPr>
              <a:t>// "Eggs"</a:t>
            </a:r>
            <a:endParaRPr lang="en-US" altLang="zh-CN" sz="1800">
              <a:solidFill>
                <a:srgbClr val="7CB554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1800">
                <a:solidFill>
                  <a:srgbClr val="72BFAE"/>
                </a:solidFill>
              </a:rPr>
              <a:t>shoppingList</a:t>
            </a:r>
            <a:r>
              <a:rPr lang="en-US" altLang="zh-CN" sz="1800">
                <a:solidFill>
                  <a:srgbClr val="FFFFFF"/>
                </a:solidFill>
              </a:rPr>
              <a:t>.append(</a:t>
            </a:r>
            <a:r>
              <a:rPr lang="en-US" altLang="zh-CN" sz="1800">
                <a:solidFill>
                  <a:srgbClr val="FC7467"/>
                </a:solidFill>
              </a:rPr>
              <a:t>"Apples"</a:t>
            </a:r>
            <a:r>
              <a:rPr lang="en-US" altLang="zh-CN" sz="1800">
                <a:solidFill>
                  <a:srgbClr val="FFFFFF"/>
                </a:solidFill>
              </a:rPr>
              <a:t>) </a:t>
            </a:r>
            <a:r>
              <a:rPr lang="en-US" altLang="zh-CN" sz="1800">
                <a:solidFill>
                  <a:srgbClr val="7CB554"/>
                </a:solidFill>
              </a:rPr>
              <a:t>// Adds to the end</a:t>
            </a:r>
            <a:endParaRPr lang="en-US" altLang="zh-CN" sz="1800">
              <a:solidFill>
                <a:srgbClr val="7CB554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1800">
                <a:solidFill>
                  <a:srgbClr val="72BFAE"/>
                </a:solidFill>
              </a:rPr>
              <a:t>shoppingList</a:t>
            </a:r>
            <a:r>
              <a:rPr lang="en-US" altLang="zh-CN" sz="1800">
                <a:solidFill>
                  <a:srgbClr val="FFFFFF"/>
                </a:solidFill>
              </a:rPr>
              <a:t>[</a:t>
            </a:r>
            <a:r>
              <a:rPr lang="en-US" altLang="zh-CN" sz="1800">
                <a:solidFill>
                  <a:srgbClr val="D0BC56"/>
                </a:solidFill>
              </a:rPr>
              <a:t>1</a:t>
            </a:r>
            <a:r>
              <a:rPr lang="en-US" altLang="zh-CN" sz="1800">
                <a:solidFill>
                  <a:srgbClr val="FFFFFF"/>
                </a:solidFill>
              </a:rPr>
              <a:t>] = </a:t>
            </a:r>
            <a:r>
              <a:rPr lang="en-US" altLang="zh-CN" sz="1800">
                <a:solidFill>
                  <a:srgbClr val="FC7467"/>
                </a:solidFill>
              </a:rPr>
              <a:t>"Almond Milk"</a:t>
            </a:r>
            <a:r>
              <a:rPr lang="en-US" altLang="zh-CN" sz="1800">
                <a:solidFill>
                  <a:srgbClr val="7CB554"/>
                </a:solidFill>
              </a:rPr>
              <a:t>// Replaces "Milk"</a:t>
            </a:r>
            <a:endParaRPr lang="en-US" altLang="zh-CN" sz="1800">
              <a:solidFill>
                <a:srgbClr val="7CB554"/>
              </a:solidFill>
            </a:endParaRPr>
          </a:p>
          <a:p>
            <a:pPr marL="0" inden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rgbClr val="FFFFFF"/>
                </a:solidFill>
              </a:rPr>
              <a:t>print(</a:t>
            </a:r>
            <a:r>
              <a:rPr lang="en-US" altLang="zh-CN" sz="1800">
                <a:solidFill>
                  <a:srgbClr val="72BFAE"/>
                </a:solidFill>
              </a:rPr>
              <a:t>shoppingList</a:t>
            </a:r>
            <a:r>
              <a:rPr lang="en-US" altLang="zh-CN" sz="1800">
                <a:solidFill>
                  <a:srgbClr val="FFFFFF"/>
                </a:solidFill>
              </a:rPr>
              <a:t>.count) </a:t>
            </a:r>
            <a:r>
              <a:rPr lang="en-US" altLang="zh-CN" sz="1800">
                <a:solidFill>
                  <a:srgbClr val="7CB554"/>
                </a:solidFill>
              </a:rPr>
              <a:t>// 4</a:t>
            </a:r>
            <a:endParaRPr lang="en-US" altLang="zh-CN" sz="1800">
              <a:solidFill>
                <a:srgbClr val="7CB554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1016000" y="678815"/>
            <a:ext cx="60604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Collections: Dictionaries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16000" y="1221740"/>
            <a:ext cx="9533890" cy="624840"/>
          </a:xfrm>
          <a:prstGeom prst="rect">
            <a:avLst/>
          </a:prstGeom>
        </p:spPr>
        <p:txBody>
          <a:bodyPr>
            <a:noAutofit/>
          </a:bodyPr>
          <a:p>
            <a:pPr marL="285750" lvl="0" indent="-285750" algn="l">
              <a:lnSpc>
                <a:spcPct val="200000"/>
              </a:lnSpc>
              <a:buClrTx/>
              <a:buSzTx/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rgbClr val="F8FAFF"/>
                </a:solidFill>
                <a:latin typeface="quote-cjk-patch"/>
                <a:ea typeface="quote-cjk-patch"/>
                <a:sym typeface="+mn-ea"/>
              </a:rPr>
              <a:t>A Dictionary stores key-value pairs. Unordered. You look up a value by its unique key.</a:t>
            </a:r>
            <a:endParaRPr lang="en-US" altLang="en-US" sz="1600">
              <a:solidFill>
                <a:srgbClr val="F8FAFF"/>
              </a:solidFill>
              <a:latin typeface="quote-cjk-patch"/>
              <a:ea typeface="quote-cjk-patch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16000" y="1780540"/>
            <a:ext cx="11548110" cy="50774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rgbClr val="7CB554"/>
                </a:solidFill>
              </a:rPr>
              <a:t>// Creating a Dictionary [Key: Value]</a:t>
            </a:r>
            <a:endParaRPr lang="en-US" altLang="zh-CN" sz="1800">
              <a:solidFill>
                <a:srgbClr val="7CB554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solidFill>
                  <a:srgbClr val="FC6BAA"/>
                </a:solidFill>
              </a:rPr>
              <a:t>var </a:t>
            </a:r>
            <a:r>
              <a:rPr lang="en-US" altLang="zh-CN" sz="1800">
                <a:solidFill>
                  <a:srgbClr val="42B8E0"/>
                </a:solidFill>
              </a:rPr>
              <a:t>userDictionary</a:t>
            </a:r>
            <a:r>
              <a:rPr lang="en-US" altLang="zh-CN" sz="1800">
                <a:solidFill>
                  <a:srgbClr val="FFFFFF"/>
                </a:solidFill>
              </a:rPr>
              <a:t>: [</a:t>
            </a:r>
            <a:r>
              <a:rPr lang="en-US" altLang="zh-CN" sz="1800">
                <a:solidFill>
                  <a:srgbClr val="DEC1FF"/>
                </a:solidFill>
              </a:rPr>
              <a:t>String</a:t>
            </a:r>
            <a:r>
              <a:rPr lang="en-US" altLang="zh-CN" sz="1800">
                <a:solidFill>
                  <a:srgbClr val="FFFFFF"/>
                </a:solidFill>
              </a:rPr>
              <a:t>: </a:t>
            </a:r>
            <a:r>
              <a:rPr lang="en-US" altLang="zh-CN" sz="1800">
                <a:solidFill>
                  <a:srgbClr val="DEC1FF"/>
                </a:solidFill>
              </a:rPr>
              <a:t>String</a:t>
            </a:r>
            <a:r>
              <a:rPr lang="en-US" altLang="zh-CN" sz="1800">
                <a:solidFill>
                  <a:srgbClr val="FFFFFF"/>
                </a:solidFill>
              </a:rPr>
              <a:t>] = [</a:t>
            </a:r>
            <a:endParaRPr lang="en-US" altLang="zh-CN" sz="1800">
              <a:solidFill>
                <a:srgbClr val="FFFFF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800"/>
              <a:t>    </a:t>
            </a:r>
            <a:r>
              <a:rPr lang="en-US" altLang="zh-CN" sz="1800">
                <a:solidFill>
                  <a:srgbClr val="FC7467"/>
                </a:solidFill>
              </a:rPr>
              <a:t>"name"</a:t>
            </a:r>
            <a:r>
              <a:rPr lang="en-US" altLang="zh-CN" sz="1800">
                <a:solidFill>
                  <a:srgbClr val="FFFFFF"/>
                </a:solidFill>
              </a:rPr>
              <a:t>: </a:t>
            </a:r>
            <a:r>
              <a:rPr lang="en-US" altLang="zh-CN" sz="1800">
                <a:solidFill>
                  <a:srgbClr val="FC7467"/>
                </a:solidFill>
              </a:rPr>
              <a:t>"Nem Sothea"</a:t>
            </a:r>
            <a:r>
              <a:rPr lang="en-US" altLang="zh-CN" sz="1800">
                <a:solidFill>
                  <a:srgbClr val="FFFFFF"/>
                </a:solidFill>
              </a:rPr>
              <a:t>,</a:t>
            </a:r>
            <a:endParaRPr lang="en-US" altLang="zh-CN" sz="1800">
              <a:solidFill>
                <a:srgbClr val="FFFFF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800"/>
              <a:t>    </a:t>
            </a:r>
            <a:r>
              <a:rPr lang="en-US" altLang="zh-CN" sz="1800">
                <a:solidFill>
                  <a:srgbClr val="FC7467"/>
                </a:solidFill>
              </a:rPr>
              <a:t>"email"</a:t>
            </a:r>
            <a:r>
              <a:rPr lang="en-US" altLang="zh-CN" sz="1800">
                <a:solidFill>
                  <a:srgbClr val="FFFFFF"/>
                </a:solidFill>
              </a:rPr>
              <a:t>: </a:t>
            </a:r>
            <a:r>
              <a:rPr lang="en-US" altLang="zh-CN" sz="1800">
                <a:solidFill>
                  <a:srgbClr val="FC7467"/>
                </a:solidFill>
              </a:rPr>
              <a:t>"nemsothea13@gmail.com"</a:t>
            </a:r>
            <a:r>
              <a:rPr lang="en-US" altLang="zh-CN" sz="1800">
                <a:solidFill>
                  <a:srgbClr val="FFFFFF"/>
                </a:solidFill>
              </a:rPr>
              <a:t>,</a:t>
            </a:r>
            <a:endParaRPr lang="en-US" altLang="zh-CN" sz="1800">
              <a:solidFill>
                <a:srgbClr val="FFFFF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800"/>
              <a:t>    </a:t>
            </a:r>
            <a:r>
              <a:rPr lang="en-US" altLang="zh-CN" sz="1800">
                <a:solidFill>
                  <a:srgbClr val="FC7467"/>
                </a:solidFill>
              </a:rPr>
              <a:t>"password"</a:t>
            </a:r>
            <a:r>
              <a:rPr lang="en-US" altLang="zh-CN" sz="1800">
                <a:solidFill>
                  <a:srgbClr val="FFFFFF"/>
                </a:solidFill>
              </a:rPr>
              <a:t>: </a:t>
            </a:r>
            <a:r>
              <a:rPr lang="en-US" altLang="zh-CN" sz="1800">
                <a:solidFill>
                  <a:srgbClr val="FC7467"/>
                </a:solidFill>
              </a:rPr>
              <a:t>"qwer1234@"</a:t>
            </a:r>
            <a:endParaRPr lang="en-US" altLang="zh-CN" sz="1800">
              <a:solidFill>
                <a:srgbClr val="FC7467"/>
              </a:solidFill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rgbClr val="FFFFFF"/>
                </a:solidFill>
              </a:rPr>
              <a:t>]</a:t>
            </a:r>
            <a:endParaRPr lang="en-US" altLang="zh-CN" sz="1800">
              <a:solidFill>
                <a:srgbClr val="FFFFFF"/>
              </a:solidFill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rgbClr val="7CB554"/>
                </a:solidFill>
              </a:rPr>
              <a:t>// Accessing &amp; Modifying</a:t>
            </a:r>
            <a:endParaRPr lang="en-US" altLang="zh-CN" sz="1800">
              <a:solidFill>
                <a:srgbClr val="7CB554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solidFill>
                  <a:srgbClr val="FFFFFF"/>
                </a:solidFill>
              </a:rPr>
              <a:t>print(</a:t>
            </a:r>
            <a:r>
              <a:rPr lang="en-US" altLang="zh-CN" sz="1800">
                <a:solidFill>
                  <a:srgbClr val="72BFAE"/>
                </a:solidFill>
              </a:rPr>
              <a:t>userDictionary</a:t>
            </a:r>
            <a:r>
              <a:rPr lang="en-US" altLang="zh-CN" sz="1800">
                <a:solidFill>
                  <a:srgbClr val="FFFFFF"/>
                </a:solidFill>
              </a:rPr>
              <a:t>[</a:t>
            </a:r>
            <a:r>
              <a:rPr lang="en-US" altLang="zh-CN" sz="1800">
                <a:solidFill>
                  <a:srgbClr val="FC7467"/>
                </a:solidFill>
              </a:rPr>
              <a:t>"name"</a:t>
            </a:r>
            <a:r>
              <a:rPr lang="en-US" altLang="zh-CN" sz="1800">
                <a:solidFill>
                  <a:srgbClr val="FFFFFF"/>
                </a:solidFill>
              </a:rPr>
              <a:t>]!) </a:t>
            </a:r>
            <a:r>
              <a:rPr lang="en-US" altLang="zh-CN" sz="1800">
                <a:solidFill>
                  <a:srgbClr val="7CB554"/>
                </a:solidFill>
              </a:rPr>
              <a:t>// "</a:t>
            </a:r>
            <a:r>
              <a:rPr lang="en-US" altLang="zh-CN" sz="1800">
                <a:solidFill>
                  <a:srgbClr val="7CB554"/>
                </a:solidFill>
                <a:sym typeface="+mn-ea"/>
              </a:rPr>
              <a:t>Nem Sothea</a:t>
            </a:r>
            <a:r>
              <a:rPr lang="en-US" altLang="zh-CN" sz="1800">
                <a:solidFill>
                  <a:srgbClr val="7CB554"/>
                </a:solidFill>
              </a:rPr>
              <a:t>" (Force-unwrap - careful!)</a:t>
            </a:r>
            <a:endParaRPr lang="en-US" altLang="zh-CN" sz="1800">
              <a:solidFill>
                <a:srgbClr val="7CB554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solidFill>
                  <a:srgbClr val="72BFAE"/>
                </a:solidFill>
              </a:rPr>
              <a:t>userDictionary</a:t>
            </a:r>
            <a:r>
              <a:rPr lang="en-US" altLang="zh-CN" sz="1800">
                <a:solidFill>
                  <a:srgbClr val="FFFFFF"/>
                </a:solidFill>
              </a:rPr>
              <a:t>[</a:t>
            </a:r>
            <a:r>
              <a:rPr lang="en-US" altLang="zh-CN" sz="1800">
                <a:solidFill>
                  <a:srgbClr val="FC7467"/>
                </a:solidFill>
              </a:rPr>
              <a:t>"theme"</a:t>
            </a:r>
            <a:r>
              <a:rPr lang="en-US" altLang="zh-CN" sz="1800">
                <a:solidFill>
                  <a:srgbClr val="FFFFFF"/>
                </a:solidFill>
              </a:rPr>
              <a:t>] = </a:t>
            </a:r>
            <a:r>
              <a:rPr lang="en-US" altLang="zh-CN" sz="1800">
                <a:solidFill>
                  <a:srgbClr val="FC7467"/>
                </a:solidFill>
              </a:rPr>
              <a:t>"Dark"</a:t>
            </a:r>
            <a:r>
              <a:rPr lang="en-US" altLang="zh-CN" sz="1800">
                <a:solidFill>
                  <a:srgbClr val="7CB554"/>
                </a:solidFill>
              </a:rPr>
              <a:t>// Adds a new key-value pair</a:t>
            </a:r>
            <a:endParaRPr lang="en-US" altLang="zh-CN" sz="1800">
              <a:solidFill>
                <a:srgbClr val="7CB554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solidFill>
                  <a:srgbClr val="FC6BAA"/>
                </a:solidFill>
              </a:rPr>
              <a:t>let </a:t>
            </a:r>
            <a:r>
              <a:rPr lang="en-US" altLang="zh-CN" sz="1800">
                <a:solidFill>
                  <a:srgbClr val="42B8E0"/>
                </a:solidFill>
              </a:rPr>
              <a:t>email</a:t>
            </a:r>
            <a:r>
              <a:rPr lang="en-US" altLang="zh-CN" sz="1800">
                <a:solidFill>
                  <a:srgbClr val="FFFFFF"/>
                </a:solidFill>
              </a:rPr>
              <a:t> = </a:t>
            </a:r>
            <a:r>
              <a:rPr lang="en-US" altLang="zh-CN" sz="1800">
                <a:solidFill>
                  <a:srgbClr val="72BFAE"/>
                </a:solidFill>
              </a:rPr>
              <a:t>userDictionary</a:t>
            </a:r>
            <a:r>
              <a:rPr lang="en-US" altLang="zh-CN" sz="1800">
                <a:solidFill>
                  <a:srgbClr val="FFFFFF"/>
                </a:solidFill>
              </a:rPr>
              <a:t>[</a:t>
            </a:r>
            <a:r>
              <a:rPr lang="en-US" altLang="zh-CN" sz="1800">
                <a:solidFill>
                  <a:srgbClr val="FC7467"/>
                </a:solidFill>
              </a:rPr>
              <a:t>"email"</a:t>
            </a:r>
            <a:r>
              <a:rPr lang="en-US" altLang="zh-CN" sz="1800">
                <a:solidFill>
                  <a:srgbClr val="FFFFFF"/>
                </a:solidFill>
              </a:rPr>
              <a:t>] </a:t>
            </a:r>
            <a:r>
              <a:rPr lang="en-US" altLang="zh-CN" sz="1800">
                <a:solidFill>
                  <a:srgbClr val="7CB554"/>
                </a:solidFill>
              </a:rPr>
              <a:t>// email is an Optional String (String?)</a:t>
            </a:r>
            <a:endParaRPr lang="en-US" altLang="zh-CN" sz="1800">
              <a:solidFill>
                <a:srgbClr val="7CB554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solidFill>
                  <a:srgbClr val="FFFFFF"/>
                </a:solidFill>
              </a:rPr>
              <a:t>print(</a:t>
            </a:r>
            <a:r>
              <a:rPr lang="en-US" altLang="zh-CN" sz="1800">
                <a:solidFill>
                  <a:srgbClr val="72BFAE"/>
                </a:solidFill>
              </a:rPr>
              <a:t>userDictionary</a:t>
            </a:r>
            <a:r>
              <a:rPr lang="en-US" altLang="zh-CN" sz="1800">
                <a:solidFill>
                  <a:srgbClr val="FFFFFF"/>
                </a:solidFill>
              </a:rPr>
              <a:t>)  </a:t>
            </a:r>
            <a:r>
              <a:rPr lang="en-US" altLang="zh-CN" sz="1800">
                <a:solidFill>
                  <a:srgbClr val="7CB554"/>
                </a:solidFill>
              </a:rPr>
              <a:t>//["email": "</a:t>
            </a:r>
            <a:r>
              <a:rPr lang="en-US" altLang="zh-CN" sz="1800">
                <a:solidFill>
                  <a:srgbClr val="739AFF"/>
                </a:solidFill>
              </a:rPr>
              <a:t>nemsothea13@gmail.com</a:t>
            </a:r>
            <a:r>
              <a:rPr lang="en-US" altLang="zh-CN" sz="1800">
                <a:solidFill>
                  <a:srgbClr val="7CB554"/>
                </a:solidFill>
              </a:rPr>
              <a:t>", "name": "Nem Sothea", "password": "qwer1234@", "theme": "Dark"]</a:t>
            </a:r>
            <a:endParaRPr lang="en-US" altLang="zh-CN" sz="1800">
              <a:solidFill>
                <a:srgbClr val="7CB554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1016000" y="902970"/>
            <a:ext cx="60604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Intro to UIKit: The IBOutlet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16000" y="1748790"/>
            <a:ext cx="5080000" cy="3025140"/>
          </a:xfrm>
          <a:prstGeom prst="rect">
            <a:avLst/>
          </a:prstGeom>
        </p:spPr>
        <p:txBody>
          <a:bodyPr>
            <a:noAutofit/>
          </a:bodyPr>
          <a:p>
            <a:pPr marL="285750" lvl="0" indent="-285750" algn="l">
              <a:lnSpc>
                <a:spcPct val="200000"/>
              </a:lnSpc>
              <a:buClrTx/>
              <a:buSzTx/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rgbClr val="F8FAFF"/>
                </a:solidFill>
                <a:latin typeface="quote-cjk-patch"/>
                <a:ea typeface="quote-cjk-patch"/>
                <a:sym typeface="+mn-ea"/>
              </a:rPr>
              <a:t>How does code connect to the UI?</a:t>
            </a:r>
            <a:endParaRPr lang="en-US" altLang="en-US" sz="1600">
              <a:solidFill>
                <a:srgbClr val="F8FAFF"/>
              </a:solidFill>
              <a:latin typeface="quote-cjk-patch"/>
              <a:ea typeface="quote-cjk-patch"/>
              <a:sym typeface="+mn-ea"/>
            </a:endParaRPr>
          </a:p>
          <a:p>
            <a:pPr marL="285750" lvl="0" indent="-285750" algn="l">
              <a:lnSpc>
                <a:spcPct val="200000"/>
              </a:lnSpc>
              <a:buClrTx/>
              <a:buSzTx/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rgbClr val="F8FAFF"/>
                </a:solidFill>
                <a:latin typeface="quote-cjk-patch"/>
                <a:ea typeface="quote-cjk-patch"/>
                <a:sym typeface="+mn-ea"/>
              </a:rPr>
              <a:t>An IBOutlet is a property in your code that connects to a UI element (Label, Button, etc.) in your Storyboard.</a:t>
            </a:r>
            <a:endParaRPr lang="en-US" altLang="en-US" sz="1600">
              <a:solidFill>
                <a:srgbClr val="F8FAFF"/>
              </a:solidFill>
              <a:latin typeface="quote-cjk-patch"/>
              <a:ea typeface="quote-cjk-patch"/>
              <a:sym typeface="+mn-ea"/>
            </a:endParaRPr>
          </a:p>
          <a:p>
            <a:pPr marL="285750" lvl="0" indent="-285750" algn="l">
              <a:lnSpc>
                <a:spcPct val="200000"/>
              </a:lnSpc>
              <a:buClrTx/>
              <a:buSzTx/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rgbClr val="F8FAFF"/>
                </a:solidFill>
                <a:latin typeface="quote-cjk-patch"/>
                <a:ea typeface="quote-cjk-patch"/>
                <a:sym typeface="+mn-ea"/>
              </a:rPr>
              <a:t>It's a variable that gives you control over that UI element.</a:t>
            </a:r>
            <a:endParaRPr lang="en-US" altLang="en-US" sz="1600">
              <a:solidFill>
                <a:srgbClr val="F8FAFF"/>
              </a:solidFill>
              <a:latin typeface="quote-cjk-patch"/>
              <a:ea typeface="quote-cjk-patch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021705" y="1544320"/>
            <a:ext cx="5846445" cy="39693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800">
                <a:solidFill>
                  <a:srgbClr val="FC6BAA"/>
                </a:solidFill>
              </a:rPr>
              <a:t>import</a:t>
            </a:r>
            <a:r>
              <a:rPr lang="en-US" altLang="zh-CN" sz="1800">
                <a:solidFill>
                  <a:srgbClr val="FFFFFF"/>
                </a:solidFill>
              </a:rPr>
              <a:t> UIKit</a:t>
            </a:r>
            <a:endParaRPr lang="en-US" altLang="zh-CN" sz="1800">
              <a:solidFill>
                <a:srgbClr val="FFFFFF"/>
              </a:solidFill>
            </a:endParaRPr>
          </a:p>
          <a:p>
            <a:endParaRPr lang="en-US" altLang="zh-CN" sz="1800">
              <a:solidFill>
                <a:srgbClr val="FFFFFF"/>
              </a:solidFill>
            </a:endParaRPr>
          </a:p>
          <a:p>
            <a:r>
              <a:rPr lang="en-US" altLang="zh-CN" sz="1800">
                <a:solidFill>
                  <a:srgbClr val="FC6BAA"/>
                </a:solidFill>
              </a:rPr>
              <a:t>class </a:t>
            </a:r>
            <a:r>
              <a:rPr lang="en-US" altLang="zh-CN" sz="1800">
                <a:solidFill>
                  <a:srgbClr val="5DD8FF"/>
                </a:solidFill>
              </a:rPr>
              <a:t>ViewController</a:t>
            </a:r>
            <a:r>
              <a:rPr lang="en-US" altLang="zh-CN" sz="1800">
                <a:solidFill>
                  <a:srgbClr val="FFFFFF"/>
                </a:solidFill>
              </a:rPr>
              <a:t>: UIViewController {</a:t>
            </a:r>
            <a:endParaRPr lang="en-US" altLang="zh-CN" sz="1800">
              <a:solidFill>
                <a:srgbClr val="FFFFFF"/>
              </a:solidFill>
            </a:endParaRPr>
          </a:p>
          <a:p>
            <a:endParaRPr lang="en-US" altLang="zh-CN" sz="1800">
              <a:solidFill>
                <a:srgbClr val="FFFFFF"/>
              </a:solidFill>
            </a:endParaRPr>
          </a:p>
          <a:p>
            <a:r>
              <a:rPr lang="en-US" altLang="zh-CN" sz="1800"/>
              <a:t>    </a:t>
            </a:r>
            <a:r>
              <a:rPr lang="en-US" altLang="zh-CN" sz="1800">
                <a:solidFill>
                  <a:srgbClr val="7CB554"/>
                </a:solidFill>
              </a:rPr>
              <a:t>// This connects to a Label in the Storyboard</a:t>
            </a:r>
            <a:endParaRPr lang="en-US" altLang="zh-CN" sz="1800">
              <a:solidFill>
                <a:srgbClr val="7CB554"/>
              </a:solidFill>
            </a:endParaRPr>
          </a:p>
          <a:p>
            <a:r>
              <a:rPr lang="en-US" altLang="zh-CN" sz="1800"/>
              <a:t>    </a:t>
            </a:r>
            <a:r>
              <a:rPr lang="en-US" altLang="zh-CN" sz="1800">
                <a:solidFill>
                  <a:srgbClr val="FC6BAA"/>
                </a:solidFill>
              </a:rPr>
              <a:t>@IBOutletweakvar </a:t>
            </a:r>
            <a:r>
              <a:rPr lang="en-US" altLang="zh-CN" sz="1800">
                <a:solidFill>
                  <a:srgbClr val="42B8E0"/>
                </a:solidFill>
              </a:rPr>
              <a:t>titleLabel</a:t>
            </a:r>
            <a:r>
              <a:rPr lang="en-US" altLang="zh-CN" sz="1800">
                <a:solidFill>
                  <a:srgbClr val="FFFFFF"/>
                </a:solidFill>
              </a:rPr>
              <a:t>: UILabel!</a:t>
            </a:r>
            <a:endParaRPr lang="en-US" altLang="zh-CN" sz="1800">
              <a:solidFill>
                <a:srgbClr val="FFFFFF"/>
              </a:solidFill>
            </a:endParaRPr>
          </a:p>
          <a:p>
            <a:r>
              <a:rPr lang="en-US" altLang="zh-CN" sz="1800"/>
              <a:t>    </a:t>
            </a:r>
            <a:endParaRPr lang="en-US" altLang="zh-CN" sz="1800"/>
          </a:p>
          <a:p>
            <a:r>
              <a:rPr lang="en-US" altLang="zh-CN" sz="1800"/>
              <a:t>    </a:t>
            </a:r>
            <a:r>
              <a:rPr lang="en-US" altLang="zh-CN" sz="1800">
                <a:solidFill>
                  <a:srgbClr val="FC6BAA"/>
                </a:solidFill>
              </a:rPr>
              <a:t>overridefunc</a:t>
            </a:r>
            <a:r>
              <a:rPr lang="en-US" altLang="zh-CN" sz="1800">
                <a:solidFill>
                  <a:srgbClr val="42B8E0"/>
                </a:solidFill>
              </a:rPr>
              <a:t>viewDidLoad</a:t>
            </a:r>
            <a:r>
              <a:rPr lang="en-US" altLang="zh-CN" sz="1800">
                <a:solidFill>
                  <a:srgbClr val="FFFFFF"/>
                </a:solidFill>
              </a:rPr>
              <a:t>() {</a:t>
            </a:r>
            <a:endParaRPr lang="en-US" altLang="zh-CN" sz="1800">
              <a:solidFill>
                <a:srgbClr val="FFFFFF"/>
              </a:solidFill>
            </a:endParaRPr>
          </a:p>
          <a:p>
            <a:r>
              <a:rPr lang="en-US" altLang="zh-CN" sz="1800"/>
              <a:t>        </a:t>
            </a:r>
            <a:r>
              <a:rPr lang="en-US" altLang="zh-CN" sz="1800">
                <a:solidFill>
                  <a:srgbClr val="FC6BAA"/>
                </a:solidFill>
              </a:rPr>
              <a:t>super</a:t>
            </a:r>
            <a:r>
              <a:rPr lang="en-US" altLang="zh-CN" sz="1800">
                <a:solidFill>
                  <a:srgbClr val="FFFFFF"/>
                </a:solidFill>
              </a:rPr>
              <a:t>.</a:t>
            </a:r>
            <a:r>
              <a:rPr lang="en-US" altLang="zh-CN" sz="1800">
                <a:solidFill>
                  <a:srgbClr val="72BFAE"/>
                </a:solidFill>
              </a:rPr>
              <a:t>viewDidLoad</a:t>
            </a:r>
            <a:r>
              <a:rPr lang="en-US" altLang="zh-CN" sz="1800">
                <a:solidFill>
                  <a:srgbClr val="FFFFFF"/>
                </a:solidFill>
              </a:rPr>
              <a:t>()</a:t>
            </a:r>
            <a:endParaRPr lang="en-US" altLang="zh-CN" sz="1800">
              <a:solidFill>
                <a:srgbClr val="FFFFFF"/>
              </a:solidFill>
            </a:endParaRPr>
          </a:p>
          <a:p>
            <a:r>
              <a:rPr lang="en-US" altLang="zh-CN" sz="1800"/>
              <a:t>        </a:t>
            </a:r>
            <a:r>
              <a:rPr lang="en-US" altLang="zh-CN" sz="1800">
                <a:solidFill>
                  <a:srgbClr val="72BFAE"/>
                </a:solidFill>
              </a:rPr>
              <a:t>titleLabel</a:t>
            </a:r>
            <a:r>
              <a:rPr lang="en-US" altLang="zh-CN" sz="1800">
                <a:solidFill>
                  <a:srgbClr val="FFFFFF"/>
                </a:solidFill>
              </a:rPr>
              <a:t>.text = </a:t>
            </a:r>
            <a:r>
              <a:rPr lang="en-US" altLang="zh-CN" sz="1800">
                <a:solidFill>
                  <a:srgbClr val="FC7467"/>
                </a:solidFill>
              </a:rPr>
              <a:t>"Hello from Code!"</a:t>
            </a:r>
            <a:endParaRPr lang="en-US" altLang="zh-CN" sz="1800">
              <a:solidFill>
                <a:srgbClr val="FC7467"/>
              </a:solidFill>
            </a:endParaRPr>
          </a:p>
          <a:p>
            <a:pPr indent="457200"/>
            <a:r>
              <a:rPr lang="en-US" altLang="zh-CN" sz="1800">
                <a:solidFill>
                  <a:srgbClr val="7CB554"/>
                </a:solidFill>
              </a:rPr>
              <a:t>// Changing the UI with code</a:t>
            </a:r>
            <a:endParaRPr lang="en-US" altLang="zh-CN" sz="1800">
              <a:solidFill>
                <a:srgbClr val="7CB554"/>
              </a:solidFill>
            </a:endParaRPr>
          </a:p>
          <a:p>
            <a:r>
              <a:rPr lang="en-US" altLang="zh-CN" sz="1800"/>
              <a:t>    </a:t>
            </a:r>
            <a:r>
              <a:rPr lang="en-US" altLang="zh-CN" sz="1800">
                <a:solidFill>
                  <a:srgbClr val="FFFFFF"/>
                </a:solidFill>
              </a:rPr>
              <a:t>}</a:t>
            </a:r>
            <a:endParaRPr lang="en-US" altLang="zh-CN" sz="1800">
              <a:solidFill>
                <a:srgbClr val="FFFFFF"/>
              </a:solidFill>
            </a:endParaRPr>
          </a:p>
          <a:p>
            <a:endParaRPr lang="en-US" altLang="zh-CN" sz="1800">
              <a:solidFill>
                <a:srgbClr val="FFFFFF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rgbClr val="FFFFFF"/>
                </a:solidFill>
              </a:rPr>
              <a:t>}</a:t>
            </a:r>
            <a:endParaRPr lang="en-US" altLang="zh-CN" sz="1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1016000" y="902970"/>
            <a:ext cx="60604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Intro to UIKit: The IBAction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16000" y="1916430"/>
            <a:ext cx="5080000" cy="3025140"/>
          </a:xfrm>
          <a:prstGeom prst="rect">
            <a:avLst/>
          </a:prstGeom>
        </p:spPr>
        <p:txBody>
          <a:bodyPr>
            <a:noAutofit/>
          </a:bodyPr>
          <a:p>
            <a:pPr marL="285750" lvl="0" indent="-285750" algn="l">
              <a:lnSpc>
                <a:spcPct val="200000"/>
              </a:lnSpc>
              <a:buClrTx/>
              <a:buSzTx/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rgbClr val="F8FAFF"/>
                </a:solidFill>
                <a:latin typeface="quote-cjk-patch"/>
                <a:ea typeface="quote-cjk-patch"/>
                <a:sym typeface="+mn-ea"/>
              </a:rPr>
              <a:t>An IBAction is a method in your code that is triggered by an event in the UI (like a button tap).</a:t>
            </a:r>
            <a:endParaRPr lang="en-US" altLang="en-US" sz="1600">
              <a:solidFill>
                <a:srgbClr val="F8FAFF"/>
              </a:solidFill>
              <a:latin typeface="quote-cjk-patch"/>
              <a:ea typeface="quote-cjk-patch"/>
              <a:sym typeface="+mn-ea"/>
            </a:endParaRPr>
          </a:p>
          <a:p>
            <a:pPr marL="285750" lvl="0" indent="-285750" algn="l">
              <a:lnSpc>
                <a:spcPct val="200000"/>
              </a:lnSpc>
              <a:buClrTx/>
              <a:buSzTx/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rgbClr val="F8FAFF"/>
                </a:solidFill>
                <a:latin typeface="quote-cjk-patch"/>
                <a:ea typeface="quote-cjk-patch"/>
                <a:sym typeface="+mn-ea"/>
              </a:rPr>
              <a:t>It's a function that runs when the user interacts with your app.</a:t>
            </a:r>
            <a:endParaRPr lang="en-US" altLang="en-US" sz="1600">
              <a:solidFill>
                <a:srgbClr val="F8FAFF"/>
              </a:solidFill>
              <a:latin typeface="quote-cjk-patch"/>
              <a:ea typeface="quote-cjk-patch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096000" y="1249045"/>
            <a:ext cx="5080000" cy="479996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800">
                <a:solidFill>
                  <a:srgbClr val="FC6BAA"/>
                </a:solidFill>
              </a:rPr>
              <a:t>import</a:t>
            </a:r>
            <a:r>
              <a:rPr lang="en-US" altLang="zh-CN" sz="1800">
                <a:solidFill>
                  <a:srgbClr val="FFFFFF"/>
                </a:solidFill>
              </a:rPr>
              <a:t> UIKit</a:t>
            </a:r>
            <a:endParaRPr lang="en-US" altLang="zh-CN" sz="1800">
              <a:solidFill>
                <a:srgbClr val="FFFFFF"/>
              </a:solidFill>
            </a:endParaRPr>
          </a:p>
          <a:p>
            <a:endParaRPr lang="en-US" altLang="zh-CN" sz="1800">
              <a:solidFill>
                <a:srgbClr val="FFFFFF"/>
              </a:solidFill>
            </a:endParaRPr>
          </a:p>
          <a:p>
            <a:r>
              <a:rPr lang="en-US" altLang="zh-CN" sz="1800">
                <a:solidFill>
                  <a:srgbClr val="FC6BAA"/>
                </a:solidFill>
              </a:rPr>
              <a:t>class </a:t>
            </a:r>
            <a:r>
              <a:rPr lang="en-US" altLang="zh-CN" sz="1800">
                <a:solidFill>
                  <a:srgbClr val="5DD8FF"/>
                </a:solidFill>
              </a:rPr>
              <a:t>ViewController</a:t>
            </a:r>
            <a:r>
              <a:rPr lang="en-US" altLang="zh-CN" sz="1800">
                <a:solidFill>
                  <a:srgbClr val="FFFFFF"/>
                </a:solidFill>
              </a:rPr>
              <a:t>: UIViewController {</a:t>
            </a:r>
            <a:endParaRPr lang="en-US" altLang="zh-CN" sz="1800">
              <a:solidFill>
                <a:srgbClr val="FFFFFF"/>
              </a:solidFill>
            </a:endParaRPr>
          </a:p>
          <a:p>
            <a:endParaRPr lang="en-US" altLang="zh-CN" sz="1800">
              <a:solidFill>
                <a:srgbClr val="FFFFFF"/>
              </a:solidFill>
            </a:endParaRPr>
          </a:p>
          <a:p>
            <a:r>
              <a:rPr lang="en-US" altLang="zh-CN" sz="1800"/>
              <a:t>    </a:t>
            </a:r>
            <a:r>
              <a:rPr lang="en-US" altLang="zh-CN" sz="1800">
                <a:solidFill>
                  <a:srgbClr val="FC6BAA"/>
                </a:solidFill>
              </a:rPr>
              <a:t>@IBOutletweakvar </a:t>
            </a:r>
            <a:r>
              <a:rPr lang="en-US" altLang="zh-CN" sz="1800">
                <a:solidFill>
                  <a:srgbClr val="42B8E0"/>
                </a:solidFill>
              </a:rPr>
              <a:t>titleLabel</a:t>
            </a:r>
            <a:r>
              <a:rPr lang="en-US" altLang="zh-CN" sz="1800">
                <a:solidFill>
                  <a:srgbClr val="FFFFFF"/>
                </a:solidFill>
              </a:rPr>
              <a:t>: UILabel!</a:t>
            </a:r>
            <a:endParaRPr lang="en-US" altLang="zh-CN" sz="1800">
              <a:solidFill>
                <a:srgbClr val="FFFFFF"/>
              </a:solidFill>
            </a:endParaRPr>
          </a:p>
          <a:p>
            <a:r>
              <a:rPr lang="en-US" altLang="zh-CN" sz="1800"/>
              <a:t>    </a:t>
            </a:r>
            <a:endParaRPr lang="en-US" altLang="zh-CN" sz="1800"/>
          </a:p>
          <a:p>
            <a:r>
              <a:rPr lang="en-US" altLang="zh-CN" sz="1800"/>
              <a:t>    </a:t>
            </a:r>
            <a:r>
              <a:rPr lang="en-US" altLang="zh-CN" sz="1800">
                <a:solidFill>
                  <a:srgbClr val="7CB554"/>
                </a:solidFill>
              </a:rPr>
              <a:t>// This function runs when the button is tapped</a:t>
            </a:r>
            <a:endParaRPr lang="en-US" altLang="zh-CN" sz="1800">
              <a:solidFill>
                <a:srgbClr val="7CB554"/>
              </a:solidFill>
            </a:endParaRPr>
          </a:p>
          <a:p>
            <a:r>
              <a:rPr lang="en-US" altLang="zh-CN" sz="1800"/>
              <a:t>    </a:t>
            </a:r>
            <a:r>
              <a:rPr lang="en-US" altLang="zh-CN" sz="1800">
                <a:solidFill>
                  <a:srgbClr val="FC6BAA"/>
                </a:solidFill>
              </a:rPr>
              <a:t>@IBAction func </a:t>
            </a:r>
            <a:r>
              <a:rPr lang="en-US" altLang="zh-CN" sz="1800">
                <a:solidFill>
                  <a:srgbClr val="42B8E0"/>
                </a:solidFill>
              </a:rPr>
              <a:t>buttonPressed</a:t>
            </a:r>
            <a:r>
              <a:rPr lang="en-US" altLang="zh-CN" sz="1800">
                <a:solidFill>
                  <a:srgbClr val="FFFFFF"/>
                </a:solidFill>
              </a:rPr>
              <a:t>(</a:t>
            </a:r>
            <a:r>
              <a:rPr lang="en-US" altLang="zh-CN" sz="1800">
                <a:solidFill>
                  <a:srgbClr val="42B8E0"/>
                </a:solidFill>
              </a:rPr>
              <a:t>_</a:t>
            </a:r>
            <a:r>
              <a:rPr lang="en-US" altLang="zh-CN" sz="1800">
                <a:solidFill>
                  <a:srgbClr val="FFFFFF"/>
                </a:solidFill>
              </a:rPr>
              <a:t> sender: UIButton) {</a:t>
            </a:r>
            <a:endParaRPr lang="en-US" altLang="zh-CN" sz="1800">
              <a:solidFill>
                <a:srgbClr val="FFFFFF"/>
              </a:solidFill>
            </a:endParaRPr>
          </a:p>
          <a:p>
            <a:endParaRPr lang="en-US" altLang="zh-CN" sz="1800">
              <a:solidFill>
                <a:srgbClr val="FFFFFF"/>
              </a:solidFill>
            </a:endParaRPr>
          </a:p>
          <a:p>
            <a:r>
              <a:rPr lang="en-US" altLang="zh-CN" sz="1800"/>
              <a:t>        </a:t>
            </a:r>
            <a:r>
              <a:rPr lang="en-US" altLang="zh-CN" sz="1800">
                <a:solidFill>
                  <a:srgbClr val="72BFAE"/>
                </a:solidFill>
              </a:rPr>
              <a:t>titleLabel</a:t>
            </a:r>
            <a:r>
              <a:rPr lang="en-US" altLang="zh-CN" sz="1800">
                <a:solidFill>
                  <a:srgbClr val="FFFFFF"/>
                </a:solidFill>
              </a:rPr>
              <a:t>.text = </a:t>
            </a:r>
            <a:r>
              <a:rPr lang="en-US" altLang="zh-CN" sz="1800">
                <a:solidFill>
                  <a:srgbClr val="FC7467"/>
                </a:solidFill>
              </a:rPr>
              <a:t>"Button was tapped!"</a:t>
            </a:r>
            <a:endParaRPr lang="en-US" altLang="zh-CN" sz="1800">
              <a:solidFill>
                <a:srgbClr val="FC7467"/>
              </a:solidFill>
            </a:endParaRPr>
          </a:p>
          <a:p>
            <a:r>
              <a:rPr lang="en-US" altLang="zh-CN" sz="1800"/>
              <a:t>        </a:t>
            </a:r>
            <a:r>
              <a:rPr lang="en-US" altLang="zh-CN" sz="1800">
                <a:solidFill>
                  <a:srgbClr val="7CB554"/>
                </a:solidFill>
              </a:rPr>
              <a:t>// sender is the button that was tapped</a:t>
            </a:r>
            <a:endParaRPr lang="en-US" altLang="zh-CN" sz="1800">
              <a:solidFill>
                <a:srgbClr val="7CB554"/>
              </a:solidFill>
            </a:endParaRPr>
          </a:p>
          <a:p>
            <a:r>
              <a:rPr lang="en-US" altLang="zh-CN" sz="1800"/>
              <a:t>        </a:t>
            </a:r>
            <a:r>
              <a:rPr lang="en-US" altLang="zh-CN" sz="1800">
                <a:solidFill>
                  <a:srgbClr val="FFFFFF"/>
                </a:solidFill>
              </a:rPr>
              <a:t>sender.setTitle(</a:t>
            </a:r>
            <a:r>
              <a:rPr lang="en-US" altLang="zh-CN" sz="1800">
                <a:solidFill>
                  <a:srgbClr val="FC7467"/>
                </a:solidFill>
              </a:rPr>
              <a:t>"Tapped!"</a:t>
            </a:r>
            <a:r>
              <a:rPr lang="en-US" altLang="zh-CN" sz="1800">
                <a:solidFill>
                  <a:srgbClr val="FFFFFF"/>
                </a:solidFill>
              </a:rPr>
              <a:t>, for: .normal)</a:t>
            </a:r>
            <a:endParaRPr lang="en-US" altLang="zh-CN" sz="1800">
              <a:solidFill>
                <a:srgbClr val="FFFFFF"/>
              </a:solidFill>
            </a:endParaRPr>
          </a:p>
          <a:p>
            <a:r>
              <a:rPr lang="en-US" altLang="zh-CN" sz="1800"/>
              <a:t>    </a:t>
            </a:r>
            <a:endParaRPr lang="en-US" altLang="zh-CN" sz="1800"/>
          </a:p>
          <a:p>
            <a:pPr indent="457200"/>
            <a:r>
              <a:rPr lang="en-US" altLang="zh-CN" sz="1800">
                <a:solidFill>
                  <a:srgbClr val="FFFFFF"/>
                </a:solidFill>
              </a:rPr>
              <a:t>}</a:t>
            </a:r>
            <a:endParaRPr lang="en-US" altLang="zh-CN" sz="1800">
              <a:solidFill>
                <a:srgbClr val="FFFFFF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rgbClr val="FFFFFF"/>
                </a:solidFill>
              </a:rPr>
              <a:t>}</a:t>
            </a:r>
            <a:endParaRPr lang="en-US" altLang="zh-CN" sz="1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1651000" y="1762125"/>
            <a:ext cx="9290685" cy="25533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en-US" altLang="en-US" sz="80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Live Demo: Let's Build "Hello UI"</a:t>
            </a:r>
            <a:endParaRPr lang="en-US" altLang="en-US" sz="80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1016000" y="902970"/>
            <a:ext cx="60604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In-Class Exercise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16000" y="1488440"/>
            <a:ext cx="10096500" cy="4930140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>
              <a:lnSpc>
                <a:spcPct val="200000"/>
              </a:lnSpc>
              <a:buFont typeface="Wingdings" panose="05000000000000000000" charset="0"/>
              <a:buChar char=""/>
            </a:pPr>
            <a:r>
              <a:rPr lang="en-US" altLang="en-US" sz="1800">
                <a:solidFill>
                  <a:srgbClr val="FFFFFF"/>
                </a:solidFill>
              </a:rPr>
              <a:t>Extend the "Hello UI" app.</a:t>
            </a:r>
            <a:endParaRPr lang="en-US" altLang="en-US" sz="1800">
              <a:solidFill>
                <a:srgbClr val="FFFFFF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"/>
            </a:pPr>
            <a:r>
              <a:rPr lang="en-US" altLang="en-US" sz="1800">
                <a:solidFill>
                  <a:srgbClr val="FFFFFF"/>
                </a:solidFill>
              </a:rPr>
              <a:t>Add a second button to your Storyboard.</a:t>
            </a:r>
            <a:endParaRPr lang="en-US" altLang="en-US" sz="1800">
              <a:solidFill>
                <a:srgbClr val="FFFFFF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"/>
            </a:pPr>
            <a:r>
              <a:rPr lang="en-US" altLang="en-US" sz="1800">
                <a:solidFill>
                  <a:srgbClr val="FFFFFF"/>
                </a:solidFill>
              </a:rPr>
              <a:t>Create a new IBAction for it.</a:t>
            </a:r>
            <a:endParaRPr lang="en-US" altLang="en-US" sz="1800">
              <a:solidFill>
                <a:srgbClr val="FFFFFF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"/>
            </a:pPr>
            <a:r>
              <a:rPr lang="en-US" altLang="en-US" sz="1800">
                <a:solidFill>
                  <a:srgbClr val="FFFFFF"/>
                </a:solidFill>
              </a:rPr>
              <a:t>Make this new button change the label's text to something else and also change the background color of the main view.</a:t>
            </a:r>
            <a:endParaRPr lang="en-US" altLang="en-US" sz="1800">
              <a:solidFill>
                <a:srgbClr val="FFFFFF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"/>
            </a:pPr>
            <a:r>
              <a:rPr lang="en-US" altLang="en-US" sz="1800" i="1">
                <a:solidFill>
                  <a:srgbClr val="FFFFFF"/>
                </a:solidFill>
              </a:rPr>
              <a:t>Hint: The main view is called view. You can change its color with view.backgroundColor = .systemBlue.</a:t>
            </a:r>
            <a:endParaRPr lang="en-US" altLang="en-US" sz="1800" i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1016000" y="902970"/>
            <a:ext cx="60604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Questions?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16000" y="1488440"/>
            <a:ext cx="7903210" cy="978535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>
              <a:lnSpc>
                <a:spcPct val="200000"/>
              </a:lnSpc>
              <a:buFont typeface="Wingdings" panose="05000000000000000000" charset="0"/>
              <a:buChar char=""/>
            </a:pPr>
            <a:r>
              <a:rPr lang="en-US" altLang="en-US" sz="1800">
                <a:solidFill>
                  <a:srgbClr val="FFFFFF"/>
                </a:solidFill>
              </a:rPr>
              <a:t>Next Week: </a:t>
            </a:r>
            <a:r>
              <a:rPr lang="en-US" altLang="en-US" sz="1800">
                <a:solidFill>
                  <a:srgbClr val="FF0000"/>
                </a:solidFill>
              </a:rPr>
              <a:t>The ViewController Lifecycle</a:t>
            </a: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353310" y="3994785"/>
            <a:ext cx="7670165" cy="3622675"/>
          </a:xfrm>
          <a:prstGeom prst="rect">
            <a:avLst/>
          </a:prstGeom>
        </p:spPr>
        <p:txBody>
          <a:bodyPr>
            <a:noAutofit/>
          </a:bodyPr>
          <a:p>
            <a:pPr marL="0" algn="ctr">
              <a:lnSpc>
                <a:spcPts val="286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</a:pPr>
            <a:r>
              <a:rPr lang="en-US" altLang="zh-CN" sz="9600" b="0" i="0">
                <a:solidFill>
                  <a:srgbClr val="F8FAFF"/>
                </a:solidFill>
                <a:latin typeface="quote-cjk-patch"/>
                <a:ea typeface="quote-cjk-patch"/>
              </a:rPr>
              <a:t>Thank you!</a:t>
            </a:r>
            <a:endParaRPr lang="en-US" altLang="zh-CN" sz="9600" b="0" i="0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4630</Words>
  <Application>WPS Presentation</Application>
  <PresentationFormat>自定义</PresentationFormat>
  <Paragraphs>165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Helvetica Neue</vt:lpstr>
      <vt:lpstr>宋体-简</vt:lpstr>
      <vt:lpstr>Calibri Light</vt:lpstr>
      <vt:lpstr>Microsoft YaHei</vt:lpstr>
      <vt:lpstr>汉仪旗黑</vt:lpstr>
      <vt:lpstr>Microsoft YaHei</vt:lpstr>
      <vt:lpstr>quote-cjk-patch</vt:lpstr>
      <vt:lpstr>Wingdings</vt:lpstr>
      <vt:lpstr>Arial</vt:lpstr>
      <vt:lpstr>Microsoft YaHei</vt:lpstr>
      <vt:lpstr>Arial Unicode MS</vt:lpstr>
      <vt:lpstr>SimSun</vt:lpstr>
      <vt:lpstr>Thonburi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nem path</cp:lastModifiedBy>
  <cp:revision>499</cp:revision>
  <dcterms:created xsi:type="dcterms:W3CDTF">2025-11-02T14:39:33Z</dcterms:created>
  <dcterms:modified xsi:type="dcterms:W3CDTF">2025-11-02T14:39:33Z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1033-12.1.23150.23150</vt:lpwstr>
  </property>
  <property fmtid="{D5CDD505-2E9C-101B-9397-08002B2CF9AE}" pid="3" name="ICV">
    <vt:lpwstr>4652830370BA95541050AD68A735B2E2_41</vt:lpwstr>
  </property>
</Properties>
</file>