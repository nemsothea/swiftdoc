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7" r:id="rId3"/>
    <p:sldId id="295" r:id="rId4"/>
    <p:sldId id="29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7" r:id="rId14"/>
    <p:sldId id="308" r:id="rId15"/>
  </p:sldIdLst>
  <p:sldSz cx="12192000" cy="6858000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em path" initials="authorId_540987781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4601"/>
    <p:restoredTop sz="94660"/>
  </p:normalViewPr>
  <p:slideViewPr>
    <p:cSldViewPr snapToGrid="0" showGuides="1">
      <p:cViewPr varScale="1">
        <p:scale>
          <a:sx n="70" d="100"/>
          <a:sy n="70" d="100"/>
        </p:scale>
        <p:origin x="-750" y="-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white"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914400" marR="0" lvl="2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1371600" marR="0" lvl="3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1828800" marR="0" lvl="4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p>
            <a:pPr lvl="0" algn="r" eaLnBrk="1" fontAlgn="base" hangingPunct="1"/>
            <a:fld id="{9A0DB2DC-4C9A-4742-B13C-FB6460FD3503}" type="slidenum">
              <a:rPr lang="zh-CN" altLang="en-US" sz="1200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z="1200" strike="noStrike" noProof="1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white"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pPr lvl="0" eaLnBrk="1" fontAlgn="base" hangingPunct="1"/>
            <a:fld id="{9A0DB2DC-4C9A-4742-B13C-FB6460FD3503}" type="slidenum">
              <a:rPr lang="zh-CN" altLang="en-US" strike="noStrike" noProof="1" dirty="0">
                <a:latin typeface="Calibri" pitchFamily="34" charset="0"/>
                <a:ea typeface="SimSun" pitchFamily="2" charset="-122"/>
                <a:cs typeface="+mn-cs"/>
              </a:rPr>
            </a:fld>
            <a:endParaRPr lang="zh-CN" altLang="en-US" strike="noStrike" noProof="1" dirty="0">
              <a:latin typeface="Calibri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  <a:ea typeface="SimSun" pitchFamily="2" charset="-122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625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" name="矩形 5"/>
          <p:cNvSpPr/>
          <p:nvPr/>
        </p:nvSpPr>
        <p:spPr>
          <a:xfrm flipH="1">
            <a:off x="0" y="2192338"/>
            <a:ext cx="6908800" cy="2162175"/>
          </a:xfrm>
          <a:custGeom>
            <a:avLst/>
            <a:gdLst>
              <a:gd name="connsiteX0" fmla="*/ 0 w 8485632"/>
              <a:gd name="connsiteY0" fmla="*/ 0 h 1490472"/>
              <a:gd name="connsiteX1" fmla="*/ 8485632 w 8485632"/>
              <a:gd name="connsiteY1" fmla="*/ 0 h 1490472"/>
              <a:gd name="connsiteX2" fmla="*/ 8485632 w 8485632"/>
              <a:gd name="connsiteY2" fmla="*/ 1490472 h 1490472"/>
              <a:gd name="connsiteX3" fmla="*/ 0 w 8485632"/>
              <a:gd name="connsiteY3" fmla="*/ 1490472 h 1490472"/>
              <a:gd name="connsiteX4" fmla="*/ 0 w 8485632"/>
              <a:gd name="connsiteY4" fmla="*/ 0 h 1490472"/>
              <a:gd name="connsiteX0-1" fmla="*/ 0 w 8485632"/>
              <a:gd name="connsiteY0-2" fmla="*/ 0 h 1490472"/>
              <a:gd name="connsiteX1-3" fmla="*/ 8485632 w 8485632"/>
              <a:gd name="connsiteY1-4" fmla="*/ 0 h 1490472"/>
              <a:gd name="connsiteX2-5" fmla="*/ 8485632 w 8485632"/>
              <a:gd name="connsiteY2-6" fmla="*/ 1490472 h 1490472"/>
              <a:gd name="connsiteX3-7" fmla="*/ 0 w 8485632"/>
              <a:gd name="connsiteY3-8" fmla="*/ 1490472 h 1490472"/>
              <a:gd name="connsiteX4-9" fmla="*/ 0 w 8485632"/>
              <a:gd name="connsiteY4-10" fmla="*/ 0 h 1490472"/>
              <a:gd name="connsiteX0-11" fmla="*/ 491744 w 8977376"/>
              <a:gd name="connsiteY0-12" fmla="*/ 0 h 1490472"/>
              <a:gd name="connsiteX1-13" fmla="*/ 8977376 w 8977376"/>
              <a:gd name="connsiteY1-14" fmla="*/ 0 h 1490472"/>
              <a:gd name="connsiteX2-15" fmla="*/ 8977376 w 8977376"/>
              <a:gd name="connsiteY2-16" fmla="*/ 1490472 h 1490472"/>
              <a:gd name="connsiteX3-17" fmla="*/ 491744 w 8977376"/>
              <a:gd name="connsiteY3-18" fmla="*/ 1490472 h 1490472"/>
              <a:gd name="connsiteX4-19" fmla="*/ 491744 w 8977376"/>
              <a:gd name="connsiteY4-20" fmla="*/ 0 h 1490472"/>
              <a:gd name="connsiteX0-21" fmla="*/ 617932 w 9103564"/>
              <a:gd name="connsiteY0-22" fmla="*/ 0 h 1490472"/>
              <a:gd name="connsiteX1-23" fmla="*/ 9103564 w 9103564"/>
              <a:gd name="connsiteY1-24" fmla="*/ 0 h 1490472"/>
              <a:gd name="connsiteX2-25" fmla="*/ 9103564 w 9103564"/>
              <a:gd name="connsiteY2-26" fmla="*/ 1490472 h 1490472"/>
              <a:gd name="connsiteX3-27" fmla="*/ 617932 w 9103564"/>
              <a:gd name="connsiteY3-28" fmla="*/ 1490472 h 1490472"/>
              <a:gd name="connsiteX4-29" fmla="*/ 617932 w 9103564"/>
              <a:gd name="connsiteY4-30" fmla="*/ 0 h 1490472"/>
              <a:gd name="connsiteX0-31" fmla="*/ 471887 w 8957519"/>
              <a:gd name="connsiteY0-32" fmla="*/ 0 h 1490472"/>
              <a:gd name="connsiteX1-33" fmla="*/ 8957519 w 8957519"/>
              <a:gd name="connsiteY1-34" fmla="*/ 0 h 1490472"/>
              <a:gd name="connsiteX2-35" fmla="*/ 8957519 w 8957519"/>
              <a:gd name="connsiteY2-36" fmla="*/ 1490472 h 1490472"/>
              <a:gd name="connsiteX3-37" fmla="*/ 471887 w 8957519"/>
              <a:gd name="connsiteY3-38" fmla="*/ 1490472 h 1490472"/>
              <a:gd name="connsiteX4-39" fmla="*/ 471887 w 8957519"/>
              <a:gd name="connsiteY4-40" fmla="*/ 0 h 1490472"/>
              <a:gd name="connsiteX0-41" fmla="*/ 542128 w 9027760"/>
              <a:gd name="connsiteY0-42" fmla="*/ 0 h 1490472"/>
              <a:gd name="connsiteX1-43" fmla="*/ 9027760 w 9027760"/>
              <a:gd name="connsiteY1-44" fmla="*/ 0 h 1490472"/>
              <a:gd name="connsiteX2-45" fmla="*/ 9027760 w 9027760"/>
              <a:gd name="connsiteY2-46" fmla="*/ 1490472 h 1490472"/>
              <a:gd name="connsiteX3-47" fmla="*/ 542128 w 9027760"/>
              <a:gd name="connsiteY3-48" fmla="*/ 1490472 h 1490472"/>
              <a:gd name="connsiteX4-49" fmla="*/ 542128 w 9027760"/>
              <a:gd name="connsiteY4-50" fmla="*/ 0 h 1490472"/>
              <a:gd name="connsiteX0-51" fmla="*/ 531634 w 9017266"/>
              <a:gd name="connsiteY0-52" fmla="*/ 0 h 1490472"/>
              <a:gd name="connsiteX1-53" fmla="*/ 9017266 w 9017266"/>
              <a:gd name="connsiteY1-54" fmla="*/ 0 h 1490472"/>
              <a:gd name="connsiteX2-55" fmla="*/ 9017266 w 9017266"/>
              <a:gd name="connsiteY2-56" fmla="*/ 1490472 h 1490472"/>
              <a:gd name="connsiteX3-57" fmla="*/ 531634 w 9017266"/>
              <a:gd name="connsiteY3-58" fmla="*/ 1490472 h 1490472"/>
              <a:gd name="connsiteX4-59" fmla="*/ 531634 w 9017266"/>
              <a:gd name="connsiteY4-60" fmla="*/ 0 h 1490472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9017266" h="1490472">
                <a:moveTo>
                  <a:pt x="531634" y="0"/>
                </a:moveTo>
                <a:lnTo>
                  <a:pt x="9017266" y="0"/>
                </a:lnTo>
                <a:lnTo>
                  <a:pt x="9017266" y="1490472"/>
                </a:lnTo>
                <a:lnTo>
                  <a:pt x="531634" y="1490472"/>
                </a:lnTo>
                <a:cubicBezTo>
                  <a:pt x="-199886" y="1432560"/>
                  <a:pt x="-154166" y="76200"/>
                  <a:pt x="531634" y="0"/>
                </a:cubicBezTo>
                <a:close/>
              </a:path>
            </a:pathLst>
          </a:custGeom>
          <a:solidFill>
            <a:schemeClr val="bg1">
              <a:alpha val="1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123" name="文本框 13"/>
          <p:cNvSpPr txBox="1"/>
          <p:nvPr/>
        </p:nvSpPr>
        <p:spPr>
          <a:xfrm>
            <a:off x="551180" y="2389505"/>
            <a:ext cx="9393555" cy="92202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en-US" sz="5400" b="1" dirty="0">
                <a:solidFill>
                  <a:srgbClr val="00B0F0"/>
                </a:solidFill>
                <a:latin typeface="Microsoft YaHei" pitchFamily="34" charset="-122"/>
                <a:ea typeface="Microsoft YaHei" pitchFamily="34" charset="-122"/>
              </a:rPr>
              <a:t> Week 2 - Swift for UIKit</a:t>
            </a:r>
            <a:endParaRPr lang="en-US" altLang="en-US" sz="5400" b="1" dirty="0">
              <a:solidFill>
                <a:srgbClr val="00B0F0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625158" y="3263583"/>
            <a:ext cx="788860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5" name="文本框 15"/>
          <p:cNvSpPr txBox="1"/>
          <p:nvPr/>
        </p:nvSpPr>
        <p:spPr>
          <a:xfrm>
            <a:off x="588963" y="3400425"/>
            <a:ext cx="4481512" cy="36830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zh-CN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In the AI Era(Swift + SwiftUI)</a:t>
            </a:r>
            <a:endParaRPr lang="en-US" altLang="zh-CN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2" name="文本框 15"/>
          <p:cNvSpPr txBox="1"/>
          <p:nvPr/>
        </p:nvSpPr>
        <p:spPr>
          <a:xfrm>
            <a:off x="7103428" y="5876925"/>
            <a:ext cx="4481512" cy="36830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en-US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Instructor : </a:t>
            </a:r>
            <a:r>
              <a:rPr lang="en-US" altLang="zh-CN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Mr. Nem Sothea</a:t>
            </a:r>
            <a:endParaRPr lang="en-US" altLang="zh-CN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3" name="文本框 15"/>
          <p:cNvSpPr txBox="1"/>
          <p:nvPr/>
        </p:nvSpPr>
        <p:spPr>
          <a:xfrm>
            <a:off x="8331200" y="6189980"/>
            <a:ext cx="3339465" cy="33718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 sz="1600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nemsothea13@gmail.com</a:t>
            </a:r>
            <a:endParaRPr lang="en-US" altLang="zh-CN" sz="1600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rcRect l="3876" t="5679" r="5069"/>
          <a:stretch>
            <a:fillRect/>
          </a:stretch>
        </p:blipFill>
        <p:spPr>
          <a:xfrm>
            <a:off x="7321550" y="3543935"/>
            <a:ext cx="4263390" cy="177482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2958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 Review &amp; Today's Goals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1057910" y="1328420"/>
            <a:ext cx="7138670" cy="3800475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Last Week: </a:t>
            </a:r>
            <a:r>
              <a:rPr lang="en-US" altLang="en-US" sz="1600" b="0" i="0">
                <a:solidFill>
                  <a:srgbClr val="FF0000"/>
                </a:solidFill>
                <a:latin typeface="quote-cjk-patch"/>
                <a:ea typeface="quote-cjk-patch"/>
              </a:rPr>
              <a:t>Variables, Constants, Types, Operators, if/else.</a:t>
            </a:r>
            <a:endParaRPr lang="en-US" altLang="en-US" sz="1600" b="0" i="0">
              <a:solidFill>
                <a:srgbClr val="FF0000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This Week's Goals: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800100" lvl="1" indent="-342900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Understand Functions to organize our code.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800100" lvl="1" indent="-342900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Master Optionals to handle missing data safely.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800100" lvl="1" indent="-342900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Use Collections (</a:t>
            </a:r>
            <a:r>
              <a:rPr lang="en-US" altLang="en-US" sz="1600" b="0" i="0">
                <a:solidFill>
                  <a:srgbClr val="FF0000"/>
                </a:solidFill>
                <a:latin typeface="quote-cjk-patch"/>
                <a:ea typeface="quote-cjk-patch"/>
              </a:rPr>
              <a:t>Arrays, Dictionaries</a:t>
            </a: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) to manage groups of data.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800100" lvl="1" indent="-342900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Connect code to a UI with IBOutlet and IBAction.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2958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Why Functions?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89330" y="1328420"/>
            <a:ext cx="5792470" cy="5528945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Functions are reusable blocks of code that perform a specific task.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Why use them?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742950" lvl="1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Organization: Break complex problems into small, manageable pieces.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742950" lvl="1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Reusability: Write once, use many times.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742950" lvl="1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Avoid Repetition:</a:t>
            </a:r>
            <a:r>
              <a:rPr lang="en-US" altLang="en-US" sz="1600" i="1">
                <a:solidFill>
                  <a:srgbClr val="F8FAFF"/>
                </a:solidFill>
                <a:latin typeface="quote-cjk-patch"/>
                <a:ea typeface="quote-cjk-patch"/>
              </a:rPr>
              <a:t> Don't Repeat Yourself (DRY principle).</a:t>
            </a:r>
            <a:endParaRPr lang="en-US" altLang="en-US" sz="1600" i="1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781800" y="1987550"/>
            <a:ext cx="5080000" cy="2306955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Defining a function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>
                <a:solidFill>
                  <a:srgbClr val="FC6BAA"/>
                </a:solidFill>
              </a:rPr>
              <a:t>func</a:t>
            </a:r>
            <a:r>
              <a:rPr lang="" altLang="en-US" sz="1800">
                <a:solidFill>
                  <a:srgbClr val="FC6BAA"/>
                </a:solidFill>
              </a:rPr>
              <a:t> </a:t>
            </a:r>
            <a:r>
              <a:rPr lang="en-US" altLang="zh-CN" sz="1800">
                <a:solidFill>
                  <a:srgbClr val="42B8E0"/>
                </a:solidFill>
              </a:rPr>
              <a:t>greetUser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" altLang="en-US" sz="1800">
                <a:solidFill>
                  <a:srgbClr val="FFFFFF"/>
                </a:solidFill>
              </a:rPr>
              <a:t> </a:t>
            </a:r>
            <a:r>
              <a:rPr lang="en-US" altLang="zh-CN" sz="1800">
                <a:solidFill>
                  <a:srgbClr val="FFFFFF"/>
                </a:solidFill>
              </a:rPr>
              <a:t>) {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FC7467"/>
                </a:solidFill>
              </a:rPr>
              <a:t>"Hello, welcome to the app!"</a:t>
            </a:r>
            <a:r>
              <a:rPr lang="en-US" altLang="zh-CN" sz="1800">
                <a:solidFill>
                  <a:srgbClr val="FFFFFF"/>
                </a:solidFill>
              </a:rPr>
              <a:t>)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Calling a function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>
                <a:solidFill>
                  <a:srgbClr val="72BFAE"/>
                </a:solidFill>
              </a:rPr>
              <a:t>greetUser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" altLang="en-US" sz="1800">
                <a:solidFill>
                  <a:srgbClr val="FFFFFF"/>
                </a:solidFill>
              </a:rPr>
              <a:t> 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Prints "Hello, welcome to the app!"</a:t>
            </a:r>
            <a:endParaRPr lang="en-US" altLang="zh-CN" sz="1800">
              <a:solidFill>
                <a:srgbClr val="7CB554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633603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 Functions with Parameters and Returns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12495" y="1263650"/>
            <a:ext cx="5792470" cy="1448435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Parameters: Inputs to the function.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Return Value: The output of the function.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139190" y="2712085"/>
            <a:ext cx="10584815" cy="34150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Function with parameters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>
                <a:solidFill>
                  <a:srgbClr val="FC6BAA"/>
                </a:solidFill>
              </a:rPr>
              <a:t>func</a:t>
            </a:r>
            <a:r>
              <a:rPr lang="" altLang="en-US" sz="1800">
                <a:solidFill>
                  <a:srgbClr val="FC6BAA"/>
                </a:solidFill>
              </a:rPr>
              <a:t> </a:t>
            </a:r>
            <a:r>
              <a:rPr lang="en-US" altLang="zh-CN" sz="1800">
                <a:solidFill>
                  <a:srgbClr val="42B8E0"/>
                </a:solidFill>
              </a:rPr>
              <a:t>greetUserByName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en-US" altLang="zh-CN" sz="1800">
                <a:solidFill>
                  <a:srgbClr val="42B8E0"/>
                </a:solidFill>
              </a:rPr>
              <a:t>name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) {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FC7467"/>
                </a:solidFill>
              </a:rPr>
              <a:t>"Hello, </a:t>
            </a:r>
            <a:r>
              <a:rPr lang="en-US" altLang="zh-CN" sz="1800">
                <a:solidFill>
                  <a:srgbClr val="FFFFFF"/>
                </a:solidFill>
              </a:rPr>
              <a:t>\(name)</a:t>
            </a:r>
            <a:r>
              <a:rPr lang="en-US" altLang="zh-CN" sz="1800">
                <a:solidFill>
                  <a:srgbClr val="FC7467"/>
                </a:solidFill>
              </a:rPr>
              <a:t>!"</a:t>
            </a:r>
            <a:r>
              <a:rPr lang="en-US" altLang="zh-CN" sz="1800">
                <a:solidFill>
                  <a:srgbClr val="FFFFFF"/>
                </a:solidFill>
              </a:rPr>
              <a:t>)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>
                <a:solidFill>
                  <a:srgbClr val="72BFAE"/>
                </a:solidFill>
              </a:rPr>
              <a:t>greetUserByName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en-US" altLang="zh-CN" sz="1800">
                <a:solidFill>
                  <a:srgbClr val="72BFAE"/>
                </a:solidFill>
              </a:rPr>
              <a:t>name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FC7467"/>
                </a:solidFill>
              </a:rPr>
              <a:t>"Marina"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Calls the function with an argument</a:t>
            </a:r>
            <a:endParaRPr lang="en-US" altLang="zh-CN" sz="1800">
              <a:solidFill>
                <a:srgbClr val="7CB554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zh-CN" sz="1800">
              <a:solidFill>
                <a:srgbClr val="7CB554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Function with a return value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>
                <a:solidFill>
                  <a:srgbClr val="FC6BAA"/>
                </a:solidFill>
              </a:rPr>
              <a:t>func</a:t>
            </a:r>
            <a:r>
              <a:rPr lang="" altLang="en-US" sz="1800">
                <a:solidFill>
                  <a:srgbClr val="FC6BAA"/>
                </a:solidFill>
              </a:rPr>
              <a:t> </a:t>
            </a:r>
            <a:r>
              <a:rPr lang="en-US" altLang="zh-CN" sz="1800">
                <a:solidFill>
                  <a:srgbClr val="42B8E0"/>
                </a:solidFill>
              </a:rPr>
              <a:t>createGreeting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en-US" altLang="zh-CN" sz="1800">
                <a:solidFill>
                  <a:srgbClr val="42B8E0"/>
                </a:solidFill>
              </a:rPr>
              <a:t>name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) -&gt; 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 {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C6BAA"/>
                </a:solidFill>
              </a:rPr>
              <a:t>return</a:t>
            </a:r>
            <a:r>
              <a:rPr lang="en-US" altLang="zh-CN" sz="1800">
                <a:solidFill>
                  <a:srgbClr val="FC7467"/>
                </a:solidFill>
              </a:rPr>
              <a:t>"Hello, </a:t>
            </a:r>
            <a:r>
              <a:rPr lang="en-US" altLang="zh-CN" sz="1800">
                <a:solidFill>
                  <a:srgbClr val="FFFFFF"/>
                </a:solidFill>
              </a:rPr>
              <a:t>\(name)</a:t>
            </a:r>
            <a:r>
              <a:rPr lang="en-US" altLang="zh-CN" sz="1800">
                <a:solidFill>
                  <a:srgbClr val="FC7467"/>
                </a:solidFill>
              </a:rPr>
              <a:t>!"</a:t>
            </a:r>
            <a:endParaRPr lang="en-US" altLang="zh-CN" sz="1800">
              <a:solidFill>
                <a:srgbClr val="FC7467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C6BAA"/>
              </a:solidFill>
            </a:endParaRPr>
          </a:p>
          <a:p>
            <a:r>
              <a:rPr lang="en-US" altLang="zh-CN" sz="1800">
                <a:solidFill>
                  <a:srgbClr val="FC6BAA"/>
                </a:solidFill>
              </a:rPr>
              <a:t>let</a:t>
            </a:r>
            <a:r>
              <a:rPr lang="en-US" altLang="zh-CN" sz="1800">
                <a:solidFill>
                  <a:srgbClr val="42B8E0"/>
                </a:solidFill>
              </a:rPr>
              <a:t>message</a:t>
            </a:r>
            <a:r>
              <a:rPr lang="en-US" altLang="zh-CN" sz="1800">
                <a:solidFill>
                  <a:srgbClr val="FFFFFF"/>
                </a:solidFill>
              </a:rPr>
              <a:t> = </a:t>
            </a:r>
            <a:r>
              <a:rPr lang="en-US" altLang="zh-CN" sz="1800">
                <a:solidFill>
                  <a:srgbClr val="72BFAE"/>
                </a:solidFill>
              </a:rPr>
              <a:t>createGreeting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en-US" altLang="zh-CN" sz="1800">
                <a:solidFill>
                  <a:srgbClr val="72BFAE"/>
                </a:solidFill>
              </a:rPr>
              <a:t>name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FC7467"/>
                </a:solidFill>
              </a:rPr>
              <a:t>"Sothea"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message holds "Hello, Sothea!"</a:t>
            </a:r>
            <a:endParaRPr lang="en-US" altLang="zh-CN" sz="1800">
              <a:solidFill>
                <a:srgbClr val="7CB554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989330" y="803275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 The Billion-Dollar Mistake: Optionals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12495" y="1263650"/>
            <a:ext cx="6642735" cy="2223135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How do you represent the absence of a value?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Example: A user's middle name (they might not have one).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An Optional is a type that can hold either a value OR nil.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nil means "no value”.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87425" y="3429000"/>
            <a:ext cx="7899400" cy="286131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C6BAA"/>
                </a:solidFill>
              </a:rPr>
              <a:t>var</a:t>
            </a:r>
            <a:r>
              <a:rPr lang="" altLang="en-US" sz="1800">
                <a:solidFill>
                  <a:srgbClr val="FC6BAA"/>
                </a:solidFill>
              </a:rPr>
              <a:t> </a:t>
            </a:r>
            <a:r>
              <a:rPr lang="en-US" altLang="zh-CN" sz="1800">
                <a:solidFill>
                  <a:srgbClr val="42B8E0"/>
                </a:solidFill>
              </a:rPr>
              <a:t>middleName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? = </a:t>
            </a:r>
            <a:r>
              <a:rPr lang="en-US" altLang="zh-CN" sz="1800">
                <a:solidFill>
                  <a:srgbClr val="FC7467"/>
                </a:solidFill>
              </a:rPr>
              <a:t>"Mama"</a:t>
            </a:r>
            <a:r>
              <a:rPr lang="en-US" altLang="zh-CN" sz="1800">
                <a:solidFill>
                  <a:srgbClr val="7CB554"/>
                </a:solidFill>
              </a:rPr>
              <a:t>// The '?' makes it an Optional String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72BFAE"/>
                </a:solidFill>
              </a:rPr>
              <a:t>middleName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Output: Optional("Mama")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endParaRPr lang="en-US" altLang="zh-CN" sz="1800">
              <a:solidFill>
                <a:srgbClr val="72BFAE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72BFAE"/>
                </a:solidFill>
              </a:rPr>
              <a:t>middleName</a:t>
            </a:r>
            <a:r>
              <a:rPr lang="en-US" altLang="zh-CN" sz="1800">
                <a:solidFill>
                  <a:srgbClr val="FFFFFF"/>
                </a:solidFill>
              </a:rPr>
              <a:t> = </a:t>
            </a:r>
            <a:r>
              <a:rPr lang="en-US" altLang="zh-CN" sz="1800">
                <a:solidFill>
                  <a:srgbClr val="FC6BAA"/>
                </a:solidFill>
              </a:rPr>
              <a:t>nil</a:t>
            </a:r>
            <a:r>
              <a:rPr lang="en-US" altLang="zh-CN" sz="1800">
                <a:solidFill>
                  <a:srgbClr val="7CB554"/>
                </a:solidFill>
              </a:rPr>
              <a:t>// Now it has no value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72BFAE"/>
                </a:solidFill>
              </a:rPr>
              <a:t>middleName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Output: nil</a:t>
            </a:r>
            <a:endParaRPr lang="en-US" altLang="zh-CN" sz="1800">
              <a:solidFill>
                <a:srgbClr val="7CB554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54735" y="809625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 Unwrapping Optionals Safely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88695" y="1351915"/>
            <a:ext cx="10929620" cy="1569720"/>
          </a:xfrm>
          <a:prstGeom prst="rect">
            <a:avLst/>
          </a:prstGeom>
        </p:spPr>
        <p:txBody>
          <a:bodyPr>
            <a:noAutofit/>
          </a:bodyPr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You must unwrap an optional to use the value inside.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  <a:p>
            <a:pPr marL="285750" indent="-28575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"/>
            </a:pPr>
            <a:r>
              <a:rPr lang="en-US" altLang="en-US" sz="1600" b="0" i="0">
                <a:solidFill>
                  <a:srgbClr val="F8FAFF"/>
                </a:solidFill>
                <a:latin typeface="quote-cjk-patch"/>
                <a:ea typeface="quote-cjk-patch"/>
              </a:rPr>
              <a:t>if let Binding: Safely unwrap. If there's a value, use it. If it's nil, skip the code.</a:t>
            </a:r>
            <a:endParaRPr lang="en-US" altLang="en-US" sz="1600" b="0" i="0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054735" y="2693035"/>
            <a:ext cx="10863580" cy="258445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800">
                <a:solidFill>
                  <a:srgbClr val="FC6BAA"/>
                </a:solidFill>
              </a:rPr>
              <a:t>var</a:t>
            </a:r>
            <a:r>
              <a:rPr lang="" altLang="en-US" sz="1800">
                <a:solidFill>
                  <a:srgbClr val="FC6BAA"/>
                </a:solidFill>
              </a:rPr>
              <a:t> </a:t>
            </a:r>
            <a:r>
              <a:rPr lang="en-US" altLang="zh-CN" sz="1800">
                <a:solidFill>
                  <a:srgbClr val="42B8E0"/>
                </a:solidFill>
              </a:rPr>
              <a:t>possibleNumber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? = </a:t>
            </a:r>
            <a:r>
              <a:rPr lang="en-US" altLang="zh-CN" sz="1800">
                <a:solidFill>
                  <a:srgbClr val="FC7467"/>
                </a:solidFill>
              </a:rPr>
              <a:t>"42"</a:t>
            </a:r>
            <a:endParaRPr lang="en-US" altLang="zh-CN" sz="1800">
              <a:solidFill>
                <a:srgbClr val="FC7467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C6BAA"/>
                </a:solidFill>
              </a:rPr>
              <a:t>iflet</a:t>
            </a:r>
            <a:r>
              <a:rPr lang="en-US" altLang="zh-CN" sz="1800">
                <a:solidFill>
                  <a:srgbClr val="FFFFFF"/>
                </a:solidFill>
              </a:rPr>
              <a:t> actualNumber = </a:t>
            </a:r>
            <a:r>
              <a:rPr lang="en-US" altLang="zh-CN" sz="1800">
                <a:solidFill>
                  <a:srgbClr val="72BFAE"/>
                </a:solidFill>
              </a:rPr>
              <a:t>possibleNumber</a:t>
            </a:r>
            <a:r>
              <a:rPr lang="en-US" altLang="zh-CN" sz="1800">
                <a:solidFill>
                  <a:srgbClr val="FFFFFF"/>
                </a:solidFill>
              </a:rPr>
              <a:t> {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7CB554"/>
                </a:solidFill>
              </a:rPr>
              <a:t>// This code only runs if possibleNumber is NOT nil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FC7467"/>
                </a:solidFill>
              </a:rPr>
              <a:t>"The number is </a:t>
            </a:r>
            <a:r>
              <a:rPr lang="en-US" altLang="zh-CN" sz="1800">
                <a:solidFill>
                  <a:srgbClr val="FFFFFF"/>
                </a:solidFill>
              </a:rPr>
              <a:t>\(</a:t>
            </a:r>
            <a:r>
              <a:rPr lang="en-US" altLang="zh-CN" sz="1800">
                <a:solidFill>
                  <a:srgbClr val="72BFAE"/>
                </a:solidFill>
              </a:rPr>
              <a:t>actualNumber</a:t>
            </a:r>
            <a:r>
              <a:rPr lang="en-US" altLang="zh-CN" sz="1800">
                <a:solidFill>
                  <a:srgbClr val="FFFFFF"/>
                </a:solidFill>
              </a:rPr>
              <a:t>)</a:t>
            </a:r>
            <a:r>
              <a:rPr lang="en-US" altLang="zh-CN" sz="1800">
                <a:solidFill>
                  <a:srgbClr val="FC7467"/>
                </a:solidFill>
              </a:rPr>
              <a:t>."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'actualNumber' is a String, not an Optional</a:t>
            </a:r>
            <a:endParaRPr lang="en-US" altLang="zh-CN" sz="1800">
              <a:solidFill>
                <a:srgbClr val="7CB554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 </a:t>
            </a:r>
            <a:r>
              <a:rPr lang="en-US" altLang="zh-CN" sz="1800">
                <a:solidFill>
                  <a:srgbClr val="FC6BAA"/>
                </a:solidFill>
              </a:rPr>
              <a:t>else</a:t>
            </a:r>
            <a:r>
              <a:rPr lang="en-US" altLang="zh-CN" sz="1800">
                <a:solidFill>
                  <a:srgbClr val="FFFFFF"/>
                </a:solidFill>
              </a:rPr>
              <a:t> {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FC7467"/>
                </a:solidFill>
              </a:rPr>
              <a:t>"The number is missing."</a:t>
            </a:r>
            <a:r>
              <a:rPr lang="en-US" altLang="zh-CN" sz="1800">
                <a:solidFill>
                  <a:srgbClr val="FFFFFF"/>
                </a:solidFill>
              </a:rPr>
              <a:t>)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'actualNumber' does not exist out here.</a:t>
            </a:r>
            <a:endParaRPr lang="en-US" altLang="zh-CN" sz="1800">
              <a:solidFill>
                <a:srgbClr val="7CB554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902970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Collections: Arrays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016000" y="1626870"/>
            <a:ext cx="6927850" cy="1045845"/>
          </a:xfrm>
          <a:prstGeom prst="rect">
            <a:avLst/>
          </a:prstGeom>
        </p:spPr>
        <p:txBody>
          <a:bodyPr>
            <a:noAutofit/>
          </a:bodyPr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An Array stores an ordered list of values of the same type.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081405" y="2253615"/>
            <a:ext cx="9972675" cy="452310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Creating Arrays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C6BAA"/>
                </a:solidFill>
              </a:rPr>
              <a:t>var </a:t>
            </a:r>
            <a:r>
              <a:rPr lang="en-US" altLang="zh-CN" sz="1800">
                <a:solidFill>
                  <a:srgbClr val="42B8E0"/>
                </a:solidFill>
              </a:rPr>
              <a:t>shoppingList</a:t>
            </a:r>
            <a:r>
              <a:rPr lang="en-US" altLang="zh-CN" sz="1800">
                <a:solidFill>
                  <a:srgbClr val="FFFFFF"/>
                </a:solidFill>
              </a:rPr>
              <a:t>: [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] = [</a:t>
            </a:r>
            <a:r>
              <a:rPr lang="en-US" altLang="zh-CN" sz="1800">
                <a:solidFill>
                  <a:srgbClr val="FC7467"/>
                </a:solidFill>
              </a:rPr>
              <a:t>"Eggs"</a:t>
            </a:r>
            <a:r>
              <a:rPr lang="en-US" altLang="zh-CN" sz="1800">
                <a:solidFill>
                  <a:srgbClr val="FFFFFF"/>
                </a:solidFill>
              </a:rPr>
              <a:t>, </a:t>
            </a:r>
            <a:r>
              <a:rPr lang="en-US" altLang="zh-CN" sz="1800">
                <a:solidFill>
                  <a:srgbClr val="FC7467"/>
                </a:solidFill>
              </a:rPr>
              <a:t>"Milk"</a:t>
            </a:r>
            <a:r>
              <a:rPr lang="en-US" altLang="zh-CN" sz="1800">
                <a:solidFill>
                  <a:srgbClr val="FFFFFF"/>
                </a:solidFill>
              </a:rPr>
              <a:t>, </a:t>
            </a:r>
            <a:r>
              <a:rPr lang="en-US" altLang="zh-CN" sz="1800">
                <a:solidFill>
                  <a:srgbClr val="FC7467"/>
                </a:solidFill>
              </a:rPr>
              <a:t>"Bread"</a:t>
            </a:r>
            <a:r>
              <a:rPr lang="en-US" altLang="zh-CN" sz="1800">
                <a:solidFill>
                  <a:srgbClr val="FFFFFF"/>
                </a:solidFill>
              </a:rPr>
              <a:t>]</a:t>
            </a:r>
            <a:endParaRPr lang="en-US" altLang="zh-CN" sz="1800">
              <a:solidFill>
                <a:srgbClr val="FFFFFF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C6BAA"/>
                </a:solidFill>
              </a:rPr>
              <a:t>var </a:t>
            </a:r>
            <a:r>
              <a:rPr lang="en-US" altLang="zh-CN" sz="1800">
                <a:solidFill>
                  <a:srgbClr val="42B8E0"/>
                </a:solidFill>
              </a:rPr>
              <a:t>scores</a:t>
            </a:r>
            <a:r>
              <a:rPr lang="en-US" altLang="zh-CN" sz="1800">
                <a:solidFill>
                  <a:srgbClr val="FFFFFF"/>
                </a:solidFill>
              </a:rPr>
              <a:t> = [</a:t>
            </a:r>
            <a:r>
              <a:rPr lang="en-US" altLang="zh-CN" sz="1800">
                <a:solidFill>
                  <a:srgbClr val="D0BC56"/>
                </a:solidFill>
              </a:rPr>
              <a:t>92</a:t>
            </a:r>
            <a:r>
              <a:rPr lang="en-US" altLang="zh-CN" sz="1800">
                <a:solidFill>
                  <a:srgbClr val="FFFFFF"/>
                </a:solidFill>
              </a:rPr>
              <a:t>, </a:t>
            </a:r>
            <a:r>
              <a:rPr lang="en-US" altLang="zh-CN" sz="1800">
                <a:solidFill>
                  <a:srgbClr val="D0BC56"/>
                </a:solidFill>
              </a:rPr>
              <a:t>85</a:t>
            </a:r>
            <a:r>
              <a:rPr lang="en-US" altLang="zh-CN" sz="1800">
                <a:solidFill>
                  <a:srgbClr val="FFFFFF"/>
                </a:solidFill>
              </a:rPr>
              <a:t>, </a:t>
            </a:r>
            <a:r>
              <a:rPr lang="en-US" altLang="zh-CN" sz="1800">
                <a:solidFill>
                  <a:srgbClr val="D0BC56"/>
                </a:solidFill>
              </a:rPr>
              <a:t>97</a:t>
            </a:r>
            <a:r>
              <a:rPr lang="en-US" altLang="zh-CN" sz="1800">
                <a:solidFill>
                  <a:srgbClr val="FFFFFF"/>
                </a:solidFill>
              </a:rPr>
              <a:t>] </a:t>
            </a:r>
            <a:r>
              <a:rPr lang="en-US" altLang="zh-CN" sz="1800">
                <a:solidFill>
                  <a:srgbClr val="7CB554"/>
                </a:solidFill>
              </a:rPr>
              <a:t>// Type inferred as [Int]</a:t>
            </a:r>
            <a:endParaRPr lang="en-US" altLang="zh-CN" sz="1800">
              <a:solidFill>
                <a:srgbClr val="7CB554"/>
              </a:solidFill>
            </a:endParaRPr>
          </a:p>
          <a:p>
            <a:pPr marL="0" inden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Accessing &amp; Modifying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72BFAE"/>
                </a:solidFill>
              </a:rPr>
              <a:t>shoppingList</a:t>
            </a:r>
            <a:r>
              <a:rPr lang="en-US" altLang="zh-CN" sz="1800">
                <a:solidFill>
                  <a:srgbClr val="FFFFFF"/>
                </a:solidFill>
              </a:rPr>
              <a:t>[</a:t>
            </a:r>
            <a:r>
              <a:rPr lang="en-US" altLang="zh-CN" sz="1800">
                <a:solidFill>
                  <a:srgbClr val="D0BC56"/>
                </a:solidFill>
              </a:rPr>
              <a:t>0</a:t>
            </a:r>
            <a:r>
              <a:rPr lang="en-US" altLang="zh-CN" sz="1800">
                <a:solidFill>
                  <a:srgbClr val="FFFFFF"/>
                </a:solidFill>
              </a:rPr>
              <a:t>]) </a:t>
            </a:r>
            <a:r>
              <a:rPr lang="en-US" altLang="zh-CN" sz="1800">
                <a:solidFill>
                  <a:srgbClr val="7CB554"/>
                </a:solidFill>
              </a:rPr>
              <a:t>// "Eggs"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72BFAE"/>
                </a:solidFill>
              </a:rPr>
              <a:t>shoppingList</a:t>
            </a:r>
            <a:r>
              <a:rPr lang="en-US" altLang="zh-CN" sz="1800">
                <a:solidFill>
                  <a:srgbClr val="FFFFFF"/>
                </a:solidFill>
              </a:rPr>
              <a:t>.append(</a:t>
            </a:r>
            <a:r>
              <a:rPr lang="en-US" altLang="zh-CN" sz="1800">
                <a:solidFill>
                  <a:srgbClr val="FC7467"/>
                </a:solidFill>
              </a:rPr>
              <a:t>"Apples"</a:t>
            </a:r>
            <a:r>
              <a:rPr lang="en-US" altLang="zh-CN" sz="1800">
                <a:solidFill>
                  <a:srgbClr val="FFFFFF"/>
                </a:solidFill>
              </a:rPr>
              <a:t>) </a:t>
            </a:r>
            <a:r>
              <a:rPr lang="en-US" altLang="zh-CN" sz="1800">
                <a:solidFill>
                  <a:srgbClr val="7CB554"/>
                </a:solidFill>
              </a:rPr>
              <a:t>// Adds to the end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zh-CN" sz="1800">
                <a:solidFill>
                  <a:srgbClr val="72BFAE"/>
                </a:solidFill>
              </a:rPr>
              <a:t>shoppingList</a:t>
            </a:r>
            <a:r>
              <a:rPr lang="en-US" altLang="zh-CN" sz="1800">
                <a:solidFill>
                  <a:srgbClr val="FFFFFF"/>
                </a:solidFill>
              </a:rPr>
              <a:t>[</a:t>
            </a:r>
            <a:r>
              <a:rPr lang="en-US" altLang="zh-CN" sz="1800">
                <a:solidFill>
                  <a:srgbClr val="D0BC56"/>
                </a:solidFill>
              </a:rPr>
              <a:t>1</a:t>
            </a:r>
            <a:r>
              <a:rPr lang="en-US" altLang="zh-CN" sz="1800">
                <a:solidFill>
                  <a:srgbClr val="FFFFFF"/>
                </a:solidFill>
              </a:rPr>
              <a:t>] = </a:t>
            </a:r>
            <a:r>
              <a:rPr lang="en-US" altLang="zh-CN" sz="1800">
                <a:solidFill>
                  <a:srgbClr val="FC7467"/>
                </a:solidFill>
              </a:rPr>
              <a:t>"Almond Milk"</a:t>
            </a:r>
            <a:r>
              <a:rPr lang="en-US" altLang="zh-CN" sz="1800">
                <a:solidFill>
                  <a:srgbClr val="7CB554"/>
                </a:solidFill>
              </a:rPr>
              <a:t>// Replaces "Milk"</a:t>
            </a:r>
            <a:endParaRPr lang="en-US" altLang="zh-CN" sz="1800">
              <a:solidFill>
                <a:srgbClr val="7CB554"/>
              </a:solidFill>
            </a:endParaRPr>
          </a:p>
          <a:p>
            <a:pPr marL="0" inden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72BFAE"/>
                </a:solidFill>
              </a:rPr>
              <a:t>shoppingList</a:t>
            </a:r>
            <a:r>
              <a:rPr lang="en-US" altLang="zh-CN" sz="1800">
                <a:solidFill>
                  <a:srgbClr val="FFFFFF"/>
                </a:solidFill>
              </a:rPr>
              <a:t>.count) </a:t>
            </a:r>
            <a:r>
              <a:rPr lang="en-US" altLang="zh-CN" sz="1800">
                <a:solidFill>
                  <a:srgbClr val="7CB554"/>
                </a:solidFill>
              </a:rPr>
              <a:t>// 4</a:t>
            </a:r>
            <a:endParaRPr lang="en-US" altLang="zh-CN" sz="1800">
              <a:solidFill>
                <a:srgbClr val="7CB554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678815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Collections: Dictionaries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016000" y="1221740"/>
            <a:ext cx="9533890" cy="624840"/>
          </a:xfrm>
          <a:prstGeom prst="rect">
            <a:avLst/>
          </a:prstGeom>
        </p:spPr>
        <p:txBody>
          <a:bodyPr>
            <a:noAutofit/>
          </a:bodyPr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A Dictionary stores key-value pairs. Unordered. You look up a value by its unique key.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016000" y="1780540"/>
            <a:ext cx="11548110" cy="50774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Creating a Dictionary [Key: Value]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>
                <a:solidFill>
                  <a:srgbClr val="FC6BAA"/>
                </a:solidFill>
              </a:rPr>
              <a:t>var </a:t>
            </a:r>
            <a:r>
              <a:rPr lang="en-US" altLang="zh-CN" sz="1800">
                <a:solidFill>
                  <a:srgbClr val="42B8E0"/>
                </a:solidFill>
              </a:rPr>
              <a:t>userDictionary</a:t>
            </a:r>
            <a:r>
              <a:rPr lang="en-US" altLang="zh-CN" sz="1800">
                <a:solidFill>
                  <a:srgbClr val="FFFFFF"/>
                </a:solidFill>
              </a:rPr>
              <a:t>: [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DEC1FF"/>
                </a:solidFill>
              </a:rPr>
              <a:t>String</a:t>
            </a:r>
            <a:r>
              <a:rPr lang="en-US" altLang="zh-CN" sz="1800">
                <a:solidFill>
                  <a:srgbClr val="FFFFFF"/>
                </a:solidFill>
              </a:rPr>
              <a:t>] = [</a:t>
            </a:r>
            <a:endParaRPr lang="en-US" altLang="zh-CN" sz="180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/>
              <a:t>    </a:t>
            </a:r>
            <a:r>
              <a:rPr lang="en-US" altLang="zh-CN" sz="1800">
                <a:solidFill>
                  <a:srgbClr val="FC7467"/>
                </a:solidFill>
              </a:rPr>
              <a:t>"name"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FC7467"/>
                </a:solidFill>
              </a:rPr>
              <a:t>"Nem Sothea"</a:t>
            </a:r>
            <a:r>
              <a:rPr lang="en-US" altLang="zh-CN" sz="1800">
                <a:solidFill>
                  <a:srgbClr val="FFFFFF"/>
                </a:solidFill>
              </a:rPr>
              <a:t>,</a:t>
            </a:r>
            <a:endParaRPr lang="en-US" altLang="zh-CN" sz="180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/>
              <a:t>    </a:t>
            </a:r>
            <a:r>
              <a:rPr lang="en-US" altLang="zh-CN" sz="1800">
                <a:solidFill>
                  <a:srgbClr val="FC7467"/>
                </a:solidFill>
              </a:rPr>
              <a:t>"email"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FC7467"/>
                </a:solidFill>
              </a:rPr>
              <a:t>"nemsothea13@gmail.com"</a:t>
            </a:r>
            <a:r>
              <a:rPr lang="en-US" altLang="zh-CN" sz="1800">
                <a:solidFill>
                  <a:srgbClr val="FFFFFF"/>
                </a:solidFill>
              </a:rPr>
              <a:t>,</a:t>
            </a:r>
            <a:endParaRPr lang="en-US" altLang="zh-CN" sz="180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/>
              <a:t>    </a:t>
            </a:r>
            <a:r>
              <a:rPr lang="en-US" altLang="zh-CN" sz="1800">
                <a:solidFill>
                  <a:srgbClr val="FC7467"/>
                </a:solidFill>
              </a:rPr>
              <a:t>"password"</a:t>
            </a:r>
            <a:r>
              <a:rPr lang="en-US" altLang="zh-CN" sz="1800">
                <a:solidFill>
                  <a:srgbClr val="FFFFFF"/>
                </a:solidFill>
              </a:rPr>
              <a:t>: </a:t>
            </a:r>
            <a:r>
              <a:rPr lang="en-US" altLang="zh-CN" sz="1800">
                <a:solidFill>
                  <a:srgbClr val="FC7467"/>
                </a:solidFill>
              </a:rPr>
              <a:t>"qwer1234@"</a:t>
            </a:r>
            <a:endParaRPr lang="en-US" altLang="zh-CN" sz="1800">
              <a:solidFill>
                <a:srgbClr val="FC7467"/>
              </a:solidFill>
            </a:endParaRPr>
          </a:p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]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7CB554"/>
                </a:solidFill>
              </a:rPr>
              <a:t>// Accessing &amp; Modifying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72BFAE"/>
                </a:solidFill>
              </a:rPr>
              <a:t>userDictionary</a:t>
            </a:r>
            <a:r>
              <a:rPr lang="en-US" altLang="zh-CN" sz="1800">
                <a:solidFill>
                  <a:srgbClr val="FFFFFF"/>
                </a:solidFill>
              </a:rPr>
              <a:t>[</a:t>
            </a:r>
            <a:r>
              <a:rPr lang="en-US" altLang="zh-CN" sz="1800">
                <a:solidFill>
                  <a:srgbClr val="FC7467"/>
                </a:solidFill>
              </a:rPr>
              <a:t>"name"</a:t>
            </a:r>
            <a:r>
              <a:rPr lang="en-US" altLang="zh-CN" sz="1800">
                <a:solidFill>
                  <a:srgbClr val="FFFFFF"/>
                </a:solidFill>
              </a:rPr>
              <a:t>]!) </a:t>
            </a:r>
            <a:r>
              <a:rPr lang="en-US" altLang="zh-CN" sz="1800">
                <a:solidFill>
                  <a:srgbClr val="7CB554"/>
                </a:solidFill>
              </a:rPr>
              <a:t>// "John Appleseed" (Force-unwrap - careful!)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>
                <a:solidFill>
                  <a:srgbClr val="72BFAE"/>
                </a:solidFill>
              </a:rPr>
              <a:t>userDictionary</a:t>
            </a:r>
            <a:r>
              <a:rPr lang="en-US" altLang="zh-CN" sz="1800">
                <a:solidFill>
                  <a:srgbClr val="FFFFFF"/>
                </a:solidFill>
              </a:rPr>
              <a:t>[</a:t>
            </a:r>
            <a:r>
              <a:rPr lang="en-US" altLang="zh-CN" sz="1800">
                <a:solidFill>
                  <a:srgbClr val="FC7467"/>
                </a:solidFill>
              </a:rPr>
              <a:t>"theme"</a:t>
            </a:r>
            <a:r>
              <a:rPr lang="en-US" altLang="zh-CN" sz="1800">
                <a:solidFill>
                  <a:srgbClr val="FFFFFF"/>
                </a:solidFill>
              </a:rPr>
              <a:t>] = </a:t>
            </a:r>
            <a:r>
              <a:rPr lang="en-US" altLang="zh-CN" sz="1800">
                <a:solidFill>
                  <a:srgbClr val="FC7467"/>
                </a:solidFill>
              </a:rPr>
              <a:t>"Dark"</a:t>
            </a:r>
            <a:r>
              <a:rPr lang="en-US" altLang="zh-CN" sz="1800">
                <a:solidFill>
                  <a:srgbClr val="7CB554"/>
                </a:solidFill>
              </a:rPr>
              <a:t>// Adds a new key-value pair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>
                <a:solidFill>
                  <a:srgbClr val="FC6BAA"/>
                </a:solidFill>
              </a:rPr>
              <a:t>let </a:t>
            </a:r>
            <a:r>
              <a:rPr lang="en-US" altLang="zh-CN" sz="1800">
                <a:solidFill>
                  <a:srgbClr val="42B8E0"/>
                </a:solidFill>
              </a:rPr>
              <a:t>email</a:t>
            </a:r>
            <a:r>
              <a:rPr lang="en-US" altLang="zh-CN" sz="1800">
                <a:solidFill>
                  <a:srgbClr val="FFFFFF"/>
                </a:solidFill>
              </a:rPr>
              <a:t> = </a:t>
            </a:r>
            <a:r>
              <a:rPr lang="en-US" altLang="zh-CN" sz="1800">
                <a:solidFill>
                  <a:srgbClr val="72BFAE"/>
                </a:solidFill>
              </a:rPr>
              <a:t>userDictionary</a:t>
            </a:r>
            <a:r>
              <a:rPr lang="en-US" altLang="zh-CN" sz="1800">
                <a:solidFill>
                  <a:srgbClr val="FFFFFF"/>
                </a:solidFill>
              </a:rPr>
              <a:t>[</a:t>
            </a:r>
            <a:r>
              <a:rPr lang="en-US" altLang="zh-CN" sz="1800">
                <a:solidFill>
                  <a:srgbClr val="FC7467"/>
                </a:solidFill>
              </a:rPr>
              <a:t>"email"</a:t>
            </a:r>
            <a:r>
              <a:rPr lang="en-US" altLang="zh-CN" sz="1800">
                <a:solidFill>
                  <a:srgbClr val="FFFFFF"/>
                </a:solidFill>
              </a:rPr>
              <a:t>] </a:t>
            </a:r>
            <a:r>
              <a:rPr lang="en-US" altLang="zh-CN" sz="1800">
                <a:solidFill>
                  <a:srgbClr val="7CB554"/>
                </a:solidFill>
              </a:rPr>
              <a:t>// email is an Optional String (String?)</a:t>
            </a:r>
            <a:endParaRPr lang="en-US" altLang="zh-CN" sz="1800">
              <a:solidFill>
                <a:srgbClr val="7CB554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>
                <a:solidFill>
                  <a:srgbClr val="FFFFFF"/>
                </a:solidFill>
              </a:rPr>
              <a:t>print(</a:t>
            </a:r>
            <a:r>
              <a:rPr lang="en-US" altLang="zh-CN" sz="1800">
                <a:solidFill>
                  <a:srgbClr val="72BFAE"/>
                </a:solidFill>
              </a:rPr>
              <a:t>userDictionary</a:t>
            </a:r>
            <a:r>
              <a:rPr lang="en-US" altLang="zh-CN" sz="1800">
                <a:solidFill>
                  <a:srgbClr val="FFFFFF"/>
                </a:solidFill>
              </a:rPr>
              <a:t>)  </a:t>
            </a:r>
            <a:r>
              <a:rPr lang="en-US" altLang="zh-CN" sz="1800">
                <a:solidFill>
                  <a:srgbClr val="7CB554"/>
                </a:solidFill>
              </a:rPr>
              <a:t>//["email": "</a:t>
            </a:r>
            <a:r>
              <a:rPr lang="en-US" altLang="zh-CN" sz="1800">
                <a:solidFill>
                  <a:srgbClr val="739AFF"/>
                </a:solidFill>
              </a:rPr>
              <a:t>nemsothea13@gmail.com</a:t>
            </a:r>
            <a:r>
              <a:rPr lang="en-US" altLang="zh-CN" sz="1800">
                <a:solidFill>
                  <a:srgbClr val="7CB554"/>
                </a:solidFill>
              </a:rPr>
              <a:t>", "name": "Nem Sothea", "password": "qwer1234@", "theme": "Dark"]</a:t>
            </a:r>
            <a:endParaRPr lang="en-US" altLang="zh-CN" sz="1800">
              <a:solidFill>
                <a:srgbClr val="7CB554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902970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Intro to UIKit: The IBOutlet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016000" y="1748790"/>
            <a:ext cx="5080000" cy="3025140"/>
          </a:xfrm>
          <a:prstGeom prst="rect">
            <a:avLst/>
          </a:prstGeom>
        </p:spPr>
        <p:txBody>
          <a:bodyPr>
            <a:noAutofit/>
          </a:bodyPr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How does code connect to the UI?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An IBOutlet is a property in your code that connects to a UI element (Label, Button, etc.) in your Storyboard.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It's a variable that gives you control over that UI element.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021705" y="1544320"/>
            <a:ext cx="5846445" cy="39693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800">
                <a:solidFill>
                  <a:srgbClr val="FC6BAA"/>
                </a:solidFill>
              </a:rPr>
              <a:t>import</a:t>
            </a:r>
            <a:r>
              <a:rPr lang="en-US" altLang="zh-CN" sz="1800">
                <a:solidFill>
                  <a:srgbClr val="FFFFFF"/>
                </a:solidFill>
              </a:rPr>
              <a:t> UIKit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>
                <a:solidFill>
                  <a:srgbClr val="FC6BAA"/>
                </a:solidFill>
              </a:rPr>
              <a:t>class </a:t>
            </a:r>
            <a:r>
              <a:rPr lang="en-US" altLang="zh-CN" sz="1800">
                <a:solidFill>
                  <a:srgbClr val="5DD8FF"/>
                </a:solidFill>
              </a:rPr>
              <a:t>ViewController</a:t>
            </a:r>
            <a:r>
              <a:rPr lang="en-US" altLang="zh-CN" sz="1800">
                <a:solidFill>
                  <a:srgbClr val="FFFFFF"/>
                </a:solidFill>
              </a:rPr>
              <a:t>: UIViewController {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7CB554"/>
                </a:solidFill>
              </a:rPr>
              <a:t>// This connects to a Label in the Storyboard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C6BAA"/>
                </a:solidFill>
              </a:rPr>
              <a:t>@IBOutletweakvar </a:t>
            </a:r>
            <a:r>
              <a:rPr lang="en-US" altLang="zh-CN" sz="1800">
                <a:solidFill>
                  <a:srgbClr val="42B8E0"/>
                </a:solidFill>
              </a:rPr>
              <a:t>titleLabel</a:t>
            </a:r>
            <a:r>
              <a:rPr lang="en-US" altLang="zh-CN" sz="1800">
                <a:solidFill>
                  <a:srgbClr val="FFFFFF"/>
                </a:solidFill>
              </a:rPr>
              <a:t>: UILabel!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   </a:t>
            </a:r>
            <a:endParaRPr lang="en-US" altLang="zh-CN" sz="1800"/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C6BAA"/>
                </a:solidFill>
              </a:rPr>
              <a:t>overridefunc</a:t>
            </a:r>
            <a:r>
              <a:rPr lang="en-US" altLang="zh-CN" sz="1800">
                <a:solidFill>
                  <a:srgbClr val="42B8E0"/>
                </a:solidFill>
              </a:rPr>
              <a:t>viewDidLoad</a:t>
            </a:r>
            <a:r>
              <a:rPr lang="en-US" altLang="zh-CN" sz="1800">
                <a:solidFill>
                  <a:srgbClr val="FFFFFF"/>
                </a:solidFill>
              </a:rPr>
              <a:t>() {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    </a:t>
            </a:r>
            <a:r>
              <a:rPr lang="en-US" altLang="zh-CN" sz="1800">
                <a:solidFill>
                  <a:srgbClr val="FC6BAA"/>
                </a:solidFill>
              </a:rPr>
              <a:t>super</a:t>
            </a:r>
            <a:r>
              <a:rPr lang="en-US" altLang="zh-CN" sz="1800">
                <a:solidFill>
                  <a:srgbClr val="FFFFFF"/>
                </a:solidFill>
              </a:rPr>
              <a:t>.</a:t>
            </a:r>
            <a:r>
              <a:rPr lang="en-US" altLang="zh-CN" sz="1800">
                <a:solidFill>
                  <a:srgbClr val="72BFAE"/>
                </a:solidFill>
              </a:rPr>
              <a:t>viewDidLoad</a:t>
            </a:r>
            <a:r>
              <a:rPr lang="en-US" altLang="zh-CN" sz="1800">
                <a:solidFill>
                  <a:srgbClr val="FFFFFF"/>
                </a:solidFill>
              </a:rPr>
              <a:t>()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    </a:t>
            </a:r>
            <a:r>
              <a:rPr lang="en-US" altLang="zh-CN" sz="1800">
                <a:solidFill>
                  <a:srgbClr val="72BFAE"/>
                </a:solidFill>
              </a:rPr>
              <a:t>titleLabel</a:t>
            </a:r>
            <a:r>
              <a:rPr lang="en-US" altLang="zh-CN" sz="1800">
                <a:solidFill>
                  <a:srgbClr val="FFFFFF"/>
                </a:solidFill>
              </a:rPr>
              <a:t>.text = </a:t>
            </a:r>
            <a:r>
              <a:rPr lang="en-US" altLang="zh-CN" sz="1800">
                <a:solidFill>
                  <a:srgbClr val="FC7467"/>
                </a:solidFill>
              </a:rPr>
              <a:t>"Hello from Code!"</a:t>
            </a:r>
            <a:endParaRPr lang="en-US" altLang="zh-CN" sz="1800">
              <a:solidFill>
                <a:srgbClr val="FC7467"/>
              </a:solidFill>
            </a:endParaRPr>
          </a:p>
          <a:p>
            <a:pPr indent="457200"/>
            <a:r>
              <a:rPr lang="en-US" altLang="zh-CN" sz="1800">
                <a:solidFill>
                  <a:srgbClr val="7CB554"/>
                </a:solidFill>
              </a:rPr>
              <a:t>// Changing the UI with code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902970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Intro to UIKit: The IBAction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016000" y="1916430"/>
            <a:ext cx="5080000" cy="3025140"/>
          </a:xfrm>
          <a:prstGeom prst="rect">
            <a:avLst/>
          </a:prstGeom>
        </p:spPr>
        <p:txBody>
          <a:bodyPr>
            <a:noAutofit/>
          </a:bodyPr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An IBAction is a method in your code that is triggered by an event in the UI (like a button tap).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  <a:p>
            <a:pPr marL="285750" lvl="0" indent="-285750" algn="l">
              <a:lnSpc>
                <a:spcPct val="200000"/>
              </a:lnSpc>
              <a:buClrTx/>
              <a:buSzTx/>
              <a:buFont typeface="Wingdings" panose="05000000000000000000" charset="0"/>
              <a:buChar char=""/>
            </a:pPr>
            <a:r>
              <a:rPr lang="en-US" altLang="en-US" sz="1600">
                <a:solidFill>
                  <a:srgbClr val="F8FAFF"/>
                </a:solidFill>
                <a:latin typeface="quote-cjk-patch"/>
                <a:ea typeface="quote-cjk-patch"/>
                <a:sym typeface="+mn-ea"/>
              </a:rPr>
              <a:t>It's a function that runs when the user interacts with your app.</a:t>
            </a:r>
            <a:endParaRPr lang="en-US" altLang="en-US" sz="1600">
              <a:solidFill>
                <a:srgbClr val="F8FAFF"/>
              </a:solidFill>
              <a:latin typeface="quote-cjk-patch"/>
              <a:ea typeface="quote-cjk-patch"/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6096000" y="1249045"/>
            <a:ext cx="5080000" cy="479996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800">
                <a:solidFill>
                  <a:srgbClr val="FC6BAA"/>
                </a:solidFill>
              </a:rPr>
              <a:t>import</a:t>
            </a:r>
            <a:r>
              <a:rPr lang="en-US" altLang="zh-CN" sz="1800">
                <a:solidFill>
                  <a:srgbClr val="FFFFFF"/>
                </a:solidFill>
              </a:rPr>
              <a:t> UIKit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>
                <a:solidFill>
                  <a:srgbClr val="FC6BAA"/>
                </a:solidFill>
              </a:rPr>
              <a:t>class </a:t>
            </a:r>
            <a:r>
              <a:rPr lang="en-US" altLang="zh-CN" sz="1800">
                <a:solidFill>
                  <a:srgbClr val="5DD8FF"/>
                </a:solidFill>
              </a:rPr>
              <a:t>ViewController</a:t>
            </a:r>
            <a:r>
              <a:rPr lang="en-US" altLang="zh-CN" sz="1800">
                <a:solidFill>
                  <a:srgbClr val="FFFFFF"/>
                </a:solidFill>
              </a:rPr>
              <a:t>: UIViewController {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C6BAA"/>
                </a:solidFill>
              </a:rPr>
              <a:t>@IBOutletweakvar </a:t>
            </a:r>
            <a:r>
              <a:rPr lang="en-US" altLang="zh-CN" sz="1800">
                <a:solidFill>
                  <a:srgbClr val="42B8E0"/>
                </a:solidFill>
              </a:rPr>
              <a:t>titleLabel</a:t>
            </a:r>
            <a:r>
              <a:rPr lang="en-US" altLang="zh-CN" sz="1800">
                <a:solidFill>
                  <a:srgbClr val="FFFFFF"/>
                </a:solidFill>
              </a:rPr>
              <a:t>: UILabel!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   </a:t>
            </a:r>
            <a:endParaRPr lang="en-US" altLang="zh-CN" sz="1800"/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7CB554"/>
                </a:solidFill>
              </a:rPr>
              <a:t>// This function runs when the button is tapped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/>
              <a:t>    </a:t>
            </a:r>
            <a:r>
              <a:rPr lang="en-US" altLang="zh-CN" sz="1800">
                <a:solidFill>
                  <a:srgbClr val="FC6BAA"/>
                </a:solidFill>
              </a:rPr>
              <a:t>@IBActionfunc</a:t>
            </a:r>
            <a:r>
              <a:rPr lang="en-US" altLang="zh-CN" sz="1800">
                <a:solidFill>
                  <a:srgbClr val="42B8E0"/>
                </a:solidFill>
              </a:rPr>
              <a:t>buttonPressed</a:t>
            </a:r>
            <a:r>
              <a:rPr lang="en-US" altLang="zh-CN" sz="1800">
                <a:solidFill>
                  <a:srgbClr val="FFFFFF"/>
                </a:solidFill>
              </a:rPr>
              <a:t>(</a:t>
            </a:r>
            <a:r>
              <a:rPr lang="en-US" altLang="zh-CN" sz="1800">
                <a:solidFill>
                  <a:srgbClr val="42B8E0"/>
                </a:solidFill>
              </a:rPr>
              <a:t>_</a:t>
            </a:r>
            <a:r>
              <a:rPr lang="en-US" altLang="zh-CN" sz="1800">
                <a:solidFill>
                  <a:srgbClr val="FFFFFF"/>
                </a:solidFill>
              </a:rPr>
              <a:t> sender: UIButton) {</a:t>
            </a:r>
            <a:endParaRPr lang="en-US" altLang="zh-CN" sz="1800">
              <a:solidFill>
                <a:srgbClr val="FFFFFF"/>
              </a:solidFill>
            </a:endParaRPr>
          </a:p>
          <a:p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    </a:t>
            </a:r>
            <a:r>
              <a:rPr lang="en-US" altLang="zh-CN" sz="1800">
                <a:solidFill>
                  <a:srgbClr val="72BFAE"/>
                </a:solidFill>
              </a:rPr>
              <a:t>titleLabel</a:t>
            </a:r>
            <a:r>
              <a:rPr lang="en-US" altLang="zh-CN" sz="1800">
                <a:solidFill>
                  <a:srgbClr val="FFFFFF"/>
                </a:solidFill>
              </a:rPr>
              <a:t>.text = </a:t>
            </a:r>
            <a:r>
              <a:rPr lang="en-US" altLang="zh-CN" sz="1800">
                <a:solidFill>
                  <a:srgbClr val="FC7467"/>
                </a:solidFill>
              </a:rPr>
              <a:t>"Button was tapped!"</a:t>
            </a:r>
            <a:endParaRPr lang="en-US" altLang="zh-CN" sz="1800">
              <a:solidFill>
                <a:srgbClr val="FC7467"/>
              </a:solidFill>
            </a:endParaRPr>
          </a:p>
          <a:p>
            <a:r>
              <a:rPr lang="en-US" altLang="zh-CN" sz="1800"/>
              <a:t>        </a:t>
            </a:r>
            <a:r>
              <a:rPr lang="en-US" altLang="zh-CN" sz="1800">
                <a:solidFill>
                  <a:srgbClr val="7CB554"/>
                </a:solidFill>
              </a:rPr>
              <a:t>// sender is the button that was tapped</a:t>
            </a:r>
            <a:endParaRPr lang="en-US" altLang="zh-CN" sz="1800">
              <a:solidFill>
                <a:srgbClr val="7CB554"/>
              </a:solidFill>
            </a:endParaRPr>
          </a:p>
          <a:p>
            <a:r>
              <a:rPr lang="en-US" altLang="zh-CN" sz="1800"/>
              <a:t>        </a:t>
            </a:r>
            <a:r>
              <a:rPr lang="en-US" altLang="zh-CN" sz="1800">
                <a:solidFill>
                  <a:srgbClr val="FFFFFF"/>
                </a:solidFill>
              </a:rPr>
              <a:t>sender.setTitle(</a:t>
            </a:r>
            <a:r>
              <a:rPr lang="en-US" altLang="zh-CN" sz="1800">
                <a:solidFill>
                  <a:srgbClr val="FC7467"/>
                </a:solidFill>
              </a:rPr>
              <a:t>"Tapped!"</a:t>
            </a:r>
            <a:r>
              <a:rPr lang="en-US" altLang="zh-CN" sz="1800">
                <a:solidFill>
                  <a:srgbClr val="FFFFFF"/>
                </a:solidFill>
              </a:rPr>
              <a:t>, for: .normal)</a:t>
            </a:r>
            <a:endParaRPr lang="en-US" altLang="zh-CN" sz="1800">
              <a:solidFill>
                <a:srgbClr val="FFFFFF"/>
              </a:solidFill>
            </a:endParaRPr>
          </a:p>
          <a:p>
            <a:r>
              <a:rPr lang="en-US" altLang="zh-CN" sz="1800"/>
              <a:t>    </a:t>
            </a:r>
            <a:endParaRPr lang="en-US" altLang="zh-CN" sz="1800"/>
          </a:p>
          <a:p>
            <a:pPr indent="457200"/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zh-CN" sz="1800">
                <a:solidFill>
                  <a:srgbClr val="FFFFFF"/>
                </a:solidFill>
              </a:rPr>
              <a:t>}</a:t>
            </a:r>
            <a:endParaRPr lang="en-US" altLang="zh-CN" sz="18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651000" y="1762125"/>
            <a:ext cx="9290685" cy="25533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/>
            <a:r>
              <a:rPr lang="en-US" altLang="en-US" sz="80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Live Demo: Let's Build "Hello UI"</a:t>
            </a:r>
            <a:endParaRPr lang="en-US" altLang="en-US" sz="80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902970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In-Class Exercise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016000" y="1488440"/>
            <a:ext cx="10096500" cy="4930140"/>
          </a:xfrm>
          <a:prstGeom prst="rect">
            <a:avLst/>
          </a:prstGeom>
        </p:spPr>
        <p:txBody>
          <a:bodyPr wrap="square">
            <a:noAutofit/>
          </a:bodyPr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>
                <a:solidFill>
                  <a:srgbClr val="FFFFFF"/>
                </a:solidFill>
              </a:rPr>
              <a:t>Extend the "Hello UI" app.</a:t>
            </a:r>
            <a:endParaRPr lang="en-US" altLang="en-US" sz="1800">
              <a:solidFill>
                <a:srgbClr val="FFFFFF"/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>
                <a:solidFill>
                  <a:srgbClr val="FFFFFF"/>
                </a:solidFill>
              </a:rPr>
              <a:t>Add a second button to your Storyboard.</a:t>
            </a:r>
            <a:endParaRPr lang="en-US" altLang="en-US" sz="1800">
              <a:solidFill>
                <a:srgbClr val="FFFFFF"/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>
                <a:solidFill>
                  <a:srgbClr val="FFFFFF"/>
                </a:solidFill>
              </a:rPr>
              <a:t>Create a new IBAction for it.</a:t>
            </a:r>
            <a:endParaRPr lang="en-US" altLang="en-US" sz="1800">
              <a:solidFill>
                <a:srgbClr val="FFFFFF"/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>
                <a:solidFill>
                  <a:srgbClr val="FFFFFF"/>
                </a:solidFill>
              </a:rPr>
              <a:t>Make this new button change the label's text to something else and also change the background color of the main view.</a:t>
            </a:r>
            <a:endParaRPr lang="en-US" altLang="en-US" sz="1800">
              <a:solidFill>
                <a:srgbClr val="FFFFFF"/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 i="1">
                <a:solidFill>
                  <a:srgbClr val="FFFFFF"/>
                </a:solidFill>
              </a:rPr>
              <a:t>Hint: The main view is called view. You can change its color with view.backgroundColor = .systemBlue.</a:t>
            </a:r>
            <a:endParaRPr lang="en-US" altLang="en-US" sz="1800" i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5121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1016000" y="902970"/>
            <a:ext cx="6060440" cy="4603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en-US" sz="2400" b="0" i="0">
                <a:solidFill>
                  <a:srgbClr val="F8FAFF"/>
                </a:solidFill>
                <a:latin typeface="Microsoft YaHei" charset="0"/>
                <a:ea typeface="quote-cjk-patch"/>
                <a:cs typeface="Microsoft YaHei" charset="0"/>
              </a:rPr>
              <a:t>Questions?</a:t>
            </a:r>
            <a:endParaRPr lang="en-US" altLang="en-US" sz="2400" b="0" i="0">
              <a:solidFill>
                <a:srgbClr val="F8FAFF"/>
              </a:solidFill>
              <a:latin typeface="Microsoft YaHei" charset="0"/>
              <a:ea typeface="quote-cjk-patch"/>
              <a:cs typeface="Microsoft YaHei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1016000" y="1488440"/>
            <a:ext cx="7903210" cy="978535"/>
          </a:xfrm>
          <a:prstGeom prst="rect">
            <a:avLst/>
          </a:prstGeom>
        </p:spPr>
        <p:txBody>
          <a:bodyPr wrap="square">
            <a:noAutofit/>
          </a:bodyPr>
          <a:p>
            <a:pPr marL="285750" indent="-285750">
              <a:lnSpc>
                <a:spcPct val="200000"/>
              </a:lnSpc>
              <a:buFont typeface="Wingdings" panose="05000000000000000000" charset="0"/>
              <a:buChar char=""/>
            </a:pPr>
            <a:r>
              <a:rPr lang="en-US" altLang="en-US" sz="1800">
                <a:solidFill>
                  <a:srgbClr val="FFFFFF"/>
                </a:solidFill>
              </a:rPr>
              <a:t>Next Week: </a:t>
            </a:r>
            <a:r>
              <a:rPr lang="en-US" altLang="en-US" sz="1800">
                <a:solidFill>
                  <a:srgbClr val="FF0000"/>
                </a:solidFill>
              </a:rPr>
              <a:t>The ViewController Lifecycle</a:t>
            </a:r>
            <a:endParaRPr lang="en-US" altLang="en-US" sz="1800">
              <a:solidFill>
                <a:srgbClr val="FF0000"/>
              </a:solidFill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2353310" y="3994785"/>
            <a:ext cx="7670165" cy="3622675"/>
          </a:xfrm>
          <a:prstGeom prst="rect">
            <a:avLst/>
          </a:prstGeom>
        </p:spPr>
        <p:txBody>
          <a:bodyPr>
            <a:noAutofit/>
          </a:bodyPr>
          <a:p>
            <a:pPr marL="0" algn="ctr">
              <a:lnSpc>
                <a:spcPts val="2860"/>
              </a:lnSpc>
              <a:spcBef>
                <a:spcPct val="0"/>
              </a:spcBef>
              <a:spcAft>
                <a:spcPct val="0"/>
              </a:spcAft>
              <a:buFont typeface="Arial" panose="020B0604020202090204"/>
            </a:pPr>
            <a:r>
              <a:rPr lang="en-US" altLang="zh-CN" sz="9600" b="0" i="0">
                <a:solidFill>
                  <a:srgbClr val="F8FAFF"/>
                </a:solidFill>
                <a:latin typeface="quote-cjk-patch"/>
                <a:ea typeface="quote-cjk-patch"/>
              </a:rPr>
              <a:t>Thank you!</a:t>
            </a:r>
            <a:endParaRPr lang="en-US" altLang="zh-CN" sz="9600" b="0" i="0">
              <a:solidFill>
                <a:srgbClr val="F8FAFF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4631</Words>
  <Application>WPS Writer</Application>
  <PresentationFormat>自定义</PresentationFormat>
  <Paragraphs>165</Paragraphs>
  <Slides>13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35" baseType="lpstr">
      <vt:lpstr>Arial</vt:lpstr>
      <vt:lpstr>SimSun</vt:lpstr>
      <vt:lpstr>Wingdings</vt:lpstr>
      <vt:lpstr>Calibri</vt:lpstr>
      <vt:lpstr>Helvetica Neue</vt:lpstr>
      <vt:lpstr>宋体-简</vt:lpstr>
      <vt:lpstr>Calibri Light</vt:lpstr>
      <vt:lpstr>Microsoft YaHei</vt:lpstr>
      <vt:lpstr>汉仪旗黑</vt:lpstr>
      <vt:lpstr>Microsoft YaHei</vt:lpstr>
      <vt:lpstr>quote-cjk-patch</vt:lpstr>
      <vt:lpstr>Wingdings</vt:lpstr>
      <vt:lpstr>Arial</vt:lpstr>
      <vt:lpstr>Microsoft YaHei</vt:lpstr>
      <vt:lpstr>Arial Unicode MS</vt:lpstr>
      <vt:lpstr>SimSun</vt:lpstr>
      <vt:lpstr>Thonburi</vt:lpstr>
      <vt:lpstr>SimSun</vt:lpstr>
      <vt:lpstr>menlo</vt:lpstr>
      <vt:lpstr>DaunPenh</vt:lpstr>
      <vt:lpstr>苹方-简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nem path</cp:lastModifiedBy>
  <cp:revision>495</cp:revision>
  <dcterms:created xsi:type="dcterms:W3CDTF">2025-08-27T03:26:59Z</dcterms:created>
  <dcterms:modified xsi:type="dcterms:W3CDTF">2025-08-27T03:26:59Z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1033-12.1.22526.22526</vt:lpwstr>
  </property>
  <property fmtid="{D5CDD505-2E9C-101B-9397-08002B2CF9AE}" pid="3" name="ICV">
    <vt:lpwstr>4652830370BA95541050AD68A735B2E2_41</vt:lpwstr>
  </property>
</Properties>
</file>