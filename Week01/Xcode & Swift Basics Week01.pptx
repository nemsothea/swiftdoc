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media/image5.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0"/>
  </p:handoutMasterIdLst>
  <p:sldIdLst>
    <p:sldId id="257" r:id="rId3"/>
    <p:sldId id="295" r:id="rId4"/>
    <p:sldId id="309" r:id="rId5"/>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Calibri"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Calibri"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9pPr>
  </p:defaultTextStyle>
  <p:extLst>
    <p:ext uri="{EFAFB233-063F-42B5-8137-9DF3F51BA10A}">
      <p15:sldGuideLst xmlns:p15="http://schemas.microsoft.com/office/powerpoint/2012/main">
        <p15:guide id="1" orient="horz" pos="2122" userDrawn="1">
          <p15:clr>
            <a:srgbClr val="A4A3A4"/>
          </p15:clr>
        </p15:guide>
        <p15:guide id="2" pos="382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m path" initials="authorId_54098778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601"/>
    <p:restoredTop sz="94660"/>
  </p:normalViewPr>
  <p:slideViewPr>
    <p:cSldViewPr snapToGrid="0" showGuides="1">
      <p:cViewPr varScale="1">
        <p:scale>
          <a:sx n="70" d="100"/>
          <a:sy n="70" d="100"/>
        </p:scale>
        <p:origin x="-750" y="-108"/>
      </p:cViewPr>
      <p:guideLst>
        <p:guide orient="horz" pos="2122"/>
        <p:guide pos="3823"/>
      </p:guideLst>
    </p:cSldViewPr>
  </p:slideViewPr>
  <p:notesTextViewPr>
    <p:cViewPr>
      <p:scale>
        <a:sx n="1" d="1"/>
        <a:sy n="1" d="1"/>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8-26T15:59:55.030" idx="1">
    <p:pos x="630" y="1217"/>
    <p:text>*(Instructor: Give5-7 minutes to try this. Walk around and help. Then, share the solution on screen.)*</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itchFamily="34" charset="0"/>
                <a:ea typeface="SimSun"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base" latinLnBrk="0" hangingPunct="1">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latin typeface="Calibri" pitchFamily="34" charset="0"/>
                <a:ea typeface="SimSun"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778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2200" y="2505075"/>
            <a:ext cx="51831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90000"/>
              </a:lnSpc>
              <a:spcBef>
                <a:spcPts val="1000"/>
              </a:spcBef>
              <a:spcAft>
                <a:spcPct val="0"/>
              </a:spcAft>
              <a:buClrTx/>
              <a:buSzTx/>
              <a:buFont typeface="Arial" panose="020B060402020209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SimSun" pitchFamily="2" charset="-122"/>
        </a:defRPr>
      </a:lvl2pPr>
      <a:lvl3pPr algn="l" rtl="0" fontAlgn="base">
        <a:lnSpc>
          <a:spcPct val="90000"/>
        </a:lnSpc>
        <a:spcBef>
          <a:spcPct val="0"/>
        </a:spcBef>
        <a:spcAft>
          <a:spcPct val="0"/>
        </a:spcAft>
        <a:defRPr sz="4400">
          <a:solidFill>
            <a:schemeClr val="tx1"/>
          </a:solidFill>
          <a:latin typeface="Calibri Light" pitchFamily="34" charset="0"/>
          <a:ea typeface="SimSun" pitchFamily="2" charset="-122"/>
        </a:defRPr>
      </a:lvl3pPr>
      <a:lvl4pPr algn="l" rtl="0" fontAlgn="base">
        <a:lnSpc>
          <a:spcPct val="90000"/>
        </a:lnSpc>
        <a:spcBef>
          <a:spcPct val="0"/>
        </a:spcBef>
        <a:spcAft>
          <a:spcPct val="0"/>
        </a:spcAft>
        <a:defRPr sz="4400">
          <a:solidFill>
            <a:schemeClr val="tx1"/>
          </a:solidFill>
          <a:latin typeface="Calibri Light" pitchFamily="34" charset="0"/>
          <a:ea typeface="SimSun" pitchFamily="2" charset="-122"/>
        </a:defRPr>
      </a:lvl4pPr>
      <a:lvl5pPr algn="l" rtl="0" fontAlgn="base">
        <a:lnSpc>
          <a:spcPct val="90000"/>
        </a:lnSpc>
        <a:spcBef>
          <a:spcPct val="0"/>
        </a:spcBef>
        <a:spcAft>
          <a:spcPct val="0"/>
        </a:spcAft>
        <a:defRPr sz="4400">
          <a:solidFill>
            <a:schemeClr val="tx1"/>
          </a:solidFill>
          <a:latin typeface="Calibri Light" pitchFamily="34" charset="0"/>
          <a:ea typeface="SimSun"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SimSun"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SimSun"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SimSun"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SimSun" pitchFamily="2" charset="-122"/>
        </a:defRPr>
      </a:lvl9pPr>
    </p:titleStyle>
    <p:bodyStyle>
      <a:lvl1pPr marL="228600" indent="-228600" algn="l" rtl="0" fontAlgn="base">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webp"/><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swift.org/" TargetMode="External"/><Relationship Id="rId2" Type="http://schemas.openxmlformats.org/officeDocument/2006/relationships/image" Target="../media/image1.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1" name="图片 3"/>
          <p:cNvPicPr>
            <a:picLocks noChangeAspect="1"/>
          </p:cNvPicPr>
          <p:nvPr/>
        </p:nvPicPr>
        <p:blipFill>
          <a:blip r:embed="rId1"/>
          <a:stretch>
            <a:fillRect/>
          </a:stretch>
        </p:blipFill>
        <p:spPr>
          <a:xfrm>
            <a:off x="0" y="0"/>
            <a:ext cx="12192000" cy="6858000"/>
          </a:xfrm>
          <a:prstGeom prst="rect">
            <a:avLst/>
          </a:prstGeom>
          <a:noFill/>
          <a:ln w="9525">
            <a:noFill/>
          </a:ln>
        </p:spPr>
      </p:pic>
      <p:sp>
        <p:nvSpPr>
          <p:cNvPr id="18" name="矩形 5"/>
          <p:cNvSpPr/>
          <p:nvPr/>
        </p:nvSpPr>
        <p:spPr>
          <a:xfrm flipH="1">
            <a:off x="0" y="2192338"/>
            <a:ext cx="6908800" cy="2162175"/>
          </a:xfrm>
          <a:custGeom>
            <a:avLst/>
            <a:gdLst>
              <a:gd name="connsiteX0" fmla="*/ 0 w 8485632"/>
              <a:gd name="connsiteY0" fmla="*/ 0 h 1490472"/>
              <a:gd name="connsiteX1" fmla="*/ 8485632 w 8485632"/>
              <a:gd name="connsiteY1" fmla="*/ 0 h 1490472"/>
              <a:gd name="connsiteX2" fmla="*/ 8485632 w 8485632"/>
              <a:gd name="connsiteY2" fmla="*/ 1490472 h 1490472"/>
              <a:gd name="connsiteX3" fmla="*/ 0 w 8485632"/>
              <a:gd name="connsiteY3" fmla="*/ 1490472 h 1490472"/>
              <a:gd name="connsiteX4" fmla="*/ 0 w 8485632"/>
              <a:gd name="connsiteY4" fmla="*/ 0 h 1490472"/>
              <a:gd name="connsiteX0-1" fmla="*/ 0 w 8485632"/>
              <a:gd name="connsiteY0-2" fmla="*/ 0 h 1490472"/>
              <a:gd name="connsiteX1-3" fmla="*/ 8485632 w 8485632"/>
              <a:gd name="connsiteY1-4" fmla="*/ 0 h 1490472"/>
              <a:gd name="connsiteX2-5" fmla="*/ 8485632 w 8485632"/>
              <a:gd name="connsiteY2-6" fmla="*/ 1490472 h 1490472"/>
              <a:gd name="connsiteX3-7" fmla="*/ 0 w 8485632"/>
              <a:gd name="connsiteY3-8" fmla="*/ 1490472 h 1490472"/>
              <a:gd name="connsiteX4-9" fmla="*/ 0 w 8485632"/>
              <a:gd name="connsiteY4-10" fmla="*/ 0 h 1490472"/>
              <a:gd name="connsiteX0-11" fmla="*/ 491744 w 8977376"/>
              <a:gd name="connsiteY0-12" fmla="*/ 0 h 1490472"/>
              <a:gd name="connsiteX1-13" fmla="*/ 8977376 w 8977376"/>
              <a:gd name="connsiteY1-14" fmla="*/ 0 h 1490472"/>
              <a:gd name="connsiteX2-15" fmla="*/ 8977376 w 8977376"/>
              <a:gd name="connsiteY2-16" fmla="*/ 1490472 h 1490472"/>
              <a:gd name="connsiteX3-17" fmla="*/ 491744 w 8977376"/>
              <a:gd name="connsiteY3-18" fmla="*/ 1490472 h 1490472"/>
              <a:gd name="connsiteX4-19" fmla="*/ 491744 w 8977376"/>
              <a:gd name="connsiteY4-20" fmla="*/ 0 h 1490472"/>
              <a:gd name="connsiteX0-21" fmla="*/ 617932 w 9103564"/>
              <a:gd name="connsiteY0-22" fmla="*/ 0 h 1490472"/>
              <a:gd name="connsiteX1-23" fmla="*/ 9103564 w 9103564"/>
              <a:gd name="connsiteY1-24" fmla="*/ 0 h 1490472"/>
              <a:gd name="connsiteX2-25" fmla="*/ 9103564 w 9103564"/>
              <a:gd name="connsiteY2-26" fmla="*/ 1490472 h 1490472"/>
              <a:gd name="connsiteX3-27" fmla="*/ 617932 w 9103564"/>
              <a:gd name="connsiteY3-28" fmla="*/ 1490472 h 1490472"/>
              <a:gd name="connsiteX4-29" fmla="*/ 617932 w 9103564"/>
              <a:gd name="connsiteY4-30" fmla="*/ 0 h 1490472"/>
              <a:gd name="connsiteX0-31" fmla="*/ 471887 w 8957519"/>
              <a:gd name="connsiteY0-32" fmla="*/ 0 h 1490472"/>
              <a:gd name="connsiteX1-33" fmla="*/ 8957519 w 8957519"/>
              <a:gd name="connsiteY1-34" fmla="*/ 0 h 1490472"/>
              <a:gd name="connsiteX2-35" fmla="*/ 8957519 w 8957519"/>
              <a:gd name="connsiteY2-36" fmla="*/ 1490472 h 1490472"/>
              <a:gd name="connsiteX3-37" fmla="*/ 471887 w 8957519"/>
              <a:gd name="connsiteY3-38" fmla="*/ 1490472 h 1490472"/>
              <a:gd name="connsiteX4-39" fmla="*/ 471887 w 8957519"/>
              <a:gd name="connsiteY4-40" fmla="*/ 0 h 1490472"/>
              <a:gd name="connsiteX0-41" fmla="*/ 542128 w 9027760"/>
              <a:gd name="connsiteY0-42" fmla="*/ 0 h 1490472"/>
              <a:gd name="connsiteX1-43" fmla="*/ 9027760 w 9027760"/>
              <a:gd name="connsiteY1-44" fmla="*/ 0 h 1490472"/>
              <a:gd name="connsiteX2-45" fmla="*/ 9027760 w 9027760"/>
              <a:gd name="connsiteY2-46" fmla="*/ 1490472 h 1490472"/>
              <a:gd name="connsiteX3-47" fmla="*/ 542128 w 9027760"/>
              <a:gd name="connsiteY3-48" fmla="*/ 1490472 h 1490472"/>
              <a:gd name="connsiteX4-49" fmla="*/ 542128 w 9027760"/>
              <a:gd name="connsiteY4-50" fmla="*/ 0 h 1490472"/>
              <a:gd name="connsiteX0-51" fmla="*/ 531634 w 9017266"/>
              <a:gd name="connsiteY0-52" fmla="*/ 0 h 1490472"/>
              <a:gd name="connsiteX1-53" fmla="*/ 9017266 w 9017266"/>
              <a:gd name="connsiteY1-54" fmla="*/ 0 h 1490472"/>
              <a:gd name="connsiteX2-55" fmla="*/ 9017266 w 9017266"/>
              <a:gd name="connsiteY2-56" fmla="*/ 1490472 h 1490472"/>
              <a:gd name="connsiteX3-57" fmla="*/ 531634 w 9017266"/>
              <a:gd name="connsiteY3-58" fmla="*/ 1490472 h 1490472"/>
              <a:gd name="connsiteX4-59" fmla="*/ 531634 w 9017266"/>
              <a:gd name="connsiteY4-60" fmla="*/ 0 h 14904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017266" h="1490472">
                <a:moveTo>
                  <a:pt x="531634" y="0"/>
                </a:moveTo>
                <a:lnTo>
                  <a:pt x="9017266" y="0"/>
                </a:lnTo>
                <a:lnTo>
                  <a:pt x="9017266" y="1490472"/>
                </a:lnTo>
                <a:lnTo>
                  <a:pt x="531634" y="1490472"/>
                </a:lnTo>
                <a:cubicBezTo>
                  <a:pt x="-199886" y="1432560"/>
                  <a:pt x="-154166" y="76200"/>
                  <a:pt x="531634" y="0"/>
                </a:cubicBezTo>
                <a:close/>
              </a:path>
            </a:pathLst>
          </a:cu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3" name="文本框 13"/>
          <p:cNvSpPr txBox="1"/>
          <p:nvPr/>
        </p:nvSpPr>
        <p:spPr>
          <a:xfrm>
            <a:off x="551180" y="2389505"/>
            <a:ext cx="11034395" cy="922020"/>
          </a:xfrm>
          <a:prstGeom prst="rect">
            <a:avLst/>
          </a:prstGeom>
          <a:noFill/>
          <a:ln w="9525">
            <a:noFill/>
          </a:ln>
        </p:spPr>
        <p:txBody>
          <a:bodyPr wrap="square" anchor="t" anchorCtr="0">
            <a:spAutoFit/>
          </a:bodyPr>
          <a:p>
            <a:r>
              <a:rPr lang="en-US" altLang="en-US" sz="5400" b="1" dirty="0">
                <a:solidFill>
                  <a:srgbClr val="00B0F0"/>
                </a:solidFill>
                <a:latin typeface="Microsoft YaHei" pitchFamily="34" charset="-122"/>
                <a:ea typeface="Microsoft YaHei" pitchFamily="34" charset="-122"/>
              </a:rPr>
              <a:t>Week01: Xcode &amp; Swift Basics</a:t>
            </a:r>
            <a:endParaRPr lang="en-US" altLang="en-US" sz="5400" b="1" dirty="0">
              <a:solidFill>
                <a:srgbClr val="00B0F0"/>
              </a:solidFill>
              <a:latin typeface="Microsoft YaHei" pitchFamily="34" charset="-122"/>
              <a:ea typeface="Microsoft YaHei" pitchFamily="34" charset="-122"/>
            </a:endParaRPr>
          </a:p>
        </p:txBody>
      </p:sp>
      <p:cxnSp>
        <p:nvCxnSpPr>
          <p:cNvPr id="15" name="直接连接符 14"/>
          <p:cNvCxnSpPr/>
          <p:nvPr/>
        </p:nvCxnSpPr>
        <p:spPr>
          <a:xfrm>
            <a:off x="625158" y="3263583"/>
            <a:ext cx="788860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125" name="文本框 15"/>
          <p:cNvSpPr txBox="1"/>
          <p:nvPr/>
        </p:nvSpPr>
        <p:spPr>
          <a:xfrm>
            <a:off x="588963" y="3400425"/>
            <a:ext cx="4481512" cy="368300"/>
          </a:xfrm>
          <a:prstGeom prst="rect">
            <a:avLst/>
          </a:prstGeom>
          <a:noFill/>
          <a:ln w="9525">
            <a:noFill/>
          </a:ln>
        </p:spPr>
        <p:txBody>
          <a:bodyPr anchor="t" anchorCtr="0">
            <a:spAutoFit/>
          </a:bodyPr>
          <a:p>
            <a:r>
              <a:rPr lang="en-US" altLang="zh-CN" dirty="0">
                <a:solidFill>
                  <a:schemeClr val="bg1"/>
                </a:solidFill>
                <a:latin typeface="Microsoft YaHei" pitchFamily="34" charset="-122"/>
                <a:ea typeface="Microsoft YaHei" pitchFamily="34" charset="-122"/>
              </a:rPr>
              <a:t>In the AI Era(Swift + SwiftUI)</a:t>
            </a:r>
            <a:endParaRPr lang="en-US" altLang="zh-CN" dirty="0">
              <a:solidFill>
                <a:schemeClr val="bg1"/>
              </a:solidFill>
              <a:latin typeface="Microsoft YaHei" pitchFamily="34" charset="-122"/>
              <a:ea typeface="Microsoft YaHei" pitchFamily="34" charset="-122"/>
            </a:endParaRPr>
          </a:p>
        </p:txBody>
      </p:sp>
      <p:sp>
        <p:nvSpPr>
          <p:cNvPr id="2" name="文本框 15"/>
          <p:cNvSpPr txBox="1"/>
          <p:nvPr/>
        </p:nvSpPr>
        <p:spPr>
          <a:xfrm>
            <a:off x="7103428" y="5876925"/>
            <a:ext cx="4481512" cy="368300"/>
          </a:xfrm>
          <a:prstGeom prst="rect">
            <a:avLst/>
          </a:prstGeom>
          <a:noFill/>
          <a:ln w="9525">
            <a:noFill/>
          </a:ln>
        </p:spPr>
        <p:txBody>
          <a:bodyPr anchor="t" anchorCtr="0">
            <a:spAutoFit/>
          </a:bodyPr>
          <a:p>
            <a:r>
              <a:rPr lang="en-US" altLang="en-US" dirty="0">
                <a:solidFill>
                  <a:schemeClr val="bg1"/>
                </a:solidFill>
                <a:latin typeface="Microsoft YaHei" pitchFamily="34" charset="-122"/>
                <a:ea typeface="Microsoft YaHei" pitchFamily="34" charset="-122"/>
              </a:rPr>
              <a:t>Instructor : </a:t>
            </a:r>
            <a:r>
              <a:rPr lang="en-US" altLang="zh-CN" dirty="0">
                <a:solidFill>
                  <a:schemeClr val="bg1"/>
                </a:solidFill>
                <a:latin typeface="Microsoft YaHei" pitchFamily="34" charset="-122"/>
                <a:ea typeface="Microsoft YaHei" pitchFamily="34" charset="-122"/>
              </a:rPr>
              <a:t>Mr. Nem Sothea</a:t>
            </a:r>
            <a:endParaRPr lang="en-US" altLang="zh-CN" dirty="0">
              <a:solidFill>
                <a:schemeClr val="bg1"/>
              </a:solidFill>
              <a:latin typeface="Microsoft YaHei" pitchFamily="34" charset="-122"/>
              <a:ea typeface="Microsoft YaHei" pitchFamily="34" charset="-122"/>
            </a:endParaRPr>
          </a:p>
        </p:txBody>
      </p:sp>
      <p:sp>
        <p:nvSpPr>
          <p:cNvPr id="3" name="文本框 15"/>
          <p:cNvSpPr txBox="1"/>
          <p:nvPr/>
        </p:nvSpPr>
        <p:spPr>
          <a:xfrm>
            <a:off x="8331200" y="6189980"/>
            <a:ext cx="3339465" cy="337185"/>
          </a:xfrm>
          <a:prstGeom prst="rect">
            <a:avLst/>
          </a:prstGeom>
          <a:noFill/>
          <a:ln w="9525">
            <a:noFill/>
          </a:ln>
        </p:spPr>
        <p:txBody>
          <a:bodyPr wrap="square" anchor="t" anchorCtr="0">
            <a:spAutoFit/>
          </a:bodyPr>
          <a:p>
            <a:pPr algn="l"/>
            <a:r>
              <a:rPr lang="en-US" altLang="zh-CN" sz="1600" dirty="0">
                <a:solidFill>
                  <a:schemeClr val="bg1"/>
                </a:solidFill>
                <a:latin typeface="Microsoft YaHei" pitchFamily="34" charset="-122"/>
                <a:ea typeface="Microsoft YaHei" pitchFamily="34" charset="-122"/>
              </a:rPr>
              <a:t>nemsothea13@gmail.com</a:t>
            </a:r>
            <a:endParaRPr lang="en-US" altLang="zh-CN" sz="1600" dirty="0">
              <a:solidFill>
                <a:schemeClr val="bg1"/>
              </a:solidFill>
              <a:latin typeface="Microsoft YaHei" pitchFamily="34" charset="-122"/>
              <a:ea typeface="Microsoft YaHei" pitchFamily="34" charset="-122"/>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pic>
        <p:nvPicPr>
          <p:cNvPr id="5" name="Picture 4"/>
          <p:cNvPicPr/>
          <p:nvPr/>
        </p:nvPicPr>
        <p:blipFill>
          <a:blip r:embed="rId3"/>
          <a:stretch>
            <a:fillRect/>
          </a:stretch>
        </p:blipFill>
        <p:spPr>
          <a:xfrm>
            <a:off x="6878955" y="1098550"/>
            <a:ext cx="2289810" cy="2247265"/>
          </a:xfrm>
          <a:prstGeom prst="rect">
            <a:avLst/>
          </a:prstGeom>
        </p:spPr>
      </p:pic>
      <p:pic>
        <p:nvPicPr>
          <p:cNvPr id="6" name="Picture 5"/>
          <p:cNvPicPr/>
          <p:nvPr/>
        </p:nvPicPr>
        <p:blipFill>
          <a:blip r:embed="rId4"/>
          <a:stretch>
            <a:fillRect/>
          </a:stretch>
        </p:blipFill>
        <p:spPr>
          <a:xfrm>
            <a:off x="9599295" y="1156335"/>
            <a:ext cx="2221865" cy="1940560"/>
          </a:xfrm>
          <a:prstGeom prst="rect">
            <a:avLst/>
          </a:prstGeom>
        </p:spPr>
      </p:pic>
      <p:pic>
        <p:nvPicPr>
          <p:cNvPr id="10" name="Picture 9"/>
          <p:cNvPicPr/>
          <p:nvPr/>
        </p:nvPicPr>
        <p:blipFill>
          <a:blip r:embed="rId5"/>
          <a:stretch>
            <a:fillRect/>
          </a:stretch>
        </p:blipFill>
        <p:spPr>
          <a:xfrm>
            <a:off x="8050530" y="3593465"/>
            <a:ext cx="2470150" cy="2470150"/>
          </a:xfrm>
          <a:prstGeom prst="rect">
            <a:avLst/>
          </a:prstGeom>
        </p:spPr>
      </p:pic>
      <p:sp>
        <p:nvSpPr>
          <p:cNvPr id="11" name="Text Box 10"/>
          <p:cNvSpPr txBox="1"/>
          <p:nvPr/>
        </p:nvSpPr>
        <p:spPr>
          <a:xfrm>
            <a:off x="989330" y="802958"/>
            <a:ext cx="5080000" cy="460375"/>
          </a:xfrm>
          <a:prstGeom prst="rect">
            <a:avLst/>
          </a:prstGeom>
        </p:spPr>
        <p:txBody>
          <a:bodyPr>
            <a:spAutoFit/>
          </a:bodyPr>
          <a:p>
            <a:pPr marL="0" indent="0"/>
            <a:r>
              <a:rPr lang="en-US" altLang="zh-CN" sz="2400" b="0" i="0">
                <a:solidFill>
                  <a:srgbClr val="F8FAFF"/>
                </a:solidFill>
                <a:latin typeface="Microsoft YaHei" charset="0"/>
                <a:ea typeface="quote-cjk-patch"/>
                <a:cs typeface="Microsoft YaHei" charset="0"/>
              </a:rPr>
              <a:t>What We're Building Towards</a:t>
            </a:r>
            <a:endParaRPr lang="en-US" altLang="zh-CN" sz="2400" b="0" i="0">
              <a:solidFill>
                <a:srgbClr val="F8FAFF"/>
              </a:solidFill>
              <a:latin typeface="Microsoft YaHei" charset="0"/>
              <a:ea typeface="quote-cjk-patch"/>
              <a:cs typeface="Microsoft YaHei" charset="0"/>
            </a:endParaRPr>
          </a:p>
        </p:txBody>
      </p:sp>
      <p:sp>
        <p:nvSpPr>
          <p:cNvPr id="12" name="Text Box 11"/>
          <p:cNvSpPr txBox="1"/>
          <p:nvPr/>
        </p:nvSpPr>
        <p:spPr>
          <a:xfrm>
            <a:off x="6800215" y="866140"/>
            <a:ext cx="2221865" cy="368300"/>
          </a:xfrm>
          <a:prstGeom prst="rect">
            <a:avLst/>
          </a:prstGeom>
        </p:spPr>
        <p:txBody>
          <a:bodyPr wrap="square">
            <a:spAutoFit/>
          </a:bodyPr>
          <a:p>
            <a:pPr marL="0" indent="0"/>
            <a:r>
              <a:rPr lang="en-US" altLang="zh-CN" sz="1800" b="0" i="0">
                <a:solidFill>
                  <a:srgbClr val="F8FAFF"/>
                </a:solidFill>
                <a:latin typeface="Microsoft YaHei" charset="0"/>
                <a:ea typeface="quote-cjk-patch"/>
                <a:cs typeface="Microsoft YaHei" charset="0"/>
              </a:rPr>
              <a:t>Example app :</a:t>
            </a:r>
            <a:endParaRPr lang="en-US" altLang="zh-CN" sz="1800" b="0" i="0">
              <a:solidFill>
                <a:srgbClr val="F8FAFF"/>
              </a:solidFill>
              <a:latin typeface="Microsoft YaHei" charset="0"/>
              <a:ea typeface="quote-cjk-patch"/>
              <a:cs typeface="Microsoft YaHei" charset="0"/>
            </a:endParaRPr>
          </a:p>
        </p:txBody>
      </p:sp>
      <p:sp>
        <p:nvSpPr>
          <p:cNvPr id="13" name="Text Box 12"/>
          <p:cNvSpPr txBox="1"/>
          <p:nvPr/>
        </p:nvSpPr>
        <p:spPr>
          <a:xfrm>
            <a:off x="1057910" y="1328420"/>
            <a:ext cx="5514340" cy="3800475"/>
          </a:xfrm>
          <a:prstGeom prst="rect">
            <a:avLst/>
          </a:prstGeom>
        </p:spPr>
        <p:txBody>
          <a:bodyPr>
            <a:noAutofit/>
          </a:bodyPr>
          <a:p>
            <a:pPr marL="285750" indent="-285750">
              <a:lnSpc>
                <a:spcPts val="2860"/>
              </a:lnSpc>
              <a:spcBef>
                <a:spcPct val="0"/>
              </a:spcBef>
              <a:spcAft>
                <a:spcPct val="0"/>
              </a:spcAft>
              <a:buFont typeface="Wingdings" panose="05000000000000000000" charset="0"/>
              <a:buChar char=""/>
            </a:pPr>
            <a:r>
              <a:rPr lang="en-US" altLang="zh-CN" sz="1600" b="0" i="0">
                <a:solidFill>
                  <a:srgbClr val="F8FAFF"/>
                </a:solidFill>
                <a:latin typeface="quote-cjk-patch"/>
                <a:ea typeface="quote-cjk-patch"/>
              </a:rPr>
              <a:t>The Goal: </a:t>
            </a:r>
            <a:r>
              <a:rPr lang="en-US" altLang="zh-CN" sz="1600" b="0" i="0">
                <a:solidFill>
                  <a:srgbClr val="F8FAFF"/>
                </a:solidFill>
                <a:latin typeface="quote-cjk-patch"/>
                <a:ea typeface="quote-cjk-patch"/>
              </a:rPr>
              <a:t>To build your own iOS apps and publish them on the App Store.</a:t>
            </a:r>
            <a:endParaRPr lang="en-US" altLang="zh-CN" sz="1600" b="0" i="0">
              <a:solidFill>
                <a:srgbClr val="F8FAFF"/>
              </a:solidFill>
              <a:latin typeface="quote-cjk-patch"/>
              <a:ea typeface="quote-cjk-patch"/>
            </a:endParaRPr>
          </a:p>
          <a:p>
            <a:pPr marL="285750"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The Path:</a:t>
            </a:r>
            <a:endParaRPr lang="en-US" altLang="en-US" sz="1600" b="0" i="0">
              <a:solidFill>
                <a:srgbClr val="F8FAFF"/>
              </a:solidFill>
              <a:latin typeface="quote-cjk-patch"/>
              <a:ea typeface="quote-cjk-patch"/>
            </a:endParaRPr>
          </a:p>
          <a:p>
            <a:pPr marL="0" indent="0">
              <a:lnSpc>
                <a:spcPts val="2860"/>
              </a:lnSpc>
              <a:spcBef>
                <a:spcPct val="0"/>
              </a:spcBef>
              <a:spcAft>
                <a:spcPct val="0"/>
              </a:spcAft>
              <a:buFont typeface="Arial" panose="020B0604020202090204"/>
              <a:buChar char="•"/>
            </a:pPr>
            <a:endParaRPr lang="en-US" altLang="en-US" sz="1600" b="0" i="0">
              <a:solidFill>
                <a:srgbClr val="F8FAFF"/>
              </a:solidFill>
              <a:latin typeface="quote-cjk-patch"/>
              <a:ea typeface="quote-cjk-patch"/>
            </a:endParaRPr>
          </a:p>
          <a:p>
            <a:pPr marL="800100" lvl="1" indent="-342900">
              <a:lnSpc>
                <a:spcPts val="2860"/>
              </a:lnSpc>
              <a:spcBef>
                <a:spcPct val="0"/>
              </a:spcBef>
              <a:spcAft>
                <a:spcPct val="0"/>
              </a:spcAft>
              <a:buFont typeface="+mj-lt"/>
              <a:buAutoNum type="arabicPeriod"/>
            </a:pPr>
            <a:r>
              <a:rPr lang="en-US" altLang="en-US" sz="1600" b="0" i="0">
                <a:solidFill>
                  <a:srgbClr val="F8FAFF"/>
                </a:solidFill>
                <a:latin typeface="quote-cjk-patch"/>
                <a:ea typeface="quote-cjk-patch"/>
              </a:rPr>
              <a:t>Learn the language: Swift.</a:t>
            </a:r>
            <a:endParaRPr lang="en-US" altLang="en-US" sz="1600" b="0" i="0">
              <a:solidFill>
                <a:srgbClr val="F8FAFF"/>
              </a:solidFill>
              <a:latin typeface="quote-cjk-patch"/>
              <a:ea typeface="quote-cjk-patch"/>
            </a:endParaRPr>
          </a:p>
          <a:p>
            <a:pPr marL="800100" lvl="1" indent="-342900">
              <a:lnSpc>
                <a:spcPts val="2860"/>
              </a:lnSpc>
              <a:spcBef>
                <a:spcPct val="0"/>
              </a:spcBef>
              <a:spcAft>
                <a:spcPct val="0"/>
              </a:spcAft>
              <a:buFont typeface="+mj-lt"/>
              <a:buAutoNum type="arabicPeriod"/>
            </a:pPr>
            <a:endParaRPr lang="en-US" altLang="en-US" sz="1600" b="0" i="0">
              <a:solidFill>
                <a:srgbClr val="F8FAFF"/>
              </a:solidFill>
              <a:latin typeface="quote-cjk-patch"/>
              <a:ea typeface="quote-cjk-patch"/>
            </a:endParaRPr>
          </a:p>
          <a:p>
            <a:pPr marL="800100" lvl="1" indent="-342900">
              <a:lnSpc>
                <a:spcPts val="2860"/>
              </a:lnSpc>
              <a:spcBef>
                <a:spcPct val="0"/>
              </a:spcBef>
              <a:spcAft>
                <a:spcPct val="0"/>
              </a:spcAft>
              <a:buFont typeface="+mj-lt"/>
              <a:buAutoNum type="arabicPeriod"/>
            </a:pPr>
            <a:r>
              <a:rPr lang="en-US" altLang="en-US" sz="1600" b="0" i="0">
                <a:solidFill>
                  <a:srgbClr val="F8FAFF"/>
                </a:solidFill>
                <a:latin typeface="quote-cjk-patch"/>
                <a:ea typeface="quote-cjk-patch"/>
              </a:rPr>
              <a:t>Learn the tools: Xcode.</a:t>
            </a:r>
            <a:endParaRPr lang="en-US" altLang="en-US" sz="1600" b="0" i="0">
              <a:solidFill>
                <a:srgbClr val="F8FAFF"/>
              </a:solidFill>
              <a:latin typeface="quote-cjk-patch"/>
              <a:ea typeface="quote-cjk-patch"/>
            </a:endParaRPr>
          </a:p>
          <a:p>
            <a:pPr marL="800100" lvl="1" indent="-342900">
              <a:lnSpc>
                <a:spcPts val="2860"/>
              </a:lnSpc>
              <a:spcBef>
                <a:spcPct val="0"/>
              </a:spcBef>
              <a:spcAft>
                <a:spcPct val="0"/>
              </a:spcAft>
              <a:buFont typeface="+mj-lt"/>
              <a:buAutoNum type="arabicPeriod"/>
            </a:pPr>
            <a:endParaRPr lang="en-US" altLang="en-US" sz="1600" b="0" i="0">
              <a:solidFill>
                <a:srgbClr val="F8FAFF"/>
              </a:solidFill>
              <a:latin typeface="quote-cjk-patch"/>
              <a:ea typeface="quote-cjk-patch"/>
            </a:endParaRPr>
          </a:p>
          <a:p>
            <a:pPr marL="800100" lvl="1" indent="-342900">
              <a:lnSpc>
                <a:spcPts val="2860"/>
              </a:lnSpc>
              <a:spcBef>
                <a:spcPct val="0"/>
              </a:spcBef>
              <a:spcAft>
                <a:spcPct val="0"/>
              </a:spcAft>
              <a:buFont typeface="+mj-lt"/>
              <a:buAutoNum type="arabicPeriod"/>
            </a:pPr>
            <a:r>
              <a:rPr lang="en-US" altLang="en-US" sz="1600" b="0" i="0">
                <a:solidFill>
                  <a:srgbClr val="F8FAFF"/>
                </a:solidFill>
                <a:latin typeface="quote-cjk-patch"/>
                <a:ea typeface="quote-cjk-patch"/>
              </a:rPr>
              <a:t>Learn the framework: UIKit &amp; SwiftUI.</a:t>
            </a:r>
            <a:endParaRPr lang="en-US" altLang="en-US" sz="1600" b="0" i="0">
              <a:solidFill>
                <a:srgbClr val="F8FAFF"/>
              </a:solidFill>
              <a:latin typeface="quote-cjk-patch"/>
              <a:ea typeface="quote-cjk-patch"/>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2958"/>
            <a:ext cx="5080000" cy="460375"/>
          </a:xfrm>
          <a:prstGeom prst="rect">
            <a:avLst/>
          </a:prstGeom>
        </p:spPr>
        <p:txBody>
          <a:bodyPr>
            <a:spAutoFit/>
          </a:bodyPr>
          <a:p>
            <a:pPr marL="0" indent="0"/>
            <a:r>
              <a:rPr lang="en-US" altLang="en-US" sz="2400" b="0" i="0">
                <a:solidFill>
                  <a:srgbClr val="F8FAFF"/>
                </a:solidFill>
                <a:latin typeface="Microsoft YaHei" charset="0"/>
                <a:ea typeface="quote-cjk-patch"/>
                <a:cs typeface="Microsoft YaHei" charset="0"/>
              </a:rPr>
              <a:t>Prerequisites:</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1057910" y="1328420"/>
            <a:ext cx="5514340" cy="3800475"/>
          </a:xfrm>
          <a:prstGeom prst="rect">
            <a:avLst/>
          </a:prstGeom>
        </p:spPr>
        <p:txBody>
          <a:bodyPr>
            <a:noAutofit/>
          </a:bodyPr>
          <a:p>
            <a:pPr marL="342900" indent="-342900">
              <a:lnSpc>
                <a:spcPct val="200000"/>
              </a:lnSpc>
              <a:spcBef>
                <a:spcPct val="0"/>
              </a:spcBef>
              <a:spcAft>
                <a:spcPct val="0"/>
              </a:spcAft>
              <a:buFont typeface="+mj-lt"/>
              <a:buAutoNum type="arabicPeriod"/>
            </a:pPr>
            <a:r>
              <a:rPr lang="en-US" altLang="en-US" sz="1600" b="0" i="0">
                <a:solidFill>
                  <a:srgbClr val="F8FAFF"/>
                </a:solidFill>
                <a:latin typeface="quote-cjk-patch"/>
                <a:ea typeface="quote-cjk-patch"/>
              </a:rPr>
              <a:t>Basic programming knowledge:</a:t>
            </a:r>
            <a:endParaRPr lang="en-US" altLang="en-US" sz="1600" b="0" i="0">
              <a:solidFill>
                <a:srgbClr val="F8FAFF"/>
              </a:solidFill>
              <a:latin typeface="quote-cjk-patch"/>
              <a:ea typeface="quote-cjk-patch"/>
            </a:endParaRPr>
          </a:p>
          <a:p>
            <a:pPr marL="342900" indent="-342900">
              <a:lnSpc>
                <a:spcPct val="200000"/>
              </a:lnSpc>
              <a:spcBef>
                <a:spcPct val="0"/>
              </a:spcBef>
              <a:spcAft>
                <a:spcPct val="0"/>
              </a:spcAft>
              <a:buFont typeface="+mj-lt"/>
              <a:buAutoNum type="arabicPeriod"/>
            </a:pPr>
            <a:r>
              <a:rPr lang="en-US" altLang="en-US" sz="1600" b="0" i="0">
                <a:solidFill>
                  <a:srgbClr val="F8FAFF"/>
                </a:solidFill>
                <a:latin typeface="quote-cjk-patch"/>
                <a:ea typeface="quote-cjk-patch"/>
              </a:rPr>
              <a:t> MacOS computer for Xcode development</a:t>
            </a:r>
            <a:endParaRPr lang="en-US" altLang="en-US" sz="1600" b="0" i="0">
              <a:solidFill>
                <a:srgbClr val="F8FAFF"/>
              </a:solidFill>
              <a:latin typeface="quote-cjk-patch"/>
              <a:ea typeface="quote-cjk-patch"/>
            </a:endParaRPr>
          </a:p>
          <a:p>
            <a:pPr marL="342900" indent="-342900">
              <a:lnSpc>
                <a:spcPct val="200000"/>
              </a:lnSpc>
              <a:spcBef>
                <a:spcPct val="0"/>
              </a:spcBef>
              <a:spcAft>
                <a:spcPct val="0"/>
              </a:spcAft>
              <a:buFont typeface="+mj-lt"/>
              <a:buAutoNum type="arabicPeriod"/>
            </a:pPr>
            <a:r>
              <a:rPr lang="en-US" altLang="en-US" sz="1600" b="0" i="0">
                <a:solidFill>
                  <a:srgbClr val="F8FAFF"/>
                </a:solidFill>
                <a:latin typeface="quote-cjk-patch"/>
                <a:ea typeface="quote-cjk-patch"/>
              </a:rPr>
              <a:t> iPhone or iPad for testing (simulator available)</a:t>
            </a:r>
            <a:endParaRPr lang="en-US" altLang="en-US" sz="1600" b="0" i="0">
              <a:solidFill>
                <a:srgbClr val="F8FAFF"/>
              </a:solidFill>
              <a:latin typeface="quote-cjk-patch"/>
              <a:ea typeface="quote-cjk-patch"/>
            </a:endParaRPr>
          </a:p>
          <a:p>
            <a:pPr marL="342900" indent="-342900">
              <a:lnSpc>
                <a:spcPct val="200000"/>
              </a:lnSpc>
              <a:spcBef>
                <a:spcPct val="0"/>
              </a:spcBef>
              <a:spcAft>
                <a:spcPct val="0"/>
              </a:spcAft>
              <a:buFont typeface="+mj-lt"/>
              <a:buAutoNum type="arabicPeriod"/>
            </a:pPr>
            <a:r>
              <a:rPr lang="en-US" altLang="en-US" sz="1600" b="0" i="0">
                <a:solidFill>
                  <a:srgbClr val="F8FAFF"/>
                </a:solidFill>
                <a:latin typeface="quote-cjk-patch"/>
                <a:ea typeface="quote-cjk-patch"/>
              </a:rPr>
              <a:t> Having an Apple ID is recommended.</a:t>
            </a:r>
            <a:endParaRPr lang="en-US" altLang="en-US" sz="1600" b="0" i="0">
              <a:solidFill>
                <a:srgbClr val="F8FAFF"/>
              </a:solidFill>
              <a:latin typeface="quote-cjk-patch"/>
              <a:ea typeface="quote-cjk-patch"/>
            </a:endParaRPr>
          </a:p>
        </p:txBody>
      </p:sp>
      <p:pic>
        <p:nvPicPr>
          <p:cNvPr id="2" name="Picture 1"/>
          <p:cNvPicPr/>
          <p:nvPr/>
        </p:nvPicPr>
        <p:blipFill>
          <a:blip r:embed="rId1"/>
          <a:srcRect l="6453" t="15265" r="6334" b="10932"/>
          <a:stretch>
            <a:fillRect/>
          </a:stretch>
        </p:blipFill>
        <p:spPr>
          <a:xfrm>
            <a:off x="6572250" y="1263650"/>
            <a:ext cx="4848225" cy="3827145"/>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2958"/>
            <a:ext cx="5080000" cy="460375"/>
          </a:xfrm>
          <a:prstGeom prst="rect">
            <a:avLst/>
          </a:prstGeom>
        </p:spPr>
        <p:txBody>
          <a:bodyPr>
            <a:spAutoFit/>
          </a:bodyPr>
          <a:p>
            <a:pPr marL="0" indent="0"/>
            <a:r>
              <a:rPr lang="en-US" altLang="en-US" sz="2400" b="0" i="0">
                <a:solidFill>
                  <a:srgbClr val="F8FAFF"/>
                </a:solidFill>
                <a:latin typeface="Microsoft YaHei" charset="0"/>
                <a:ea typeface="quote-cjk-patch"/>
                <a:cs typeface="Microsoft YaHei" charset="0"/>
              </a:rPr>
              <a:t>What is Xcode?</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89330" y="1328420"/>
            <a:ext cx="5792470" cy="5528945"/>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Xcode is... Apple's Integrated Development Environment (IDE).</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It's your workshop: Everything you need to build apps for Apple platforms (iPhone, iPad, Mac, Apple Watch, Apple TV).</a:t>
            </a:r>
            <a:endParaRPr lang="en-US" altLang="en-US" sz="1600" b="0" i="0">
              <a:solidFill>
                <a:srgbClr val="F8FAFF"/>
              </a:solidFill>
              <a:latin typeface="quote-cjk-patch"/>
              <a:ea typeface="quote-cjk-patch"/>
            </a:endParaRPr>
          </a:p>
          <a:p>
            <a:pPr marL="285750"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It includes:</a:t>
            </a:r>
            <a:endParaRPr lang="en-US" altLang="en-US" sz="1600" b="0" i="0">
              <a:solidFill>
                <a:srgbClr val="F8FAFF"/>
              </a:solidFill>
              <a:latin typeface="quote-cjk-patch"/>
              <a:ea typeface="quote-cjk-patch"/>
            </a:endParaRPr>
          </a:p>
          <a:p>
            <a:pPr marL="742950" lvl="1"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A code editor</a:t>
            </a:r>
            <a:endParaRPr lang="en-US" altLang="en-US" sz="1600" b="0" i="0">
              <a:solidFill>
                <a:srgbClr val="F8FAFF"/>
              </a:solidFill>
              <a:latin typeface="quote-cjk-patch"/>
              <a:ea typeface="quote-cjk-patch"/>
            </a:endParaRPr>
          </a:p>
          <a:p>
            <a:pPr marL="742950" lvl="1"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A visual UI editor (Storyboards &amp; SwiftUI Canvas)</a:t>
            </a:r>
            <a:endParaRPr lang="en-US" altLang="en-US" sz="1600" b="0" i="0">
              <a:solidFill>
                <a:srgbClr val="F8FAFF"/>
              </a:solidFill>
              <a:latin typeface="quote-cjk-patch"/>
              <a:ea typeface="quote-cjk-patch"/>
            </a:endParaRPr>
          </a:p>
          <a:p>
            <a:pPr marL="742950" lvl="1"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A debugger</a:t>
            </a:r>
            <a:endParaRPr lang="en-US" altLang="en-US" sz="1600" b="0" i="0">
              <a:solidFill>
                <a:srgbClr val="F8FAFF"/>
              </a:solidFill>
              <a:latin typeface="quote-cjk-patch"/>
              <a:ea typeface="quote-cjk-patch"/>
            </a:endParaRPr>
          </a:p>
          <a:p>
            <a:pPr marL="742950" lvl="1"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The iOS Simulator</a:t>
            </a:r>
            <a:endParaRPr lang="en-US" altLang="en-US" sz="1600" b="0" i="0">
              <a:solidFill>
                <a:srgbClr val="F8FAFF"/>
              </a:solidFill>
              <a:latin typeface="quote-cjk-patch"/>
              <a:ea typeface="quote-cjk-patch"/>
            </a:endParaRPr>
          </a:p>
          <a:p>
            <a:pPr marL="742950" lvl="1" indent="-285750">
              <a:lnSpc>
                <a:spcPts val="286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And much more!</a:t>
            </a:r>
            <a:endParaRPr lang="en-US" altLang="en-US" sz="1600" b="0" i="0">
              <a:solidFill>
                <a:srgbClr val="F8FAFF"/>
              </a:solidFill>
              <a:latin typeface="quote-cjk-patch"/>
              <a:ea typeface="quote-cjk-patch"/>
            </a:endParaRPr>
          </a:p>
        </p:txBody>
      </p:sp>
      <p:pic>
        <p:nvPicPr>
          <p:cNvPr id="2" name="Picture 1"/>
          <p:cNvPicPr>
            <a:picLocks noChangeAspect="1"/>
          </p:cNvPicPr>
          <p:nvPr/>
        </p:nvPicPr>
        <p:blipFill>
          <a:blip r:embed="rId3"/>
          <a:stretch>
            <a:fillRect/>
          </a:stretch>
        </p:blipFill>
        <p:spPr>
          <a:xfrm>
            <a:off x="6781800" y="1647190"/>
            <a:ext cx="5300345" cy="3309620"/>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2958"/>
            <a:ext cx="5080000" cy="460375"/>
          </a:xfrm>
          <a:prstGeom prst="rect">
            <a:avLst/>
          </a:prstGeom>
        </p:spPr>
        <p:txBody>
          <a:bodyPr>
            <a:spAutoFit/>
          </a:bodyPr>
          <a:p>
            <a:pPr marL="0" indent="0"/>
            <a:r>
              <a:rPr lang="en-US" altLang="en-US" sz="2400" b="0" i="0">
                <a:solidFill>
                  <a:srgbClr val="F8FAFF"/>
                </a:solidFill>
                <a:latin typeface="Microsoft YaHei" charset="0"/>
                <a:ea typeface="quote-cjk-patch"/>
                <a:cs typeface="Microsoft YaHei" charset="0"/>
              </a:rPr>
              <a:t>Create Your First Playground</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12495" y="1263650"/>
            <a:ext cx="5792470" cy="5528945"/>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Playgrounds are perfect for learning Swift.</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They let you write code and see the results immediately, without building a full app.</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Let's open Xcode:</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"Get started with a playground"</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Choose "iOS" -&gt; "Blank" template.</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Name it "Week01.playground".</a:t>
            </a:r>
            <a:endParaRPr lang="en-US" altLang="en-US" sz="1600" b="0" i="0">
              <a:solidFill>
                <a:srgbClr val="F8FAFF"/>
              </a:solidFill>
              <a:latin typeface="quote-cjk-patch"/>
              <a:ea typeface="quote-cjk-patch"/>
            </a:endParaRPr>
          </a:p>
        </p:txBody>
      </p:sp>
      <p:pic>
        <p:nvPicPr>
          <p:cNvPr id="3" name="Picture 2"/>
          <p:cNvPicPr>
            <a:picLocks noChangeAspect="1"/>
          </p:cNvPicPr>
          <p:nvPr/>
        </p:nvPicPr>
        <p:blipFill>
          <a:blip r:embed="rId3"/>
          <a:stretch>
            <a:fillRect/>
          </a:stretch>
        </p:blipFill>
        <p:spPr>
          <a:xfrm>
            <a:off x="5781040" y="1263650"/>
            <a:ext cx="6273165" cy="4084955"/>
          </a:xfrm>
          <a:prstGeom prst="rect">
            <a:avLst/>
          </a:prstGeom>
        </p:spPr>
      </p:pic>
      <p:sp>
        <p:nvSpPr>
          <p:cNvPr id="7" name="Rectangles 6"/>
          <p:cNvSpPr/>
          <p:nvPr/>
        </p:nvSpPr>
        <p:spPr>
          <a:xfrm>
            <a:off x="6282690" y="1424940"/>
            <a:ext cx="2218055" cy="29210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8544560" y="2925445"/>
            <a:ext cx="1851660" cy="29210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3275"/>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 The Playground Interface - Live Demo</a:t>
            </a:r>
            <a:endParaRPr lang="en-US" altLang="en-US" sz="2400" b="0" i="0">
              <a:solidFill>
                <a:srgbClr val="F8FAFF"/>
              </a:solidFill>
              <a:latin typeface="Microsoft YaHei" charset="0"/>
              <a:ea typeface="quote-cjk-patch"/>
              <a:cs typeface="Microsoft YaHei" charset="0"/>
            </a:endParaRPr>
          </a:p>
        </p:txBody>
      </p:sp>
      <p:pic>
        <p:nvPicPr>
          <p:cNvPr id="2" name="Picture 1"/>
          <p:cNvPicPr>
            <a:picLocks noChangeAspect="1"/>
          </p:cNvPicPr>
          <p:nvPr/>
        </p:nvPicPr>
        <p:blipFill>
          <a:blip r:embed="rId3"/>
          <a:stretch>
            <a:fillRect/>
          </a:stretch>
        </p:blipFill>
        <p:spPr>
          <a:xfrm>
            <a:off x="5750560" y="1878330"/>
            <a:ext cx="6441440" cy="2246630"/>
          </a:xfrm>
          <a:prstGeom prst="rect">
            <a:avLst/>
          </a:prstGeom>
        </p:spPr>
      </p:pic>
      <p:sp>
        <p:nvSpPr>
          <p:cNvPr id="13" name="Text Box 12"/>
          <p:cNvSpPr txBox="1"/>
          <p:nvPr/>
        </p:nvSpPr>
        <p:spPr>
          <a:xfrm>
            <a:off x="912495" y="1263650"/>
            <a:ext cx="4869180" cy="5528945"/>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Code Editor (Left): Where you write your Swift code.</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Results Sidebar (Right): Shows the output of each line of code.</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Run Button: Click to execute your code.</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Let's open Xcode and do this together!</a:t>
            </a:r>
            <a:endParaRPr lang="en-US" altLang="en-US" sz="1600" b="0" i="0">
              <a:solidFill>
                <a:srgbClr val="F8FAFF"/>
              </a:solidFill>
              <a:latin typeface="quote-cjk-patch"/>
              <a:ea typeface="quote-cjk-patch"/>
            </a:endParaRPr>
          </a:p>
        </p:txBody>
      </p:sp>
      <p:sp>
        <p:nvSpPr>
          <p:cNvPr id="7" name="Rectangles 6"/>
          <p:cNvSpPr/>
          <p:nvPr/>
        </p:nvSpPr>
        <p:spPr>
          <a:xfrm>
            <a:off x="6111875" y="2855595"/>
            <a:ext cx="3010535" cy="29210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Rectangles 3"/>
          <p:cNvSpPr/>
          <p:nvPr/>
        </p:nvSpPr>
        <p:spPr>
          <a:xfrm>
            <a:off x="9264650" y="2853055"/>
            <a:ext cx="2737485" cy="29210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13462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The Swift Language</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89330" y="446405"/>
            <a:ext cx="10929620" cy="6322060"/>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Swift was created by Chris Lattner for Apple in 2010, with the language first introduced at WWDC 2014. While Apple is responsible for its development, the language is now maintained by the open-source community through. </a:t>
            </a:r>
            <a:r>
              <a:rPr lang="en-US" altLang="en-US" sz="1600" b="0" i="0">
                <a:solidFill>
                  <a:srgbClr val="F8FAFF"/>
                </a:solidFill>
                <a:latin typeface="quote-cjk-patch"/>
                <a:ea typeface="quote-cjk-patch"/>
                <a:hlinkClick r:id="rId3" action="ppaction://hlinkfile"/>
              </a:rPr>
              <a:t>Swift.org</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Swift is... a powerful and intuitive programming language created by Apple.</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It is: Modern, safe, fast, and easy to read.</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Key Concept: Swift is strongly typed and uses type inference. This means it's very careful about what kind of data (text, number, etc.) you're working with.</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Swift has undergone significant versions since its 1.0 release in 2014, with major versions including Swift 1, 2, 3, 4, and 5, followed by the recently released Swift 6 in 2024, each bringing new features and stability improvements. Key milestones include Swift 2.0 in 2015, Swift 3.0 in 2016, Swift 4.0 in 2017, and Swift 5 in 2019, which introduced a stable binary interface on Apple platforms. The most recent version, Swift 6.0, was released in 2024, and further development continues with Swift 6.2 released in 2025. </a:t>
            </a:r>
            <a:endParaRPr lang="en-US" altLang="en-US" sz="1600" b="0" i="0">
              <a:solidFill>
                <a:srgbClr val="F8FAFF"/>
              </a:solidFill>
              <a:latin typeface="quote-cjk-patch"/>
              <a:ea typeface="quote-cjk-patch"/>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Storing Data - Variables &amp; Constants</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916430"/>
            <a:ext cx="5080000" cy="3025140"/>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We store data in variables (can change) and constants (cannot change).</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Use </a:t>
            </a:r>
            <a:r>
              <a:rPr lang="en-US" altLang="en-US" sz="1600">
                <a:solidFill>
                  <a:srgbClr val="F8FAFF"/>
                </a:solidFill>
                <a:latin typeface="quote-cjk-patch"/>
                <a:ea typeface="quote-cjk-patch"/>
                <a:sym typeface="+mn-ea"/>
              </a:rPr>
              <a:t>var</a:t>
            </a:r>
            <a:r>
              <a:rPr lang="en-US" altLang="en-US" sz="1600">
                <a:solidFill>
                  <a:srgbClr val="F8FAFF"/>
                </a:solidFill>
                <a:latin typeface="quote-cjk-patch"/>
                <a:ea typeface="quote-cjk-patch"/>
                <a:sym typeface="+mn-ea"/>
              </a:rPr>
              <a:t> for variables.</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Use </a:t>
            </a:r>
            <a:r>
              <a:rPr lang="en-US" altLang="en-US" sz="1600">
                <a:solidFill>
                  <a:srgbClr val="F8FAFF"/>
                </a:solidFill>
                <a:latin typeface="quote-cjk-patch"/>
                <a:ea typeface="quote-cjk-patch"/>
                <a:sym typeface="+mn-ea"/>
              </a:rPr>
              <a:t>let</a:t>
            </a:r>
            <a:r>
              <a:rPr lang="en-US" altLang="en-US" sz="1600">
                <a:solidFill>
                  <a:srgbClr val="F8FAFF"/>
                </a:solidFill>
                <a:latin typeface="quote-cjk-patch"/>
                <a:ea typeface="quote-cjk-patch"/>
                <a:sym typeface="+mn-ea"/>
              </a:rPr>
              <a:t> for constants. (Prefer </a:t>
            </a:r>
            <a:r>
              <a:rPr lang="en-US" altLang="en-US" sz="1600">
                <a:solidFill>
                  <a:srgbClr val="F8FAFF"/>
                </a:solidFill>
                <a:latin typeface="quote-cjk-patch"/>
                <a:ea typeface="quote-cjk-patch"/>
                <a:sym typeface="+mn-ea"/>
              </a:rPr>
              <a:t>let</a:t>
            </a:r>
            <a:r>
              <a:rPr lang="en-US" altLang="en-US" sz="1600">
                <a:solidFill>
                  <a:srgbClr val="F8FAFF"/>
                </a:solidFill>
                <a:latin typeface="quote-cjk-patch"/>
                <a:ea typeface="quote-cjk-patch"/>
                <a:sym typeface="+mn-ea"/>
              </a:rPr>
              <a:t> whenever possible!)</a:t>
            </a:r>
            <a:endParaRPr lang="en-US" altLang="en-US" sz="1600">
              <a:solidFill>
                <a:srgbClr val="F8FAFF"/>
              </a:solidFill>
              <a:latin typeface="quote-cjk-patch"/>
              <a:ea typeface="quote-cjk-patch"/>
              <a:sym typeface="+mn-ea"/>
            </a:endParaRPr>
          </a:p>
        </p:txBody>
      </p:sp>
      <p:sp>
        <p:nvSpPr>
          <p:cNvPr id="3" name="Text Box 2"/>
          <p:cNvSpPr txBox="1"/>
          <p:nvPr/>
        </p:nvSpPr>
        <p:spPr>
          <a:xfrm>
            <a:off x="6716395" y="1916747"/>
            <a:ext cx="5080000" cy="2861310"/>
          </a:xfrm>
          <a:prstGeom prst="rect">
            <a:avLst/>
          </a:prstGeom>
        </p:spPr>
        <p:txBody>
          <a:bodyPr>
            <a:spAutoFit/>
          </a:bodyPr>
          <a:p>
            <a:pPr marL="0" indent="0">
              <a:spcBef>
                <a:spcPct val="0"/>
              </a:spcBef>
              <a:spcAft>
                <a:spcPct val="0"/>
              </a:spcAft>
            </a:pPr>
            <a:r>
              <a:rPr lang="en-US" altLang="zh-CN" sz="1800">
                <a:solidFill>
                  <a:srgbClr val="7CB554"/>
                </a:solidFill>
              </a:rPr>
              <a:t>// This is a comment. The computer ignores it.</a:t>
            </a:r>
            <a:endParaRPr lang="en-US" altLang="zh-CN" sz="1800">
              <a:solidFill>
                <a:srgbClr val="7CB554"/>
              </a:solidFill>
            </a:endParaRPr>
          </a:p>
          <a:p>
            <a:pPr marL="0" indent="0">
              <a:spcBef>
                <a:spcPct val="0"/>
              </a:spcBef>
              <a:spcAft>
                <a:spcPct val="0"/>
              </a:spcAft>
            </a:pPr>
            <a:r>
              <a:rPr lang="en-US" altLang="zh-CN" sz="1800">
                <a:solidFill>
                  <a:srgbClr val="7CB554"/>
                </a:solidFill>
              </a:rPr>
              <a:t>// A variable: its value can vary.</a:t>
            </a:r>
            <a:endParaRPr lang="en-US" altLang="zh-CN" sz="1800">
              <a:solidFill>
                <a:srgbClr val="7CB554"/>
              </a:solidFill>
            </a:endParaRPr>
          </a:p>
          <a:p>
            <a:pPr marL="0" indent="0">
              <a:spcBef>
                <a:spcPct val="0"/>
              </a:spcBef>
              <a:spcAft>
                <a:spcPct val="0"/>
              </a:spcAft>
            </a:pPr>
            <a:endParaRPr lang="en-US" altLang="zh-CN" sz="1800">
              <a:solidFill>
                <a:srgbClr val="7CB554"/>
              </a:solidFill>
            </a:endParaRPr>
          </a:p>
          <a:p>
            <a:r>
              <a:rPr lang="en-US" altLang="zh-CN" sz="1800">
                <a:solidFill>
                  <a:srgbClr val="FC6BAA"/>
                </a:solidFill>
              </a:rPr>
              <a:t>var </a:t>
            </a:r>
            <a:r>
              <a:rPr lang="en-US" altLang="zh-CN" sz="1800">
                <a:solidFill>
                  <a:srgbClr val="42B8E0"/>
                </a:solidFill>
              </a:rPr>
              <a:t>myName</a:t>
            </a:r>
            <a:r>
              <a:rPr lang="en-US" altLang="zh-CN" sz="1800">
                <a:solidFill>
                  <a:srgbClr val="FFFFFF"/>
                </a:solidFill>
              </a:rPr>
              <a:t> = </a:t>
            </a:r>
            <a:r>
              <a:rPr lang="en-US" altLang="zh-CN" sz="1800">
                <a:solidFill>
                  <a:srgbClr val="FC7467"/>
                </a:solidFill>
              </a:rPr>
              <a:t>"Pisey"</a:t>
            </a:r>
            <a:endParaRPr lang="en-US" altLang="zh-CN" sz="1800">
              <a:solidFill>
                <a:srgbClr val="FC7467"/>
              </a:solidFill>
            </a:endParaRPr>
          </a:p>
          <a:p>
            <a:r>
              <a:rPr lang="en-US" altLang="zh-CN" sz="1800">
                <a:solidFill>
                  <a:srgbClr val="72BFAE"/>
                </a:solidFill>
              </a:rPr>
              <a:t>myName</a:t>
            </a:r>
            <a:r>
              <a:rPr lang="en-US" altLang="zh-CN" sz="1800">
                <a:solidFill>
                  <a:srgbClr val="FFFFFF"/>
                </a:solidFill>
              </a:rPr>
              <a:t> = </a:t>
            </a:r>
            <a:r>
              <a:rPr lang="en-US" altLang="zh-CN" sz="1800">
                <a:solidFill>
                  <a:srgbClr val="FC7467"/>
                </a:solidFill>
              </a:rPr>
              <a:t>"Pisey Jo"</a:t>
            </a:r>
            <a:r>
              <a:rPr lang="en-US" altLang="zh-CN" sz="1800">
                <a:solidFill>
                  <a:srgbClr val="7CB554"/>
                </a:solidFill>
              </a:rPr>
              <a:t>// This is allowed.</a:t>
            </a:r>
            <a:endParaRPr lang="en-US" altLang="zh-CN" sz="1800">
              <a:solidFill>
                <a:srgbClr val="7CB554"/>
              </a:solidFill>
            </a:endParaRPr>
          </a:p>
          <a:p>
            <a:pPr marL="0" indent="0">
              <a:spcBef>
                <a:spcPct val="0"/>
              </a:spcBef>
              <a:spcAft>
                <a:spcPct val="0"/>
              </a:spcAft>
            </a:pPr>
            <a:endParaRPr lang="en-US" altLang="zh-CN" sz="1800">
              <a:solidFill>
                <a:srgbClr val="7CB554"/>
              </a:solidFill>
            </a:endParaRPr>
          </a:p>
          <a:p>
            <a:pPr marL="0" indent="0">
              <a:spcBef>
                <a:spcPct val="0"/>
              </a:spcBef>
              <a:spcAft>
                <a:spcPct val="0"/>
              </a:spcAft>
            </a:pPr>
            <a:r>
              <a:rPr lang="en-US" altLang="zh-CN" sz="1800">
                <a:solidFill>
                  <a:srgbClr val="7CB554"/>
                </a:solidFill>
              </a:rPr>
              <a:t>// A constant: its value is constant.</a:t>
            </a:r>
            <a:endParaRPr lang="en-US" altLang="zh-CN" sz="1800">
              <a:solidFill>
                <a:srgbClr val="7CB554"/>
              </a:solidFill>
            </a:endParaRPr>
          </a:p>
          <a:p>
            <a:r>
              <a:rPr lang="en-US" altLang="zh-CN" sz="1800">
                <a:solidFill>
                  <a:srgbClr val="FC6BAA"/>
                </a:solidFill>
              </a:rPr>
              <a:t>let </a:t>
            </a:r>
            <a:r>
              <a:rPr lang="en-US" altLang="zh-CN" sz="1800">
                <a:solidFill>
                  <a:srgbClr val="42B8E0"/>
                </a:solidFill>
              </a:rPr>
              <a:t>birthYear</a:t>
            </a:r>
            <a:r>
              <a:rPr lang="en-US" altLang="zh-CN" sz="1800">
                <a:solidFill>
                  <a:srgbClr val="FFFFFF"/>
                </a:solidFill>
              </a:rPr>
              <a:t> = </a:t>
            </a:r>
            <a:r>
              <a:rPr lang="en-US" altLang="zh-CN" sz="1800">
                <a:solidFill>
                  <a:srgbClr val="D0BC56"/>
                </a:solidFill>
              </a:rPr>
              <a:t>2000</a:t>
            </a:r>
            <a:endParaRPr lang="en-US" altLang="zh-CN" sz="1800">
              <a:solidFill>
                <a:srgbClr val="D0BC56"/>
              </a:solidFill>
            </a:endParaRPr>
          </a:p>
          <a:p>
            <a:pPr marL="0" indent="0">
              <a:spcBef>
                <a:spcPct val="0"/>
              </a:spcBef>
              <a:spcAft>
                <a:spcPct val="0"/>
              </a:spcAft>
            </a:pPr>
            <a:r>
              <a:rPr lang="en-US" altLang="zh-CN" sz="1800">
                <a:solidFill>
                  <a:srgbClr val="7CB554"/>
                </a:solidFill>
              </a:rPr>
              <a:t>// birthYear = 2001 // This would cause an ERROR!</a:t>
            </a:r>
            <a:endParaRPr lang="en-US" altLang="zh-CN" sz="1800">
              <a:solidFill>
                <a:srgbClr val="7CB554"/>
              </a:solidFill>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Data Types</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916430"/>
            <a:ext cx="5080000" cy="3025140"/>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Swift has many built-in types. The compiler infers the type from the value you assign.</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String: Text, surrounded by double quotes. "Hello"</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Int: Whole numbers. 42, -7</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Double: Decimal numbers. 3.14159</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Bool: true or false</a:t>
            </a:r>
            <a:endParaRPr lang="en-US" altLang="en-US" sz="1600">
              <a:solidFill>
                <a:srgbClr val="F8FAFF"/>
              </a:solidFill>
              <a:latin typeface="quote-cjk-patch"/>
              <a:ea typeface="quote-cjk-patch"/>
              <a:sym typeface="+mn-ea"/>
            </a:endParaRPr>
          </a:p>
        </p:txBody>
      </p:sp>
      <p:sp>
        <p:nvSpPr>
          <p:cNvPr id="4" name="Text Box 3"/>
          <p:cNvSpPr txBox="1"/>
          <p:nvPr/>
        </p:nvSpPr>
        <p:spPr>
          <a:xfrm>
            <a:off x="6656070" y="2616835"/>
            <a:ext cx="5080000" cy="1753235"/>
          </a:xfrm>
          <a:prstGeom prst="rect">
            <a:avLst/>
          </a:prstGeom>
        </p:spPr>
        <p:txBody>
          <a:bodyPr>
            <a:spAutoFit/>
          </a:bodyPr>
          <a:p>
            <a:r>
              <a:rPr lang="en-US" altLang="zh-CN" sz="1800">
                <a:solidFill>
                  <a:srgbClr val="FC6BAA"/>
                </a:solidFill>
              </a:rPr>
              <a:t>let </a:t>
            </a:r>
            <a:r>
              <a:rPr lang="en-US" altLang="zh-CN" sz="1800">
                <a:solidFill>
                  <a:srgbClr val="42B8E0"/>
                </a:solidFill>
              </a:rPr>
              <a:t>message</a:t>
            </a:r>
            <a:r>
              <a:rPr lang="en-US" altLang="zh-CN" sz="1800">
                <a:solidFill>
                  <a:srgbClr val="FFFFFF"/>
                </a:solidFill>
              </a:rPr>
              <a:t>: </a:t>
            </a:r>
            <a:r>
              <a:rPr lang="en-US" altLang="zh-CN" sz="1800">
                <a:solidFill>
                  <a:srgbClr val="DEC1FF"/>
                </a:solidFill>
              </a:rPr>
              <a:t>String</a:t>
            </a:r>
            <a:r>
              <a:rPr lang="en-US" altLang="zh-CN" sz="1800">
                <a:solidFill>
                  <a:srgbClr val="FFFFFF"/>
                </a:solidFill>
              </a:rPr>
              <a:t> = </a:t>
            </a:r>
            <a:r>
              <a:rPr lang="en-US" altLang="zh-CN" sz="1800">
                <a:solidFill>
                  <a:srgbClr val="FC7467"/>
                </a:solidFill>
              </a:rPr>
              <a:t>"Hello World"</a:t>
            </a:r>
            <a:r>
              <a:rPr lang="en-US" altLang="zh-CN" sz="1800">
                <a:solidFill>
                  <a:srgbClr val="7CB554"/>
                </a:solidFill>
              </a:rPr>
              <a:t>// Explicit type annotation</a:t>
            </a:r>
            <a:endParaRPr lang="en-US" altLang="zh-CN" sz="1800">
              <a:solidFill>
                <a:srgbClr val="7CB554"/>
              </a:solidFill>
            </a:endParaRPr>
          </a:p>
          <a:p>
            <a:endParaRPr lang="en-US" altLang="zh-CN" sz="1800">
              <a:solidFill>
                <a:srgbClr val="7CB554"/>
              </a:solidFill>
            </a:endParaRPr>
          </a:p>
          <a:p>
            <a:r>
              <a:rPr lang="en-US" altLang="zh-CN" sz="1800">
                <a:solidFill>
                  <a:srgbClr val="FC6BAA"/>
                </a:solidFill>
              </a:rPr>
              <a:t>let </a:t>
            </a:r>
            <a:r>
              <a:rPr lang="en-US" altLang="zh-CN" sz="1800">
                <a:solidFill>
                  <a:srgbClr val="42B8E0"/>
                </a:solidFill>
              </a:rPr>
              <a:t>score</a:t>
            </a:r>
            <a:r>
              <a:rPr lang="en-US" altLang="zh-CN" sz="1800">
                <a:solidFill>
                  <a:srgbClr val="FFFFFF"/>
                </a:solidFill>
              </a:rPr>
              <a:t> = </a:t>
            </a:r>
            <a:r>
              <a:rPr lang="en-US" altLang="zh-CN" sz="1800">
                <a:solidFill>
                  <a:srgbClr val="D0BC56"/>
                </a:solidFill>
              </a:rPr>
              <a:t>1000 </a:t>
            </a:r>
            <a:r>
              <a:rPr lang="en-US" altLang="zh-CN" sz="1800">
                <a:solidFill>
                  <a:srgbClr val="7CB554"/>
                </a:solidFill>
              </a:rPr>
              <a:t>// Inferred as Int</a:t>
            </a:r>
            <a:endParaRPr lang="en-US" altLang="zh-CN" sz="1800">
              <a:solidFill>
                <a:srgbClr val="7CB554"/>
              </a:solidFill>
            </a:endParaRPr>
          </a:p>
          <a:p>
            <a:r>
              <a:rPr lang="en-US" altLang="zh-CN" sz="1800">
                <a:solidFill>
                  <a:srgbClr val="FC6BAA"/>
                </a:solidFill>
              </a:rPr>
              <a:t>let </a:t>
            </a:r>
            <a:r>
              <a:rPr lang="en-US" altLang="zh-CN" sz="1800">
                <a:solidFill>
                  <a:srgbClr val="42B8E0"/>
                </a:solidFill>
              </a:rPr>
              <a:t>pi</a:t>
            </a:r>
            <a:r>
              <a:rPr lang="en-US" altLang="zh-CN" sz="1800">
                <a:solidFill>
                  <a:srgbClr val="FFFFFF"/>
                </a:solidFill>
              </a:rPr>
              <a:t> = </a:t>
            </a:r>
            <a:r>
              <a:rPr lang="en-US" altLang="zh-CN" sz="1800">
                <a:solidFill>
                  <a:srgbClr val="D0BC56"/>
                </a:solidFill>
              </a:rPr>
              <a:t>3.14 </a:t>
            </a:r>
            <a:r>
              <a:rPr lang="en-US" altLang="zh-CN" sz="1800">
                <a:solidFill>
                  <a:srgbClr val="7CB554"/>
                </a:solidFill>
              </a:rPr>
              <a:t>// Inferred as Double</a:t>
            </a:r>
            <a:endParaRPr lang="en-US" altLang="zh-CN" sz="1800">
              <a:solidFill>
                <a:srgbClr val="7CB554"/>
              </a:solidFill>
            </a:endParaRPr>
          </a:p>
          <a:p>
            <a:r>
              <a:rPr lang="en-US" altLang="zh-CN" sz="1800">
                <a:solidFill>
                  <a:srgbClr val="FC6BAA"/>
                </a:solidFill>
              </a:rPr>
              <a:t>let </a:t>
            </a:r>
            <a:r>
              <a:rPr lang="en-US" altLang="zh-CN" sz="1800">
                <a:solidFill>
                  <a:srgbClr val="42B8E0"/>
                </a:solidFill>
              </a:rPr>
              <a:t>isLoggedIn</a:t>
            </a:r>
            <a:r>
              <a:rPr lang="en-US" altLang="zh-CN" sz="1800">
                <a:solidFill>
                  <a:srgbClr val="FFFFFF"/>
                </a:solidFill>
              </a:rPr>
              <a:t> = </a:t>
            </a:r>
            <a:r>
              <a:rPr lang="en-US" altLang="zh-CN" sz="1800">
                <a:solidFill>
                  <a:srgbClr val="FC6BAA"/>
                </a:solidFill>
              </a:rPr>
              <a:t>true </a:t>
            </a:r>
            <a:r>
              <a:rPr lang="en-US" altLang="zh-CN" sz="1800">
                <a:solidFill>
                  <a:srgbClr val="7CB554"/>
                </a:solidFill>
              </a:rPr>
              <a:t>// Inferred as Bool</a:t>
            </a:r>
            <a:endParaRPr lang="en-US" altLang="zh-CN" sz="1800">
              <a:solidFill>
                <a:srgbClr val="7CB554"/>
              </a:solidFill>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Operators</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916430"/>
            <a:ext cx="5080000" cy="3025140"/>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Assignment: = (Assigns a value)</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Arithmetic: +, -, *, /</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Compound Assignment: +=, -=</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Comparison: == (equal to), != (not equal to), &gt;, &lt;, &gt;=, &lt;=</a:t>
            </a:r>
            <a:endParaRPr lang="en-US" altLang="en-US" sz="1600">
              <a:solidFill>
                <a:srgbClr val="F8FAFF"/>
              </a:solidFill>
              <a:latin typeface="quote-cjk-patch"/>
              <a:ea typeface="quote-cjk-patch"/>
              <a:sym typeface="+mn-ea"/>
            </a:endParaRPr>
          </a:p>
        </p:txBody>
      </p:sp>
      <p:sp>
        <p:nvSpPr>
          <p:cNvPr id="5" name="Text Box 4"/>
          <p:cNvSpPr txBox="1"/>
          <p:nvPr/>
        </p:nvSpPr>
        <p:spPr>
          <a:xfrm>
            <a:off x="6096000" y="2004378"/>
            <a:ext cx="5080000" cy="1753235"/>
          </a:xfrm>
          <a:prstGeom prst="rect">
            <a:avLst/>
          </a:prstGeom>
        </p:spPr>
        <p:txBody>
          <a:bodyPr>
            <a:spAutoFit/>
          </a:bodyPr>
          <a:p>
            <a:r>
              <a:rPr lang="en-US" altLang="zh-CN" sz="1800">
                <a:solidFill>
                  <a:srgbClr val="FC6BAA"/>
                </a:solidFill>
              </a:rPr>
              <a:t>let </a:t>
            </a:r>
            <a:r>
              <a:rPr lang="en-US" altLang="zh-CN" sz="1800">
                <a:solidFill>
                  <a:srgbClr val="42B8E0"/>
                </a:solidFill>
              </a:rPr>
              <a:t>a</a:t>
            </a:r>
            <a:r>
              <a:rPr lang="en-US" altLang="zh-CN" sz="1800">
                <a:solidFill>
                  <a:srgbClr val="FFFFFF"/>
                </a:solidFill>
              </a:rPr>
              <a:t> = </a:t>
            </a:r>
            <a:r>
              <a:rPr lang="en-US" altLang="zh-CN" sz="1800">
                <a:solidFill>
                  <a:srgbClr val="D0BC56"/>
                </a:solidFill>
              </a:rPr>
              <a:t>10</a:t>
            </a:r>
            <a:endParaRPr lang="en-US" altLang="zh-CN" sz="1800">
              <a:solidFill>
                <a:srgbClr val="D0BC56"/>
              </a:solidFill>
            </a:endParaRPr>
          </a:p>
          <a:p>
            <a:r>
              <a:rPr lang="en-US" altLang="zh-CN" sz="1800">
                <a:solidFill>
                  <a:srgbClr val="FC6BAA"/>
                </a:solidFill>
              </a:rPr>
              <a:t>let </a:t>
            </a:r>
            <a:r>
              <a:rPr lang="en-US" altLang="zh-CN" sz="1800">
                <a:solidFill>
                  <a:srgbClr val="42B8E0"/>
                </a:solidFill>
              </a:rPr>
              <a:t>b</a:t>
            </a:r>
            <a:r>
              <a:rPr lang="en-US" altLang="zh-CN" sz="1800">
                <a:solidFill>
                  <a:srgbClr val="FFFFFF"/>
                </a:solidFill>
              </a:rPr>
              <a:t> = </a:t>
            </a:r>
            <a:r>
              <a:rPr lang="en-US" altLang="zh-CN" sz="1800">
                <a:solidFill>
                  <a:srgbClr val="D0BC56"/>
                </a:solidFill>
              </a:rPr>
              <a:t>3</a:t>
            </a:r>
            <a:endParaRPr lang="en-US" altLang="zh-CN" sz="1800">
              <a:solidFill>
                <a:srgbClr val="D0BC56"/>
              </a:solidFill>
            </a:endParaRPr>
          </a:p>
          <a:p>
            <a:r>
              <a:rPr lang="en-US" altLang="zh-CN" sz="1800">
                <a:solidFill>
                  <a:srgbClr val="FC6BAA"/>
                </a:solidFill>
              </a:rPr>
              <a:t>let </a:t>
            </a:r>
            <a:r>
              <a:rPr lang="en-US" altLang="zh-CN" sz="1800">
                <a:solidFill>
                  <a:srgbClr val="42B8E0"/>
                </a:solidFill>
              </a:rPr>
              <a:t>sum</a:t>
            </a:r>
            <a:r>
              <a:rPr lang="en-US" altLang="zh-CN" sz="1800">
                <a:solidFill>
                  <a:srgbClr val="FFFFFF"/>
                </a:solidFill>
              </a:rPr>
              <a:t> = </a:t>
            </a:r>
            <a:r>
              <a:rPr lang="en-US" altLang="zh-CN" sz="1800">
                <a:solidFill>
                  <a:srgbClr val="72BFAE"/>
                </a:solidFill>
              </a:rPr>
              <a:t>a</a:t>
            </a:r>
            <a:r>
              <a:rPr lang="en-US" altLang="zh-CN" sz="1800">
                <a:solidFill>
                  <a:srgbClr val="FFFFFF"/>
                </a:solidFill>
              </a:rPr>
              <a:t> + </a:t>
            </a:r>
            <a:r>
              <a:rPr lang="en-US" altLang="zh-CN" sz="1800">
                <a:solidFill>
                  <a:srgbClr val="72BFAE"/>
                </a:solidFill>
              </a:rPr>
              <a:t>b</a:t>
            </a:r>
            <a:r>
              <a:rPr lang="en-US" altLang="zh-CN" sz="1800">
                <a:solidFill>
                  <a:srgbClr val="7CB554"/>
                </a:solidFill>
              </a:rPr>
              <a:t>// 13</a:t>
            </a:r>
            <a:endParaRPr lang="en-US" altLang="zh-CN" sz="1800">
              <a:solidFill>
                <a:srgbClr val="7CB554"/>
              </a:solidFill>
            </a:endParaRPr>
          </a:p>
          <a:p>
            <a:r>
              <a:rPr lang="en-US" altLang="zh-CN" sz="1800">
                <a:solidFill>
                  <a:srgbClr val="FC6BAA"/>
                </a:solidFill>
              </a:rPr>
              <a:t>let </a:t>
            </a:r>
            <a:r>
              <a:rPr lang="en-US" altLang="zh-CN" sz="1800">
                <a:solidFill>
                  <a:srgbClr val="42B8E0"/>
                </a:solidFill>
              </a:rPr>
              <a:t>isGreater</a:t>
            </a:r>
            <a:r>
              <a:rPr lang="en-US" altLang="zh-CN" sz="1800">
                <a:solidFill>
                  <a:srgbClr val="FFFFFF"/>
                </a:solidFill>
              </a:rPr>
              <a:t> = </a:t>
            </a:r>
            <a:r>
              <a:rPr lang="en-US" altLang="zh-CN" sz="1800">
                <a:solidFill>
                  <a:srgbClr val="72BFAE"/>
                </a:solidFill>
              </a:rPr>
              <a:t>a</a:t>
            </a:r>
            <a:r>
              <a:rPr lang="en-US" altLang="zh-CN" sz="1800">
                <a:solidFill>
                  <a:srgbClr val="FFFFFF"/>
                </a:solidFill>
              </a:rPr>
              <a:t> &gt; </a:t>
            </a:r>
            <a:r>
              <a:rPr lang="en-US" altLang="zh-CN" sz="1800">
                <a:solidFill>
                  <a:srgbClr val="72BFAE"/>
                </a:solidFill>
              </a:rPr>
              <a:t>b</a:t>
            </a:r>
            <a:r>
              <a:rPr lang="en-US" altLang="zh-CN" sz="1800">
                <a:solidFill>
                  <a:srgbClr val="7CB554"/>
                </a:solidFill>
              </a:rPr>
              <a:t>// true</a:t>
            </a:r>
            <a:endParaRPr lang="en-US" altLang="zh-CN" sz="1800">
              <a:solidFill>
                <a:srgbClr val="7CB554"/>
              </a:solidFill>
            </a:endParaRPr>
          </a:p>
          <a:p>
            <a:r>
              <a:rPr lang="en-US" altLang="zh-CN" sz="1800">
                <a:solidFill>
                  <a:srgbClr val="FC6BAA"/>
                </a:solidFill>
              </a:rPr>
              <a:t>var </a:t>
            </a:r>
            <a:r>
              <a:rPr lang="en-US" altLang="zh-CN" sz="1800">
                <a:solidFill>
                  <a:srgbClr val="42B8E0"/>
                </a:solidFill>
              </a:rPr>
              <a:t>counter</a:t>
            </a:r>
            <a:r>
              <a:rPr lang="en-US" altLang="zh-CN" sz="1800">
                <a:solidFill>
                  <a:srgbClr val="FFFFFF"/>
                </a:solidFill>
              </a:rPr>
              <a:t> = </a:t>
            </a:r>
            <a:r>
              <a:rPr lang="en-US" altLang="zh-CN" sz="1800">
                <a:solidFill>
                  <a:srgbClr val="D0BC56"/>
                </a:solidFill>
              </a:rPr>
              <a:t>0</a:t>
            </a:r>
            <a:endParaRPr lang="en-US" altLang="zh-CN" sz="1800">
              <a:solidFill>
                <a:srgbClr val="D0BC56"/>
              </a:solidFill>
            </a:endParaRPr>
          </a:p>
          <a:p>
            <a:r>
              <a:rPr lang="en-US" altLang="zh-CN" sz="1800">
                <a:solidFill>
                  <a:srgbClr val="72BFAE"/>
                </a:solidFill>
              </a:rPr>
              <a:t>counter</a:t>
            </a:r>
            <a:r>
              <a:rPr lang="en-US" altLang="zh-CN" sz="1800">
                <a:solidFill>
                  <a:srgbClr val="FFFFFF"/>
                </a:solidFill>
              </a:rPr>
              <a:t> += </a:t>
            </a:r>
            <a:r>
              <a:rPr lang="en-US" altLang="zh-CN" sz="1800">
                <a:solidFill>
                  <a:srgbClr val="D0BC56"/>
                </a:solidFill>
              </a:rPr>
              <a:t>1</a:t>
            </a:r>
            <a:r>
              <a:rPr lang="en-US" altLang="zh-CN" sz="1800">
                <a:solidFill>
                  <a:srgbClr val="7CB554"/>
                </a:solidFill>
              </a:rPr>
              <a:t>// counter is now 1</a:t>
            </a:r>
            <a:endParaRPr lang="en-US" altLang="zh-CN" sz="1800">
              <a:solidFill>
                <a:srgbClr val="7CB554"/>
              </a:solidFill>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Control Flow - Making Decisions</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916430"/>
            <a:ext cx="5080000" cy="3025140"/>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Use if, else if, and else statements to run code based on conditions.</a:t>
            </a:r>
            <a:endParaRPr lang="en-US" altLang="en-US" sz="1600">
              <a:solidFill>
                <a:srgbClr val="F8FAFF"/>
              </a:solidFill>
              <a:latin typeface="quote-cjk-patch"/>
              <a:ea typeface="quote-cjk-patch"/>
              <a:sym typeface="+mn-ea"/>
            </a:endParaRPr>
          </a:p>
        </p:txBody>
      </p:sp>
      <p:sp>
        <p:nvSpPr>
          <p:cNvPr id="4" name="Text Box 3"/>
          <p:cNvSpPr txBox="1"/>
          <p:nvPr/>
        </p:nvSpPr>
        <p:spPr>
          <a:xfrm>
            <a:off x="6165215" y="1525905"/>
            <a:ext cx="5080000" cy="4523105"/>
          </a:xfrm>
          <a:prstGeom prst="rect">
            <a:avLst/>
          </a:prstGeom>
        </p:spPr>
        <p:txBody>
          <a:bodyPr>
            <a:spAutoFit/>
          </a:bodyPr>
          <a:p>
            <a:pPr>
              <a:lnSpc>
                <a:spcPct val="200000"/>
              </a:lnSpc>
            </a:pPr>
            <a:r>
              <a:rPr lang="en-US" altLang="zh-CN" sz="1800">
                <a:solidFill>
                  <a:srgbClr val="FC6BAA"/>
                </a:solidFill>
              </a:rPr>
              <a:t>let </a:t>
            </a:r>
            <a:r>
              <a:rPr lang="en-US" altLang="zh-CN" sz="1800">
                <a:solidFill>
                  <a:srgbClr val="42B8E0"/>
                </a:solidFill>
              </a:rPr>
              <a:t>temperature</a:t>
            </a:r>
            <a:r>
              <a:rPr lang="en-US" altLang="zh-CN" sz="1800">
                <a:solidFill>
                  <a:srgbClr val="FFFFFF"/>
                </a:solidFill>
              </a:rPr>
              <a:t> = </a:t>
            </a:r>
            <a:r>
              <a:rPr lang="en-US" altLang="zh-CN" sz="1800">
                <a:solidFill>
                  <a:srgbClr val="D0BC56"/>
                </a:solidFill>
              </a:rPr>
              <a:t>70</a:t>
            </a:r>
            <a:endParaRPr lang="en-US" altLang="zh-CN" sz="1800">
              <a:solidFill>
                <a:srgbClr val="D0BC56"/>
              </a:solidFill>
            </a:endParaRPr>
          </a:p>
          <a:p>
            <a:pPr>
              <a:lnSpc>
                <a:spcPct val="200000"/>
              </a:lnSpc>
            </a:pPr>
            <a:r>
              <a:rPr lang="en-US" altLang="zh-CN" sz="1800">
                <a:solidFill>
                  <a:srgbClr val="FC6BAA"/>
                </a:solidFill>
              </a:rPr>
              <a:t>if </a:t>
            </a:r>
            <a:r>
              <a:rPr lang="en-US" altLang="zh-CN" sz="1800">
                <a:solidFill>
                  <a:srgbClr val="72BFAE"/>
                </a:solidFill>
              </a:rPr>
              <a:t>temperature</a:t>
            </a:r>
            <a:r>
              <a:rPr lang="en-US" altLang="zh-CN" sz="1800">
                <a:solidFill>
                  <a:srgbClr val="FFFFFF"/>
                </a:solidFill>
              </a:rPr>
              <a:t> &gt; </a:t>
            </a:r>
            <a:r>
              <a:rPr lang="en-US" altLang="zh-CN" sz="1800">
                <a:solidFill>
                  <a:srgbClr val="D0BC56"/>
                </a:solidFill>
              </a:rPr>
              <a:t>80</a:t>
            </a:r>
            <a:r>
              <a:rPr lang="en-US" altLang="zh-CN" sz="1800">
                <a:solidFill>
                  <a:srgbClr val="FFFFFF"/>
                </a:solidFill>
              </a:rPr>
              <a:t> {</a:t>
            </a:r>
            <a:endParaRPr lang="en-US" altLang="zh-CN" sz="1800">
              <a:solidFill>
                <a:srgbClr val="FFFFFF"/>
              </a:solidFill>
            </a:endParaRPr>
          </a:p>
          <a:p>
            <a:pPr>
              <a:lnSpc>
                <a:spcPct val="200000"/>
              </a:lnSpc>
            </a:pPr>
            <a:r>
              <a:rPr lang="en-US" altLang="zh-CN" sz="1800"/>
              <a:t>    </a:t>
            </a:r>
            <a:r>
              <a:rPr lang="en-US" altLang="zh-CN" sz="1800">
                <a:solidFill>
                  <a:srgbClr val="FFFFFF"/>
                </a:solidFill>
              </a:rPr>
              <a:t>print(</a:t>
            </a:r>
            <a:r>
              <a:rPr lang="en-US" altLang="zh-CN" sz="1800">
                <a:solidFill>
                  <a:srgbClr val="FC7467"/>
                </a:solidFill>
              </a:rPr>
              <a:t>"It's hot outside!"</a:t>
            </a:r>
            <a:r>
              <a:rPr lang="en-US" altLang="zh-CN" sz="1800">
                <a:solidFill>
                  <a:srgbClr val="FFFFFF"/>
                </a:solidFill>
              </a:rPr>
              <a:t>) </a:t>
            </a:r>
            <a:r>
              <a:rPr lang="en-US" altLang="zh-CN" sz="1800">
                <a:solidFill>
                  <a:srgbClr val="7CB554"/>
                </a:solidFill>
              </a:rPr>
              <a:t>// This won't run</a:t>
            </a:r>
            <a:endParaRPr lang="en-US" altLang="zh-CN" sz="1800">
              <a:solidFill>
                <a:srgbClr val="7CB554"/>
              </a:solidFill>
            </a:endParaRPr>
          </a:p>
          <a:p>
            <a:pPr>
              <a:lnSpc>
                <a:spcPct val="200000"/>
              </a:lnSpc>
            </a:pPr>
            <a:r>
              <a:rPr lang="en-US" altLang="zh-CN" sz="1800">
                <a:solidFill>
                  <a:srgbClr val="FFFFFF"/>
                </a:solidFill>
              </a:rPr>
              <a:t>} </a:t>
            </a:r>
            <a:r>
              <a:rPr lang="en-US" altLang="zh-CN" sz="1800">
                <a:solidFill>
                  <a:srgbClr val="FC6BAA"/>
                </a:solidFill>
              </a:rPr>
              <a:t>else if </a:t>
            </a:r>
            <a:r>
              <a:rPr lang="en-US" altLang="zh-CN" sz="1800">
                <a:solidFill>
                  <a:srgbClr val="72BFAE"/>
                </a:solidFill>
              </a:rPr>
              <a:t>temperature</a:t>
            </a:r>
            <a:r>
              <a:rPr lang="en-US" altLang="zh-CN" sz="1800">
                <a:solidFill>
                  <a:srgbClr val="FFFFFF"/>
                </a:solidFill>
              </a:rPr>
              <a:t> &gt; </a:t>
            </a:r>
            <a:r>
              <a:rPr lang="en-US" altLang="zh-CN" sz="1800">
                <a:solidFill>
                  <a:srgbClr val="D0BC56"/>
                </a:solidFill>
              </a:rPr>
              <a:t>60</a:t>
            </a:r>
            <a:r>
              <a:rPr lang="en-US" altLang="zh-CN" sz="1800">
                <a:solidFill>
                  <a:srgbClr val="FFFFFF"/>
                </a:solidFill>
              </a:rPr>
              <a:t> {</a:t>
            </a:r>
            <a:endParaRPr lang="en-US" altLang="zh-CN" sz="1800">
              <a:solidFill>
                <a:srgbClr val="FFFFFF"/>
              </a:solidFill>
            </a:endParaRPr>
          </a:p>
          <a:p>
            <a:pPr>
              <a:lnSpc>
                <a:spcPct val="200000"/>
              </a:lnSpc>
            </a:pPr>
            <a:r>
              <a:rPr lang="en-US" altLang="zh-CN" sz="1800"/>
              <a:t>    </a:t>
            </a:r>
            <a:r>
              <a:rPr lang="en-US" altLang="zh-CN" sz="1800">
                <a:solidFill>
                  <a:srgbClr val="FFFFFF"/>
                </a:solidFill>
              </a:rPr>
              <a:t>print(</a:t>
            </a:r>
            <a:r>
              <a:rPr lang="en-US" altLang="zh-CN" sz="1800">
                <a:solidFill>
                  <a:srgbClr val="FC7467"/>
                </a:solidFill>
              </a:rPr>
              <a:t>"It's nice outside!"</a:t>
            </a:r>
            <a:r>
              <a:rPr lang="en-US" altLang="zh-CN" sz="1800">
                <a:solidFill>
                  <a:srgbClr val="FFFFFF"/>
                </a:solidFill>
              </a:rPr>
              <a:t>) </a:t>
            </a:r>
            <a:r>
              <a:rPr lang="en-US" altLang="zh-CN" sz="1800">
                <a:solidFill>
                  <a:srgbClr val="7CB554"/>
                </a:solidFill>
              </a:rPr>
              <a:t>// This WILL run</a:t>
            </a:r>
            <a:endParaRPr lang="en-US" altLang="zh-CN" sz="1800">
              <a:solidFill>
                <a:srgbClr val="7CB554"/>
              </a:solidFill>
            </a:endParaRPr>
          </a:p>
          <a:p>
            <a:pPr marL="0" indent="0">
              <a:lnSpc>
                <a:spcPct val="200000"/>
              </a:lnSpc>
              <a:spcBef>
                <a:spcPct val="0"/>
              </a:spcBef>
              <a:spcAft>
                <a:spcPct val="0"/>
              </a:spcAft>
            </a:pPr>
            <a:r>
              <a:rPr lang="en-US" altLang="zh-CN" sz="1800">
                <a:solidFill>
                  <a:srgbClr val="FFFFFF"/>
                </a:solidFill>
              </a:rPr>
              <a:t>} </a:t>
            </a:r>
            <a:r>
              <a:rPr lang="en-US" altLang="zh-CN" sz="1800">
                <a:solidFill>
                  <a:srgbClr val="FC6BAA"/>
                </a:solidFill>
              </a:rPr>
              <a:t>else</a:t>
            </a:r>
            <a:r>
              <a:rPr lang="en-US" altLang="zh-CN" sz="1800">
                <a:solidFill>
                  <a:srgbClr val="FFFFFF"/>
                </a:solidFill>
              </a:rPr>
              <a:t> {</a:t>
            </a:r>
            <a:endParaRPr lang="en-US" altLang="zh-CN" sz="1800">
              <a:solidFill>
                <a:srgbClr val="FFFFFF"/>
              </a:solidFill>
            </a:endParaRPr>
          </a:p>
          <a:p>
            <a:pPr>
              <a:lnSpc>
                <a:spcPct val="200000"/>
              </a:lnSpc>
            </a:pPr>
            <a:r>
              <a:rPr lang="en-US" altLang="zh-CN" sz="1800"/>
              <a:t>    </a:t>
            </a:r>
            <a:r>
              <a:rPr lang="en-US" altLang="zh-CN" sz="1800">
                <a:solidFill>
                  <a:srgbClr val="FFFFFF"/>
                </a:solidFill>
              </a:rPr>
              <a:t>print(</a:t>
            </a:r>
            <a:r>
              <a:rPr lang="en-US" altLang="zh-CN" sz="1800">
                <a:solidFill>
                  <a:srgbClr val="FC7467"/>
                </a:solidFill>
              </a:rPr>
              <a:t>"It's a bit chilly."</a:t>
            </a:r>
            <a:r>
              <a:rPr lang="en-US" altLang="zh-CN" sz="1800">
                <a:solidFill>
                  <a:srgbClr val="FFFFFF"/>
                </a:solidFill>
              </a:rPr>
              <a:t>)</a:t>
            </a:r>
            <a:endParaRPr lang="en-US" altLang="zh-CN" sz="1800">
              <a:solidFill>
                <a:srgbClr val="FFFFFF"/>
              </a:solidFill>
            </a:endParaRPr>
          </a:p>
          <a:p>
            <a:pPr marL="0" indent="0">
              <a:lnSpc>
                <a:spcPct val="200000"/>
              </a:lnSpc>
              <a:spcBef>
                <a:spcPct val="0"/>
              </a:spcBef>
              <a:spcAft>
                <a:spcPct val="0"/>
              </a:spcAft>
            </a:pPr>
            <a:r>
              <a:rPr lang="en-US" altLang="zh-CN" sz="1800">
                <a:solidFill>
                  <a:srgbClr val="FFFFFF"/>
                </a:solidFill>
              </a:rPr>
              <a:t>}</a:t>
            </a:r>
            <a:endParaRPr lang="en-US" altLang="zh-CN" sz="1800">
              <a:solidFill>
                <a:srgbClr val="FFFFFF"/>
              </a:solidFill>
            </a:endParaRP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In-Class Exercise 1</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916430"/>
            <a:ext cx="7808595" cy="4656455"/>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Let's code together in our Playground!</a:t>
            </a:r>
            <a:endParaRPr lang="en-US" altLang="en-US" sz="1600">
              <a:solidFill>
                <a:srgbClr val="F8FAFF"/>
              </a:solidFill>
              <a:latin typeface="quote-cjk-patch"/>
              <a:ea typeface="quote-cjk-patch"/>
              <a:sym typeface="+mn-ea"/>
            </a:endParaRPr>
          </a:p>
          <a:p>
            <a:pPr marL="800100" lvl="1" indent="-342900" algn="l">
              <a:lnSpc>
                <a:spcPct val="200000"/>
              </a:lnSpc>
              <a:buClrTx/>
              <a:buSzTx/>
              <a:buFont typeface="+mj-lt"/>
              <a:buAutoNum type="arabicPeriod"/>
            </a:pPr>
            <a:r>
              <a:rPr lang="en-US" altLang="en-US" sz="1600">
                <a:solidFill>
                  <a:srgbClr val="F8FAFF"/>
                </a:solidFill>
                <a:latin typeface="quote-cjk-patch"/>
                <a:ea typeface="quote-cjk-patch"/>
                <a:sym typeface="+mn-ea"/>
              </a:rPr>
              <a:t>Create a constant </a:t>
            </a:r>
            <a:r>
              <a:rPr lang="en-US" altLang="en-US" sz="1600" b="1">
                <a:solidFill>
                  <a:srgbClr val="FF0000"/>
                </a:solidFill>
                <a:latin typeface="quote-cjk-patch"/>
                <a:ea typeface="quote-cjk-patch"/>
                <a:sym typeface="+mn-ea"/>
              </a:rPr>
              <a:t>name</a:t>
            </a:r>
            <a:r>
              <a:rPr lang="en-US" altLang="en-US" sz="1600">
                <a:solidFill>
                  <a:srgbClr val="F8FAFF"/>
                </a:solidFill>
                <a:latin typeface="quote-cjk-patch"/>
                <a:ea typeface="quote-cjk-patch"/>
                <a:sym typeface="+mn-ea"/>
              </a:rPr>
              <a:t> and a variable</a:t>
            </a:r>
            <a:r>
              <a:rPr lang="en-US" altLang="en-US" sz="1600">
                <a:solidFill>
                  <a:srgbClr val="FF0000"/>
                </a:solidFill>
                <a:latin typeface="quote-cjk-patch"/>
                <a:ea typeface="quote-cjk-patch"/>
                <a:sym typeface="+mn-ea"/>
              </a:rPr>
              <a:t> </a:t>
            </a:r>
            <a:r>
              <a:rPr lang="en-US" altLang="en-US" sz="1600" b="1">
                <a:solidFill>
                  <a:srgbClr val="FF0000"/>
                </a:solidFill>
                <a:latin typeface="quote-cjk-patch"/>
                <a:ea typeface="quote-cjk-patch"/>
                <a:sym typeface="+mn-ea"/>
              </a:rPr>
              <a:t>age</a:t>
            </a:r>
            <a:r>
              <a:rPr lang="en-US" altLang="en-US" sz="1600">
                <a:solidFill>
                  <a:srgbClr val="FF0000"/>
                </a:solidFill>
                <a:latin typeface="quote-cjk-patch"/>
                <a:ea typeface="quote-cjk-patch"/>
                <a:sym typeface="+mn-ea"/>
              </a:rPr>
              <a:t>.</a:t>
            </a:r>
            <a:endParaRPr lang="en-US" altLang="en-US" sz="1600">
              <a:solidFill>
                <a:srgbClr val="F8FAFF"/>
              </a:solidFill>
              <a:latin typeface="quote-cjk-patch"/>
              <a:ea typeface="quote-cjk-patch"/>
              <a:sym typeface="+mn-ea"/>
            </a:endParaRPr>
          </a:p>
          <a:p>
            <a:pPr marL="800100" lvl="1" indent="-342900" algn="l">
              <a:lnSpc>
                <a:spcPct val="200000"/>
              </a:lnSpc>
              <a:buClrTx/>
              <a:buSzTx/>
              <a:buFont typeface="+mj-lt"/>
              <a:buAutoNum type="arabicPeriod"/>
            </a:pPr>
            <a:r>
              <a:rPr lang="en-US" altLang="en-US" sz="1600">
                <a:solidFill>
                  <a:srgbClr val="F8FAFF"/>
                </a:solidFill>
                <a:latin typeface="quote-cjk-patch"/>
                <a:ea typeface="quote-cjk-patch"/>
                <a:sym typeface="+mn-ea"/>
              </a:rPr>
              <a:t>Assign them values.</a:t>
            </a:r>
            <a:endParaRPr lang="en-US" altLang="en-US" sz="1600">
              <a:solidFill>
                <a:srgbClr val="F8FAFF"/>
              </a:solidFill>
              <a:latin typeface="quote-cjk-patch"/>
              <a:ea typeface="quote-cjk-patch"/>
              <a:sym typeface="+mn-ea"/>
            </a:endParaRPr>
          </a:p>
          <a:p>
            <a:pPr marL="800100" lvl="1" indent="-342900" algn="l">
              <a:lnSpc>
                <a:spcPct val="200000"/>
              </a:lnSpc>
              <a:buClrTx/>
              <a:buSzTx/>
              <a:buFont typeface="+mj-lt"/>
              <a:buAutoNum type="arabicPeriod"/>
            </a:pPr>
            <a:r>
              <a:rPr lang="en-US" altLang="en-US" sz="1600">
                <a:solidFill>
                  <a:srgbClr val="F8FAFF"/>
                </a:solidFill>
                <a:latin typeface="quote-cjk-patch"/>
                <a:ea typeface="quote-cjk-patch"/>
                <a:sym typeface="+mn-ea"/>
              </a:rPr>
              <a:t>Print a message that says: "</a:t>
            </a:r>
            <a:r>
              <a:rPr lang="en-US" altLang="en-US" sz="1600">
                <a:solidFill>
                  <a:srgbClr val="FF0000"/>
                </a:solidFill>
                <a:latin typeface="quote-cjk-patch"/>
                <a:ea typeface="quote-cjk-patch"/>
                <a:sym typeface="+mn-ea"/>
              </a:rPr>
              <a:t>[name] is [age] years old.</a:t>
            </a:r>
            <a:r>
              <a:rPr lang="en-US" altLang="en-US" sz="1600">
                <a:solidFill>
                  <a:srgbClr val="F8FAFF"/>
                </a:solidFill>
                <a:latin typeface="quote-cjk-patch"/>
                <a:ea typeface="quote-cjk-patch"/>
                <a:sym typeface="+mn-ea"/>
              </a:rPr>
              <a:t>"</a:t>
            </a:r>
            <a:endParaRPr lang="en-US" altLang="en-US" sz="1600">
              <a:solidFill>
                <a:srgbClr val="F8FAFF"/>
              </a:solidFill>
              <a:latin typeface="quote-cjk-patch"/>
              <a:ea typeface="quote-cjk-patch"/>
              <a:sym typeface="+mn-ea"/>
            </a:endParaRPr>
          </a:p>
          <a:p>
            <a:pPr marL="800100" lvl="1" indent="-342900" algn="l">
              <a:lnSpc>
                <a:spcPct val="200000"/>
              </a:lnSpc>
              <a:buClrTx/>
              <a:buSzTx/>
              <a:buFont typeface="+mj-lt"/>
              <a:buAutoNum type="arabicPeriod"/>
            </a:pPr>
            <a:r>
              <a:rPr lang="en-US" altLang="en-US" sz="1600">
                <a:solidFill>
                  <a:srgbClr val="F8FAFF"/>
                </a:solidFill>
                <a:latin typeface="quote-cjk-patch"/>
                <a:ea typeface="quote-cjk-patch"/>
                <a:sym typeface="+mn-ea"/>
              </a:rPr>
              <a:t>Write an if statement that checks if the person </a:t>
            </a:r>
            <a:r>
              <a:rPr lang="en-US" altLang="en-US" sz="1600">
                <a:solidFill>
                  <a:srgbClr val="FF0000"/>
                </a:solidFill>
                <a:latin typeface="quote-cjk-patch"/>
                <a:ea typeface="quote-cjk-patch"/>
                <a:sym typeface="+mn-ea"/>
              </a:rPr>
              <a:t>can vote (age &gt;= 18) and prints "Can vote" or "Can't vote".</a:t>
            </a:r>
            <a:endParaRPr lang="en-US" altLang="en-US" sz="1600">
              <a:solidFill>
                <a:srgbClr val="FF0000"/>
              </a:solidFill>
              <a:latin typeface="quote-cjk-patch"/>
              <a:ea typeface="quote-cjk-patch"/>
              <a:sym typeface="+mn-ea"/>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 Solution to Exercise 1</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8863965" cy="4930140"/>
          </a:xfrm>
          <a:prstGeom prst="rect">
            <a:avLst/>
          </a:prstGeom>
        </p:spPr>
        <p:txBody>
          <a:bodyPr wrap="square">
            <a:noAutofit/>
          </a:bodyPr>
          <a:p>
            <a:pPr>
              <a:lnSpc>
                <a:spcPct val="200000"/>
              </a:lnSpc>
            </a:pPr>
            <a:r>
              <a:rPr lang="en-US" altLang="zh-CN" sz="1800">
                <a:solidFill>
                  <a:srgbClr val="FC6BAA"/>
                </a:solidFill>
              </a:rPr>
              <a:t>let </a:t>
            </a:r>
            <a:r>
              <a:rPr lang="en-US" altLang="zh-CN" sz="1800">
                <a:solidFill>
                  <a:srgbClr val="42B8E0"/>
                </a:solidFill>
              </a:rPr>
              <a:t>name</a:t>
            </a:r>
            <a:r>
              <a:rPr lang="en-US" altLang="zh-CN" sz="1800">
                <a:solidFill>
                  <a:srgbClr val="FFFFFF"/>
                </a:solidFill>
              </a:rPr>
              <a:t> = </a:t>
            </a:r>
            <a:r>
              <a:rPr lang="en-US" altLang="zh-CN" sz="1800">
                <a:solidFill>
                  <a:srgbClr val="FC7467"/>
                </a:solidFill>
              </a:rPr>
              <a:t>"Borey"</a:t>
            </a:r>
            <a:endParaRPr lang="en-US" altLang="zh-CN" sz="1800">
              <a:solidFill>
                <a:srgbClr val="FC7467"/>
              </a:solidFill>
            </a:endParaRPr>
          </a:p>
          <a:p>
            <a:pPr>
              <a:lnSpc>
                <a:spcPct val="200000"/>
              </a:lnSpc>
            </a:pPr>
            <a:r>
              <a:rPr lang="en-US" altLang="zh-CN" sz="1800">
                <a:solidFill>
                  <a:srgbClr val="FC6BAA"/>
                </a:solidFill>
              </a:rPr>
              <a:t>var </a:t>
            </a:r>
            <a:r>
              <a:rPr lang="en-US" altLang="zh-CN" sz="1800">
                <a:solidFill>
                  <a:srgbClr val="42B8E0"/>
                </a:solidFill>
              </a:rPr>
              <a:t>age</a:t>
            </a:r>
            <a:r>
              <a:rPr lang="en-US" altLang="zh-CN" sz="1800">
                <a:solidFill>
                  <a:srgbClr val="FFFFFF"/>
                </a:solidFill>
              </a:rPr>
              <a:t> = </a:t>
            </a:r>
            <a:r>
              <a:rPr lang="en-US" altLang="zh-CN" sz="1800">
                <a:solidFill>
                  <a:srgbClr val="D0BC56"/>
                </a:solidFill>
              </a:rPr>
              <a:t>27</a:t>
            </a:r>
            <a:endParaRPr lang="en-US" altLang="zh-CN" sz="1800">
              <a:solidFill>
                <a:srgbClr val="D0BC56"/>
              </a:solidFill>
            </a:endParaRPr>
          </a:p>
          <a:p>
            <a:pPr>
              <a:lnSpc>
                <a:spcPct val="200000"/>
              </a:lnSpc>
            </a:pPr>
            <a:r>
              <a:rPr lang="en-US" altLang="zh-CN" sz="1800">
                <a:solidFill>
                  <a:srgbClr val="FFFFFF"/>
                </a:solidFill>
              </a:rPr>
              <a:t>print(</a:t>
            </a:r>
            <a:r>
              <a:rPr lang="en-US" altLang="zh-CN" sz="1800">
                <a:solidFill>
                  <a:srgbClr val="FC7467"/>
                </a:solidFill>
              </a:rPr>
              <a:t>"</a:t>
            </a:r>
            <a:r>
              <a:rPr lang="en-US" altLang="zh-CN" sz="1800">
                <a:solidFill>
                  <a:srgbClr val="FFFFFF"/>
                </a:solidFill>
              </a:rPr>
              <a:t>\(</a:t>
            </a:r>
            <a:r>
              <a:rPr lang="en-US" altLang="zh-CN" sz="1800">
                <a:solidFill>
                  <a:srgbClr val="72BFAE"/>
                </a:solidFill>
              </a:rPr>
              <a:t>name</a:t>
            </a:r>
            <a:r>
              <a:rPr lang="en-US" altLang="zh-CN" sz="1800">
                <a:solidFill>
                  <a:srgbClr val="FFFFFF"/>
                </a:solidFill>
              </a:rPr>
              <a:t>)</a:t>
            </a:r>
            <a:r>
              <a:rPr lang="en-US" altLang="zh-CN" sz="1800">
                <a:solidFill>
                  <a:srgbClr val="FC7467"/>
                </a:solidFill>
              </a:rPr>
              <a:t> is </a:t>
            </a:r>
            <a:r>
              <a:rPr lang="en-US" altLang="zh-CN" sz="1800">
                <a:solidFill>
                  <a:srgbClr val="FFFFFF"/>
                </a:solidFill>
              </a:rPr>
              <a:t>\(</a:t>
            </a:r>
            <a:r>
              <a:rPr lang="en-US" altLang="zh-CN" sz="1800">
                <a:solidFill>
                  <a:srgbClr val="72BFAE"/>
                </a:solidFill>
              </a:rPr>
              <a:t>age</a:t>
            </a:r>
            <a:r>
              <a:rPr lang="en-US" altLang="zh-CN" sz="1800">
                <a:solidFill>
                  <a:srgbClr val="FFFFFF"/>
                </a:solidFill>
              </a:rPr>
              <a:t>)</a:t>
            </a:r>
            <a:r>
              <a:rPr lang="en-US" altLang="zh-CN" sz="1800">
                <a:solidFill>
                  <a:srgbClr val="FC7467"/>
                </a:solidFill>
              </a:rPr>
              <a:t> years old."</a:t>
            </a:r>
            <a:r>
              <a:rPr lang="en-US" altLang="zh-CN" sz="1800">
                <a:solidFill>
                  <a:srgbClr val="FFFFFF"/>
                </a:solidFill>
              </a:rPr>
              <a:t>)</a:t>
            </a:r>
            <a:endParaRPr lang="en-US" altLang="zh-CN" sz="1800">
              <a:solidFill>
                <a:srgbClr val="FFFFFF"/>
              </a:solidFill>
            </a:endParaRPr>
          </a:p>
          <a:p>
            <a:pPr marL="0" indent="0">
              <a:lnSpc>
                <a:spcPct val="200000"/>
              </a:lnSpc>
              <a:spcBef>
                <a:spcPct val="0"/>
              </a:spcBef>
              <a:spcAft>
                <a:spcPct val="0"/>
              </a:spcAft>
            </a:pPr>
            <a:r>
              <a:rPr lang="en-US" altLang="zh-CN" sz="1800">
                <a:solidFill>
                  <a:srgbClr val="7CB554"/>
                </a:solidFill>
              </a:rPr>
              <a:t>// This is called string interpolation. It lets you put variables inside strings.</a:t>
            </a:r>
            <a:endParaRPr lang="en-US" altLang="zh-CN" sz="1800">
              <a:solidFill>
                <a:srgbClr val="7CB554"/>
              </a:solidFill>
            </a:endParaRPr>
          </a:p>
          <a:p>
            <a:pPr>
              <a:lnSpc>
                <a:spcPct val="200000"/>
              </a:lnSpc>
            </a:pPr>
            <a:r>
              <a:rPr lang="en-US" altLang="zh-CN" sz="1800">
                <a:solidFill>
                  <a:srgbClr val="FC6BAA"/>
                </a:solidFill>
              </a:rPr>
              <a:t>if </a:t>
            </a:r>
            <a:r>
              <a:rPr lang="en-US" altLang="zh-CN" sz="1800">
                <a:solidFill>
                  <a:srgbClr val="72BFAE"/>
                </a:solidFill>
              </a:rPr>
              <a:t>age</a:t>
            </a:r>
            <a:r>
              <a:rPr lang="en-US" altLang="zh-CN" sz="1800">
                <a:solidFill>
                  <a:srgbClr val="FFFFFF"/>
                </a:solidFill>
              </a:rPr>
              <a:t> &gt;= </a:t>
            </a:r>
            <a:r>
              <a:rPr lang="en-US" altLang="zh-CN" sz="1800">
                <a:solidFill>
                  <a:srgbClr val="D0BC56"/>
                </a:solidFill>
              </a:rPr>
              <a:t>18</a:t>
            </a:r>
            <a:r>
              <a:rPr lang="en-US" altLang="zh-CN" sz="1800">
                <a:solidFill>
                  <a:srgbClr val="FFFFFF"/>
                </a:solidFill>
              </a:rPr>
              <a:t> {</a:t>
            </a:r>
            <a:endParaRPr lang="en-US" altLang="zh-CN" sz="1800">
              <a:solidFill>
                <a:srgbClr val="FFFFFF"/>
              </a:solidFill>
            </a:endParaRPr>
          </a:p>
          <a:p>
            <a:pPr>
              <a:lnSpc>
                <a:spcPct val="200000"/>
              </a:lnSpc>
            </a:pPr>
            <a:r>
              <a:rPr lang="en-US" altLang="zh-CN" sz="1800"/>
              <a:t>    </a:t>
            </a:r>
            <a:r>
              <a:rPr lang="en-US" altLang="zh-CN" sz="1800">
                <a:solidFill>
                  <a:srgbClr val="FFFFFF"/>
                </a:solidFill>
              </a:rPr>
              <a:t>print(</a:t>
            </a:r>
            <a:r>
              <a:rPr lang="en-US" altLang="zh-CN" sz="1800">
                <a:solidFill>
                  <a:srgbClr val="FC7467"/>
                </a:solidFill>
              </a:rPr>
              <a:t>"Can vote"</a:t>
            </a:r>
            <a:r>
              <a:rPr lang="en-US" altLang="zh-CN" sz="1800">
                <a:solidFill>
                  <a:srgbClr val="FFFFFF"/>
                </a:solidFill>
              </a:rPr>
              <a:t>)</a:t>
            </a:r>
            <a:endParaRPr lang="en-US" altLang="zh-CN" sz="1800">
              <a:solidFill>
                <a:srgbClr val="FFFFFF"/>
              </a:solidFill>
            </a:endParaRPr>
          </a:p>
          <a:p>
            <a:pPr marL="0" indent="0">
              <a:lnSpc>
                <a:spcPct val="200000"/>
              </a:lnSpc>
              <a:spcBef>
                <a:spcPct val="0"/>
              </a:spcBef>
              <a:spcAft>
                <a:spcPct val="0"/>
              </a:spcAft>
            </a:pPr>
            <a:r>
              <a:rPr lang="en-US" altLang="zh-CN" sz="1800">
                <a:solidFill>
                  <a:srgbClr val="FFFFFF"/>
                </a:solidFill>
              </a:rPr>
              <a:t>} </a:t>
            </a:r>
            <a:r>
              <a:rPr lang="en-US" altLang="zh-CN" sz="1800">
                <a:solidFill>
                  <a:srgbClr val="FC6BAA"/>
                </a:solidFill>
              </a:rPr>
              <a:t>else</a:t>
            </a:r>
            <a:r>
              <a:rPr lang="en-US" altLang="zh-CN" sz="1800">
                <a:solidFill>
                  <a:srgbClr val="FFFFFF"/>
                </a:solidFill>
              </a:rPr>
              <a:t> {</a:t>
            </a:r>
            <a:endParaRPr lang="en-US" altLang="zh-CN" sz="1800">
              <a:solidFill>
                <a:srgbClr val="FFFFFF"/>
              </a:solidFill>
            </a:endParaRPr>
          </a:p>
          <a:p>
            <a:pPr>
              <a:lnSpc>
                <a:spcPct val="200000"/>
              </a:lnSpc>
            </a:pPr>
            <a:r>
              <a:rPr lang="en-US" altLang="zh-CN" sz="1800"/>
              <a:t>    </a:t>
            </a:r>
            <a:r>
              <a:rPr lang="en-US" altLang="zh-CN" sz="1800">
                <a:solidFill>
                  <a:srgbClr val="FFFFFF"/>
                </a:solidFill>
              </a:rPr>
              <a:t>print(</a:t>
            </a:r>
            <a:r>
              <a:rPr lang="en-US" altLang="zh-CN" sz="1800">
                <a:solidFill>
                  <a:srgbClr val="FC7467"/>
                </a:solidFill>
              </a:rPr>
              <a:t>"Can't vote"</a:t>
            </a:r>
            <a:r>
              <a:rPr lang="en-US" altLang="zh-CN" sz="1800">
                <a:solidFill>
                  <a:srgbClr val="FFFFFF"/>
                </a:solidFill>
              </a:rPr>
              <a:t>)</a:t>
            </a:r>
            <a:endParaRPr lang="en-US" altLang="zh-CN" sz="1800">
              <a:solidFill>
                <a:srgbClr val="FFFFFF"/>
              </a:solidFill>
            </a:endParaRPr>
          </a:p>
          <a:p>
            <a:pPr marL="0" indent="0">
              <a:lnSpc>
                <a:spcPct val="200000"/>
              </a:lnSpc>
              <a:spcBef>
                <a:spcPct val="0"/>
              </a:spcBef>
              <a:spcAft>
                <a:spcPct val="0"/>
              </a:spcAft>
            </a:pPr>
            <a:r>
              <a:rPr lang="en-US" altLang="zh-CN" sz="1800">
                <a:solidFill>
                  <a:srgbClr val="FFFFFF"/>
                </a:solidFill>
              </a:rPr>
              <a:t>}</a:t>
            </a:r>
            <a:endParaRPr lang="en-US" altLang="zh-CN" sz="1800">
              <a:solidFill>
                <a:srgbClr val="FFFFFF"/>
              </a:solidFill>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What's Next? UIKit vs. SwiftUI</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8863965" cy="4930140"/>
          </a:xfrm>
          <a:prstGeom prst="rect">
            <a:avLst/>
          </a:prstGeom>
        </p:spPr>
        <p:txBody>
          <a:bodyPr wrap="square">
            <a:noAutofit/>
          </a:bodyPr>
          <a:p>
            <a:pPr marL="285750" indent="-285750">
              <a:lnSpc>
                <a:spcPct val="200000"/>
              </a:lnSpc>
              <a:buFont typeface="Wingdings" panose="05000000000000000000" charset="0"/>
              <a:buChar char=""/>
            </a:pPr>
            <a:r>
              <a:rPr lang="en-US" altLang="en-US" sz="1800">
                <a:solidFill>
                  <a:srgbClr val="FFFFFF"/>
                </a:solidFill>
              </a:rPr>
              <a:t>UIKit </a:t>
            </a:r>
            <a:r>
              <a:rPr lang="en-US" altLang="en-US" sz="1800" b="1">
                <a:solidFill>
                  <a:srgbClr val="FFFFFF"/>
                </a:solidFill>
              </a:rPr>
              <a:t>(The Original Way):</a:t>
            </a:r>
            <a:r>
              <a:rPr lang="en-US" altLang="en-US" sz="1800">
                <a:solidFill>
                  <a:srgbClr val="FFFFFF"/>
                </a:solidFill>
              </a:rPr>
              <a:t> Uses Storyboards and ViewControllers. More code, but shows you how everything works.</a:t>
            </a:r>
            <a:endParaRPr lang="en-US" altLang="en-US" sz="1800">
              <a:solidFill>
                <a:srgbClr val="FFFFFF"/>
              </a:solidFill>
            </a:endParaRPr>
          </a:p>
          <a:p>
            <a:pPr marL="285750" indent="-285750">
              <a:lnSpc>
                <a:spcPct val="200000"/>
              </a:lnSpc>
              <a:buFont typeface="Wingdings" panose="05000000000000000000" charset="0"/>
              <a:buChar char=""/>
            </a:pPr>
            <a:r>
              <a:rPr lang="en-US" altLang="en-US" sz="1800">
                <a:solidFill>
                  <a:srgbClr val="FFFFFF"/>
                </a:solidFill>
              </a:rPr>
              <a:t>SwiftUI</a:t>
            </a:r>
            <a:r>
              <a:rPr lang="en-US" altLang="en-US" sz="1800" b="1">
                <a:solidFill>
                  <a:srgbClr val="FFFFFF"/>
                </a:solidFill>
              </a:rPr>
              <a:t> (The New Way)</a:t>
            </a:r>
            <a:r>
              <a:rPr lang="en-US" altLang="en-US" sz="1800">
                <a:solidFill>
                  <a:srgbClr val="FFFFFF"/>
                </a:solidFill>
              </a:rPr>
              <a:t>: Write what you want the UI to look like. Less code, very powerful.</a:t>
            </a:r>
            <a:endParaRPr lang="en-US" altLang="en-US" sz="1800">
              <a:solidFill>
                <a:srgbClr val="FFFFFF"/>
              </a:solidFill>
            </a:endParaRPr>
          </a:p>
          <a:p>
            <a:pPr marL="285750" indent="-285750">
              <a:lnSpc>
                <a:spcPct val="200000"/>
              </a:lnSpc>
              <a:buFont typeface="Wingdings" panose="05000000000000000000" charset="0"/>
              <a:buChar char=""/>
            </a:pPr>
            <a:r>
              <a:rPr lang="en-US" altLang="en-US" sz="1800">
                <a:solidFill>
                  <a:srgbClr val="FFFFFF"/>
                </a:solidFill>
              </a:rPr>
              <a:t>Our Plan: We'll learn the basics of UIKit first to understand the fundamentals, then switch to the modern SwiftUI.</a:t>
            </a:r>
            <a:endParaRPr lang="en-US" altLang="en-US" sz="1800">
              <a:solidFill>
                <a:srgbClr val="FFFFFF"/>
              </a:solidFill>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Homework Assignment</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8863965" cy="4930140"/>
          </a:xfrm>
          <a:prstGeom prst="rect">
            <a:avLst/>
          </a:prstGeom>
        </p:spPr>
        <p:txBody>
          <a:bodyPr wrap="square">
            <a:noAutofit/>
          </a:bodyPr>
          <a:p>
            <a:pPr marL="285750" indent="-285750">
              <a:lnSpc>
                <a:spcPct val="200000"/>
              </a:lnSpc>
              <a:buFont typeface="Wingdings" panose="05000000000000000000" charset="0"/>
              <a:buChar char=""/>
            </a:pPr>
            <a:r>
              <a:rPr lang="en-US" altLang="en-US" sz="1800">
                <a:solidFill>
                  <a:srgbClr val="FFFFFF"/>
                </a:solidFill>
              </a:rPr>
              <a:t>Goal: Get comfortable with the basics.</a:t>
            </a:r>
            <a:endParaRPr lang="en-US" altLang="en-US" sz="1800">
              <a:solidFill>
                <a:srgbClr val="FFFFFF"/>
              </a:solidFill>
            </a:endParaRPr>
          </a:p>
          <a:p>
            <a:pPr marL="285750" indent="-285750">
              <a:lnSpc>
                <a:spcPct val="200000"/>
              </a:lnSpc>
              <a:buFont typeface="Wingdings" panose="05000000000000000000" charset="0"/>
              <a:buChar char=""/>
            </a:pPr>
            <a:r>
              <a:rPr lang="en-US" altLang="en-US" sz="1800">
                <a:solidFill>
                  <a:srgbClr val="FFFFFF"/>
                </a:solidFill>
              </a:rPr>
              <a:t>Task 1:</a:t>
            </a:r>
            <a:r>
              <a:rPr lang="en-US" altLang="en-US" sz="1800">
                <a:solidFill>
                  <a:srgbClr val="FF0000"/>
                </a:solidFill>
              </a:rPr>
              <a:t> In your Playground, create variables for a made-up character (name, age, home planet, favorite color).</a:t>
            </a:r>
            <a:endParaRPr lang="en-US" altLang="en-US" sz="1800">
              <a:solidFill>
                <a:srgbClr val="FF0000"/>
              </a:solidFill>
            </a:endParaRPr>
          </a:p>
          <a:p>
            <a:pPr marL="285750" indent="-285750">
              <a:lnSpc>
                <a:spcPct val="200000"/>
              </a:lnSpc>
              <a:buFont typeface="Wingdings" panose="05000000000000000000" charset="0"/>
              <a:buChar char=""/>
            </a:pPr>
            <a:r>
              <a:rPr lang="en-US" altLang="en-US" sz="1800">
                <a:solidFill>
                  <a:srgbClr val="FFFFFF"/>
                </a:solidFill>
              </a:rPr>
              <a:t>Task 2: </a:t>
            </a:r>
            <a:r>
              <a:rPr lang="en-US" altLang="en-US" sz="1800">
                <a:solidFill>
                  <a:srgbClr val="FF0000"/>
                </a:solidFill>
              </a:rPr>
              <a:t>Use string interpolation</a:t>
            </a:r>
            <a:r>
              <a:rPr lang="en-US" altLang="en-US" sz="1800">
                <a:solidFill>
                  <a:srgbClr val="FFFFFF"/>
                </a:solidFill>
              </a:rPr>
              <a:t> to print a </a:t>
            </a:r>
            <a:r>
              <a:rPr lang="en-US" altLang="en-US" sz="1800">
                <a:solidFill>
                  <a:srgbClr val="FF0000"/>
                </a:solidFill>
              </a:rPr>
              <a:t>paragraph describing </a:t>
            </a:r>
            <a:r>
              <a:rPr lang="en-US" altLang="en-US" sz="1800">
                <a:solidFill>
                  <a:srgbClr val="FFFFFF"/>
                </a:solidFill>
              </a:rPr>
              <a:t>them.</a:t>
            </a:r>
            <a:endParaRPr lang="en-US" altLang="en-US" sz="1800">
              <a:solidFill>
                <a:srgbClr val="FFFFFF"/>
              </a:solidFill>
            </a:endParaRPr>
          </a:p>
          <a:p>
            <a:pPr marL="285750" indent="-285750">
              <a:lnSpc>
                <a:spcPct val="200000"/>
              </a:lnSpc>
              <a:buFont typeface="Wingdings" panose="05000000000000000000" charset="0"/>
              <a:buChar char=""/>
            </a:pPr>
            <a:r>
              <a:rPr lang="en-US" altLang="en-US" sz="1800">
                <a:solidFill>
                  <a:srgbClr val="FFFFFF"/>
                </a:solidFill>
              </a:rPr>
              <a:t>Task 3: Use an if statement to check </a:t>
            </a:r>
            <a:r>
              <a:rPr lang="en-US" altLang="en-US" sz="1800">
                <a:solidFill>
                  <a:srgbClr val="FF0000"/>
                </a:solidFill>
              </a:rPr>
              <a:t>if their age is over 500</a:t>
            </a:r>
            <a:r>
              <a:rPr lang="en-US" altLang="en-US" sz="1800">
                <a:solidFill>
                  <a:srgbClr val="FFFFFF"/>
                </a:solidFill>
              </a:rPr>
              <a:t> and print "This character is ancient!" or "This character is young.".</a:t>
            </a:r>
            <a:endParaRPr lang="en-US" altLang="en-US" sz="1800">
              <a:solidFill>
                <a:srgbClr val="FFFFFF"/>
              </a:solidFill>
            </a:endParaRPr>
          </a:p>
          <a:p>
            <a:pPr marL="285750" indent="-285750">
              <a:lnSpc>
                <a:spcPct val="200000"/>
              </a:lnSpc>
              <a:buFont typeface="Wingdings" panose="05000000000000000000" charset="0"/>
              <a:buChar char=""/>
            </a:pPr>
            <a:r>
              <a:rPr lang="en-US" altLang="en-US" sz="1800">
                <a:solidFill>
                  <a:srgbClr val="FFFFFF"/>
                </a:solidFill>
              </a:rPr>
              <a:t>Bonus: Use a </a:t>
            </a:r>
            <a:r>
              <a:rPr lang="en-US" altLang="en-US" sz="1800">
                <a:solidFill>
                  <a:srgbClr val="FF0000"/>
                </a:solidFill>
              </a:rPr>
              <a:t>Bool variable </a:t>
            </a:r>
            <a:r>
              <a:rPr lang="en-US" altLang="en-US" sz="1800" b="1">
                <a:solidFill>
                  <a:srgbClr val="FF0000"/>
                </a:solidFill>
              </a:rPr>
              <a:t>isJedi</a:t>
            </a:r>
            <a:r>
              <a:rPr lang="en-US" altLang="en-US" sz="1800">
                <a:solidFill>
                  <a:srgbClr val="FFFFFF"/>
                </a:solidFill>
              </a:rPr>
              <a:t> and add to your if statement to print "This character is a powerful Jedi" if they are both ancient and a Jedi.</a:t>
            </a:r>
            <a:endParaRPr lang="en-US" altLang="en-US" sz="1800">
              <a:solidFill>
                <a:srgbClr val="FFFFFF"/>
              </a:solidFill>
            </a:endParaRPr>
          </a:p>
        </p:txBody>
      </p:sp>
      <p:sp>
        <p:nvSpPr>
          <p:cNvPr id="2" name="Text Box 1"/>
          <p:cNvSpPr txBox="1"/>
          <p:nvPr/>
        </p:nvSpPr>
        <p:spPr>
          <a:xfrm>
            <a:off x="911225" y="6247765"/>
            <a:ext cx="10516870" cy="368300"/>
          </a:xfrm>
          <a:prstGeom prst="rect">
            <a:avLst/>
          </a:prstGeom>
        </p:spPr>
        <p:txBody>
          <a:bodyPr wrap="square">
            <a:spAutoFit/>
          </a:bodyPr>
          <a:p>
            <a:pPr marL="0" indent="0"/>
            <a:r>
              <a:rPr lang="en-US" altLang="en-US" sz="1800" b="0" i="0">
                <a:solidFill>
                  <a:srgbClr val="FF0000"/>
                </a:solidFill>
                <a:latin typeface="Microsoft YaHei" charset="0"/>
                <a:ea typeface="quote-cjk-patch"/>
                <a:cs typeface="Microsoft YaHei" charset="0"/>
              </a:rPr>
              <a:t>** Kindly create GitHub repositories for this assignment and send me the links via email.</a:t>
            </a:r>
            <a:endParaRPr lang="en-US" altLang="en-US" sz="1800" b="0" i="0">
              <a:solidFill>
                <a:srgbClr val="FF0000"/>
              </a:solidFill>
              <a:latin typeface="Microsoft YaHei" charset="0"/>
              <a:ea typeface="quote-cjk-patch"/>
              <a:cs typeface="Microsoft YaHei" charset="0"/>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Questions?</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7903210" cy="978535"/>
          </a:xfrm>
          <a:prstGeom prst="rect">
            <a:avLst/>
          </a:prstGeom>
        </p:spPr>
        <p:txBody>
          <a:bodyPr wrap="square">
            <a:noAutofit/>
          </a:bodyPr>
          <a:p>
            <a:pPr marL="285750" indent="-285750">
              <a:lnSpc>
                <a:spcPct val="200000"/>
              </a:lnSpc>
              <a:buFont typeface="Wingdings" panose="05000000000000000000" charset="0"/>
              <a:buChar char=""/>
            </a:pPr>
            <a:r>
              <a:rPr lang="en-US" altLang="en-US" sz="1800">
                <a:solidFill>
                  <a:srgbClr val="FFFFFF"/>
                </a:solidFill>
              </a:rPr>
              <a:t>Next Week: Collections </a:t>
            </a:r>
            <a:r>
              <a:rPr lang="en-US" altLang="en-US" sz="1800">
                <a:solidFill>
                  <a:srgbClr val="FF0000"/>
                </a:solidFill>
              </a:rPr>
              <a:t>(Arrays &amp; Dictionaries) and Loops!</a:t>
            </a:r>
            <a:endParaRPr lang="en-US" altLang="en-US" sz="1800">
              <a:solidFill>
                <a:srgbClr val="FF0000"/>
              </a:solidFill>
            </a:endParaRPr>
          </a:p>
          <a:p>
            <a:pPr marL="285750" indent="-285750">
              <a:lnSpc>
                <a:spcPct val="200000"/>
              </a:lnSpc>
              <a:buFont typeface="Wingdings" panose="05000000000000000000" charset="0"/>
              <a:buChar char=""/>
            </a:pPr>
            <a:endParaRPr lang="en-US" altLang="en-US" sz="1800">
              <a:solidFill>
                <a:srgbClr val="FF0000"/>
              </a:solidFill>
            </a:endParaRPr>
          </a:p>
        </p:txBody>
      </p:sp>
      <p:sp>
        <p:nvSpPr>
          <p:cNvPr id="2" name="Text Box 1"/>
          <p:cNvSpPr txBox="1"/>
          <p:nvPr/>
        </p:nvSpPr>
        <p:spPr>
          <a:xfrm>
            <a:off x="2353310" y="3994785"/>
            <a:ext cx="7670165" cy="3622675"/>
          </a:xfrm>
          <a:prstGeom prst="rect">
            <a:avLst/>
          </a:prstGeom>
        </p:spPr>
        <p:txBody>
          <a:bodyPr>
            <a:noAutofit/>
          </a:bodyPr>
          <a:p>
            <a:pPr marL="0" algn="ctr">
              <a:lnSpc>
                <a:spcPts val="2860"/>
              </a:lnSpc>
              <a:spcBef>
                <a:spcPct val="0"/>
              </a:spcBef>
              <a:spcAft>
                <a:spcPct val="0"/>
              </a:spcAft>
              <a:buFont typeface="Arial" panose="020B0604020202090204"/>
            </a:pPr>
            <a:r>
              <a:rPr lang="en-US" altLang="zh-CN" sz="9600" b="0" i="0">
                <a:solidFill>
                  <a:srgbClr val="F8FAFF"/>
                </a:solidFill>
                <a:latin typeface="quote-cjk-patch"/>
                <a:ea typeface="quote-cjk-patch"/>
              </a:rPr>
              <a:t>Thank you!</a:t>
            </a:r>
            <a:endParaRPr lang="en-US" altLang="zh-CN" sz="9600" b="0" i="0">
              <a:solidFill>
                <a:srgbClr val="F8FAFF"/>
              </a:solidFill>
              <a:latin typeface="quote-cjk-patch"/>
              <a:ea typeface="quote-cjk-patch"/>
            </a:endParaRPr>
          </a:p>
        </p:txBody>
      </p:sp>
    </p:spTree>
  </p:cSld>
  <p:clrMapOvr>
    <a:masterClrMapping/>
  </p:clrMapOvr>
  <p:transition spd="slow">
    <p:wip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5246</Words>
  <Application>WPS Presentation</Application>
  <PresentationFormat>自定义</PresentationFormat>
  <Paragraphs>163</Paragraphs>
  <Slides>16</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16</vt:i4>
      </vt:variant>
    </vt:vector>
  </HeadingPairs>
  <TitlesOfParts>
    <vt:vector size="34" baseType="lpstr">
      <vt:lpstr>Arial</vt:lpstr>
      <vt:lpstr>SimSun</vt:lpstr>
      <vt:lpstr>Wingdings</vt:lpstr>
      <vt:lpstr>Calibri</vt:lpstr>
      <vt:lpstr>Helvetica Neue</vt:lpstr>
      <vt:lpstr>宋体-简</vt:lpstr>
      <vt:lpstr>Calibri Light</vt:lpstr>
      <vt:lpstr>Microsoft YaHei</vt:lpstr>
      <vt:lpstr>汉仪旗黑</vt:lpstr>
      <vt:lpstr>Microsoft YaHei</vt:lpstr>
      <vt:lpstr>quote-cjk-patch</vt:lpstr>
      <vt:lpstr>Wingdings</vt:lpstr>
      <vt:lpstr>Arial</vt:lpstr>
      <vt:lpstr>Microsoft YaHei</vt:lpstr>
      <vt:lpstr>Arial Unicode MS</vt:lpstr>
      <vt:lpstr>SimSun</vt:lpstr>
      <vt:lpstr>Thonburi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nem path</cp:lastModifiedBy>
  <cp:revision>387</cp:revision>
  <dcterms:created xsi:type="dcterms:W3CDTF">2025-11-02T14:00:18Z</dcterms:created>
  <dcterms:modified xsi:type="dcterms:W3CDTF">2025-11-02T14:00:18Z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1033-12.1.23150.23150</vt:lpwstr>
  </property>
  <property fmtid="{D5CDD505-2E9C-101B-9397-08002B2CF9AE}" pid="3" name="ICV">
    <vt:lpwstr>4652830370BA95541050AD68A735B2E2_41</vt:lpwstr>
  </property>
</Properties>
</file>