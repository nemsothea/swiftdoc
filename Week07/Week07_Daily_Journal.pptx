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Week 7. This week we ship the Daily Journal — an Apple Notes-style digital notebook that lives inside the Smart Farmer Assistant. By the end, students will have a JournalEntry Core Data entity, a reverse-chronological timeline, a weather-picker UI, a UIKit-bridged photo picker, and a custom search + filter bar. Everything works offline — no weather API, no cloud sync. UI suggestion: open with the finished Journal tab on screen — show the day-grouped timeline, tap a row to see the weather badge and photo gallery — so learners see the target before we write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five lessons at a high level. The payoff is Lesson 7.4 (the UIKit bridge) — it's a pattern students will reuse every time SwiftUI can't do something natively on iOS 13. Stress that we pick iOS 13+ APIs all the way: no .searchable, no PhotosPicker, no NavigationStack. UI suggestion: objectives on the left, numbered purple lesson chips on the right — build in the chips one-by-one with a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layering students saw in Finance, CalendarReminders, and PestDisease. The new box this week is 'Service' — JournalPhotoStore — because UIImage and Data are not the same thing, and we want that translation isolated from views. Notice the Resource layer is intentionally empty: journal entries come from the user, not from a bundled file. UI suggestion: five stacked cards with a colored accent bar on the left. Animation: fade in top-to-bottom, 120ms delay between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folder tree top to bottom. Emphasise that every week we open a new folder alongside Finance/, CalendarReminders/, and PestDisease/ — not a new project. Shared Core Data model, shared CoreDataManager, shared MainTabView. Point out that the Resources folder is empty — this is the first module where we don't ship seed data. UI suggestion: bullets on the left describing WHY each folder exists, the actual tree rendered as a dark code block on the right. Animation: slide-from-right for the code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each attribute. The four core ones (date, content, weather, photos) are required by the spec; title is optional and falls back to the first line of content (same as Apple Notes); location is a bonus field we kept from an earlier draft. Show the Data Model Inspector live: point to Codegen → Manual/None, and to the Transformer → NSSecureUnarchiveFromData on the photos attribute. These two settings are the #1 cause of fetch-time crashes for learners. UI suggestion: attribute cards left, code right, orange warning card bottom-right with both configuration gotchas. Animation: slide-from-left for cards, slide-from-right for the code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#1 learner mistake is ascending: true — it puts the oldest entry on top. A journal must read newest-first. Walk the grouping step: Dictionary(grouping:) keyed by startOfDay buckets every entry into a date. Then sort the buckets descending. The view just renders List { ForEach(groups) { Section { ForEach(entries) } } }. UI suggestion: bullets left, iPhone-shape mock right with two day sections and four rows; color dots represent the weather tint. Animation: fade in bullets; slide-from-top for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takeaways. First, the enum owns both the SF Symbol and the tint — so the picker and the timeline read from the same source of truth. Second, Core Data stores the rawValue String because @NSManaged can't persist a Swift enum. Third, the adapter — entry.weatherTag — is the only place the conversion happens, so you never hand-roll the literal 'sunny' anywhere else. Adding a fifth case (e.g. .stormy) is literally one line in the enum plus one line in each switch. UI suggestion: four colored weather chips across the top, enum code block left, amber why-card right. Animation: pop each weather chip in sequence; then fade in the code and the why-card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lesson of Week 7 — the UIKit → SwiftUI bridge. Walk the six stages left to right. Emphasise two details: (1) the Coordinator class exists because SwiftUI structs are value types and can't conform to @objc delegate protocols; (2) we JPEG-encode at quality 0.8 before storing — a single camera photo at raw UIImage bytes is ~24MB; at JPEG 0.8 it's ~3MB, visually identical. Same bridge pattern reappears for the camera, the document picker, and share sheets. UI suggestion: 6 boxes left-to-right with arrows between them; amber why-card on top with the three lifecycle methods. Animation: zoom + fade for the flow; slide-from-top for each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ViewModel holds TWO pieces of state — searchText and weatherFilter — and a single filter(_:) combines them. Keep the combination logic in one function so you don't iterate the entries twice. Why nil-biased filtering? Because 'All' isn't a weather — it's the absence of a filter. Using Weather? instead of a five-case enum keeps both the UI and the tests simpler. UI suggestion: bullets left, iPhone mock right showing the search pill, a horizontal chip row with 'Sunny' selected, and three filtered result rows. Animation: fade in bullets; pop the chip row; fade in rows top-to-bottom.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left-to-right. The key insight is the jump from step 4 to step 5: a single context.save() triggers every @FetchRequest in the app. No manual refresh, no NotificationCenter post — Core Data does the work. This is the same pattern from Finance, CalendarReminders, and PestDisease, but the payload here is a full entry plus a photo blob. UI suggestion: five color-coded cards in a row with arrows between them; caption at the bottom summarises the auto-re-render behaviour. Animation: slide-from-left for each box with a 100ms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every row — pick the Weather row. It's the most counter-intuitive: students assume a Journal 'should' pull live weather from an API. Explain why that's wrong — the user is remembering what THEY experienced, not what a satellite recorded. Live-demo airplane mode: the journal keeps working with zero latency. UI suggestion: four rows of red-vs-green cards; callout footer carries the rule of thumb. Animation: fade in rows top-to-bottom; pop the rule-of-thumb card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what the class shipped. Use the questions on the right to drive the Q&amp;A — don't lecture, invite answers. The single most important takeaway: the UIKit bridge pattern from Lesson 7.4 is the same shape you'll use for the camera, the document picker, and every share sheet you ever build — SwiftUI + UIKit is a dance students will do for years. Tease Week 8 (Water Tracker) briefly — it's a stats/charting module that reuses the same Core Data plumbing. UI suggestion: purple hero band up top, two cards below — 'What you shipped' and 'Questions'. Animation: fade in the cards after the hero band; reveal the questions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48640"/>
            <a:ext cx="1463040" cy="146304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3108960"/>
            <a:ext cx="822960" cy="82296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9260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5486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20000" bIns="20000"/>
          <a:lstStyle/>
          <a:p>
            <a:pPr algn="ctr"/>
            <a:r>
              <a:rPr sz="1100" b="1">
                <a:solidFill>
                  <a:srgbClr val="A052D4"/>
                </a:solidFill>
                <a:latin typeface="SF Pro Text"/>
              </a:rPr>
              <a:t>iOS · SwiftUI · Week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13716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F Pro Display"/>
              </a:rPr>
              <a:t>Daily Journal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9144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F Pro Display"/>
              </a:rPr>
              <a:t>Your Digital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10972800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F Pro Text"/>
              </a:rPr>
              <a:t>SwiftUI  ·  Core Data  ·  Photos  ·  Weather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5486400" cy="41148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1">
                <a:solidFill>
                  <a:srgbClr val="8E8E93"/>
                </a:solidFill>
                <a:latin typeface="SF Pro Text"/>
              </a:rPr>
              <a:t>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5486400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2000" b="1">
                <a:solidFill>
                  <a:srgbClr val="1C1C1E"/>
                </a:solidFill>
                <a:latin typeface="SF Pro Display"/>
              </a:rPr>
              <a:t>Beginner iOS Developers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40680"/>
            <a:ext cx="64008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8E8E93"/>
                </a:solidFill>
                <a:latin typeface="SF Pro Text"/>
              </a:rPr>
              <a:t>JournalEntry · Timeline list · Weather picker · UIKit bridge · Custom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709160"/>
            <a:ext cx="4389120" cy="41148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100" b="1">
                <a:solidFill>
                  <a:srgbClr val="8E8E93"/>
                </a:solidFill>
                <a:latin typeface="SF Pro Text"/>
              </a:rPr>
              <a:t>PROJECT 4 — SMART FARMER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983480"/>
            <a:ext cx="4389120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2000" b="1">
                <a:solidFill>
                  <a:srgbClr val="1C1C1E"/>
                </a:solidFill>
                <a:latin typeface="SF Pro Display"/>
              </a:rPr>
              <a:t>Journal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40680"/>
            <a:ext cx="438912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300" b="0">
                <a:solidFill>
                  <a:srgbClr val="8E8E93"/>
                </a:solidFill>
                <a:latin typeface="SF Pro Text"/>
              </a:rPr>
              <a:t>iOS 13+ — ObservableObject · NavigationView · UIImagePickerController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 / 12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A052D4"/>
                </a:solidFill>
                <a:latin typeface="SF Pro Tex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What you'll build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A052D4"/>
                </a:solidFill>
                <a:latin typeface="SF Pro Text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577840" cy="4114800"/>
          </a:xfrm>
          <a:prstGeom prst="rect">
            <a:avLst/>
          </a:prstGeom>
          <a:noFill/>
        </p:spPr>
        <p:txBody>
          <a:bodyPr wrap="square" lIns="80000" rIns="60000" tIns="4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Model a JournalEntry entity in Core Data (date, content, weather, photos)</a:t>
            </a: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Build a reverse-chronological timeline UI grouped by day</a:t>
            </a: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Add a 4-option weather picker with SF Symbols</a:t>
            </a: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Bridge UIImagePickerController via UIViewControllerRepresentable</a:t>
            </a: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Combine a custom SearchBar with a weather filter chip row (no .searchable)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0" y="1874520"/>
            <a:ext cx="457200" cy="457200"/>
          </a:xfrm>
          <a:prstGeom prst="ellipse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7.1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920240"/>
            <a:ext cx="41148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JournalEntry Core Data 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39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2743199"/>
            <a:ext cx="457200" cy="457200"/>
          </a:xfrm>
          <a:prstGeom prst="ellipse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7.2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788919"/>
            <a:ext cx="41148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Timeline list (newest first)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47472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3611880"/>
            <a:ext cx="457200" cy="457200"/>
          </a:xfrm>
          <a:prstGeom prst="ellipse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7.3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657600"/>
            <a:ext cx="41148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Weather selection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34340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480560"/>
            <a:ext cx="457200" cy="457200"/>
          </a:xfrm>
          <a:prstGeom prst="ellipse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7.4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526280"/>
            <a:ext cx="41148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Photo picker — UIKit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212079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5349239"/>
            <a:ext cx="457200" cy="457200"/>
          </a:xfrm>
          <a:prstGeom prst="ellipse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7.5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394959"/>
            <a:ext cx="41148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Custom search + weather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2 / 12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MVVM — clean SwiftUI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164592" cy="7772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20116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0A84FF"/>
                </a:solidFill>
                <a:latin typeface="SF Pro Display"/>
              </a:rPr>
              <a:t>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82296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JournalTabView · JournalRowView · JournalDetailView · Add/Edit sheets · PhotoPicker · WeatherPickerView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164592" cy="777240"/>
          </a:xfrm>
          <a:prstGeom prst="rect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61488"/>
            <a:ext cx="20116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A052D4"/>
                </a:solidFill>
                <a:latin typeface="SF Pro Display"/>
              </a:rPr>
              <a:t>ViewModel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34640"/>
            <a:ext cx="82296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JournalViewModel — @Published searchText + weatherFilter + filter(_:)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66160"/>
            <a:ext cx="164592" cy="77724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75887"/>
            <a:ext cx="20116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FF9500"/>
                </a:solidFill>
                <a:latin typeface="SF Pro Display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49039"/>
            <a:ext cx="82296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JournalPhotoStore — UIImage ↔ JPEG Data helpers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805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480560"/>
            <a:ext cx="164592" cy="777240"/>
          </a:xfrm>
          <a:prstGeom prst="rect">
            <a:avLst/>
          </a:prstGeom>
          <a:solidFill>
            <a:srgbClr val="55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90288"/>
            <a:ext cx="20116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55B55C"/>
                </a:solidFill>
                <a:latin typeface="SF Pro Display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663440"/>
            <a:ext cx="82296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JournalEntry (NSManagedObject) + Weather (enum)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949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394960"/>
            <a:ext cx="164592" cy="77724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04688"/>
            <a:ext cx="20116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600" b="1">
                <a:solidFill>
                  <a:srgbClr val="8E8E93"/>
                </a:solidFill>
                <a:latin typeface="SF Pro Display"/>
              </a:rPr>
              <a:t>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577840"/>
            <a:ext cx="822960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(empty — entries are user-authored, no seed JSON)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3 / 12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CODE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Journal module — folder by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4114800"/>
          </a:xfrm>
          <a:prstGeom prst="rect">
            <a:avLst/>
          </a:prstGeom>
          <a:noFill/>
        </p:spPr>
        <p:txBody>
          <a:bodyPr wrap="square" lIns="80000" rIns="60000" tIns="4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Mirrors Finance/, CalendarReminders/, PestDisease/ — same shape across modules</a:t>
            </a: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Models/ holds the NSManagedObject class + the Weather enum</a:t>
            </a: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Services/ isolates the UIImage ↔ Data conversion</a:t>
            </a: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ViewModels/ owns search + weather filter + day grouping</a:t>
            </a: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SearchBar and ExpandableSection are reused from PestDisease — no duplicates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91640"/>
            <a:ext cx="5669280" cy="475488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691640"/>
            <a:ext cx="5669280" cy="4754880"/>
          </a:xfrm>
          <a:prstGeom prst="rect">
            <a:avLst/>
          </a:prstGeom>
          <a:noFill/>
        </p:spPr>
        <p:txBody>
          <a:bodyPr wrap="square" lIns="140000" rIns="80000" tIns="100000">
            <a:spAutoFit/>
          </a:bodyPr>
          <a:lstStyle/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SmartFarmerAssistantFinish/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└── Journal/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├── Models/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JournalEntry+CoreDataClass.swift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JournalEntry+CoreDataProperties.swift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└── Weather.swift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├── ViewModels/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└── JournalViewModel.swift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├── Services/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└── JournalPhotoStore.swift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├── Views/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JournalTabView.swift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JournalRowView.swift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JournalDetailView.swift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AddJournalEntryView.swift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EditJournalEntryView.swift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WeatherPickerView.swift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├── PhotoPicker.swift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│   └── PhotoGalleryView.swift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└── Resources/</a:t>
            </a:r>
          </a:p>
          <a:p>
            <a:pPr algn="l"/>
            <a:r>
              <a:rPr sz="1100">
                <a:solidFill>
                  <a:srgbClr val="F2F2F7"/>
                </a:solidFill>
                <a:latin typeface="Menlo"/>
              </a:rPr>
              <a:t>        └── (empty)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4 / 12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7.1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Core Data — JournalEntry 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48640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15544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121408"/>
            <a:ext cx="11887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UUID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21408"/>
            <a:ext cx="242316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Stable identifier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2432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15544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88336"/>
            <a:ext cx="11887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88336"/>
            <a:ext cx="242316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Timeline sort key + day grouping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91256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55264"/>
            <a:ext cx="15544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/>
              </a:rPr>
              <a:t>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255264"/>
            <a:ext cx="11887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String?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255264"/>
            <a:ext cx="242316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Optional — first line of content otherwise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58184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22192"/>
            <a:ext cx="15544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/>
              </a:rPr>
              <a:t>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822192"/>
            <a:ext cx="11887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22192"/>
            <a:ext cx="242316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Body text (edited in TextEditor)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25112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89120"/>
            <a:ext cx="15544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/>
              </a:rPr>
              <a:t>weather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389120"/>
            <a:ext cx="11887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389120"/>
            <a:ext cx="242316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Raw value of the Weather enum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56048"/>
            <a:ext cx="15544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/>
              </a:rPr>
              <a:t>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956048"/>
            <a:ext cx="11887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String?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956048"/>
            <a:ext cx="242316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Optional bonus field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45896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522976"/>
            <a:ext cx="15544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/>
              </a:rPr>
              <a:t>photos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5522976"/>
            <a:ext cx="11887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Transformable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522976"/>
            <a:ext cx="242316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[Data] — JPEGs via NSSecureUnarchiveFromData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1920240"/>
            <a:ext cx="4983480" cy="320040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1920240"/>
            <a:ext cx="4983480" cy="3200400"/>
          </a:xfrm>
          <a:prstGeom prst="rect">
            <a:avLst/>
          </a:prstGeom>
          <a:noFill/>
        </p:spPr>
        <p:txBody>
          <a:bodyPr wrap="square" lIns="140000" rIns="80000" tIns="100000">
            <a:spAutoFit/>
          </a:bodyPr>
          <a:lstStyle/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// Journal/Models/JournalEntry+CoreDataProperties.swift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extension JournalEntry {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@NSManaged public var id: UUID?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@NSManaged public var date: Date?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@NSManaged public var title: String?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@NSManaged public var content: String?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@NSManaged public var weather: String?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@NSManaged public var location: String?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@NSManaged public var photos: NSObject?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}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extension JournalEntry: Identifiable {}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5257800"/>
            <a:ext cx="4983480" cy="118872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5349240"/>
            <a:ext cx="457200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FF9500"/>
                </a:solidFill>
                <a:latin typeface="SF Pro Display"/>
              </a:rPr>
              <a:t>⚠️  Codegen = Manual/None  ·  Transformer = NSSecureUnarchiveFromData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669280"/>
            <a:ext cx="4572000" cy="7772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Set both in the Data Model Inspector — otherwise Xcode auto-generates the class (duplicate-symbol error) or the photos attribute fails to decode at fetch time.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5 / 12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A052D4"/>
                </a:solidFill>
                <a:latin typeface="SF Pro Text"/>
              </a:rPr>
              <a:t>LESSON 7.2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Timeline UI — newest first, grouped by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4389120"/>
          </a:xfrm>
          <a:prstGeom prst="rect">
            <a:avLst/>
          </a:prstGeom>
          <a:noFill/>
        </p:spPr>
        <p:txBody>
          <a:bodyPr wrap="square" lIns="80000" rIns="60000" tIns="4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@FetchRequest(sort: date, ascending: false)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Dictionary(grouping:by:) keyed by Calendar.startOfDay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Each day → its own List Section with a formatted header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Row: time · title · snippet · weather icon · photo count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PlainListStyle for Apple Notes feel (no inset gaps)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.onDelete deletes from viewContext; fetch re-runs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91640"/>
            <a:ext cx="49377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920240"/>
            <a:ext cx="45720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8E8E93"/>
                </a:solidFill>
                <a:latin typeface="SF Pro Display"/>
              </a:rPr>
              <a:t>TUESDAY, APRIL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331720"/>
            <a:ext cx="54864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08:14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29184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Display"/>
              </a:rPr>
              <a:t>Morning fog over the rice</a:t>
            </a:r>
          </a:p>
        </p:txBody>
      </p:sp>
      <p:sp>
        <p:nvSpPr>
          <p:cNvPr id="11" name="Oval 10"/>
          <p:cNvSpPr/>
          <p:nvPr/>
        </p:nvSpPr>
        <p:spPr>
          <a:xfrm>
            <a:off x="10927080" y="2377439"/>
            <a:ext cx="274320" cy="27432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2331720"/>
            <a:ext cx="36576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📷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834639"/>
            <a:ext cx="54864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17:02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834639"/>
            <a:ext cx="329184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Display"/>
              </a:rPr>
              <a:t>Harvest prep — met the team</a:t>
            </a:r>
          </a:p>
        </p:txBody>
      </p:sp>
      <p:sp>
        <p:nvSpPr>
          <p:cNvPr id="15" name="Oval 14"/>
          <p:cNvSpPr/>
          <p:nvPr/>
        </p:nvSpPr>
        <p:spPr>
          <a:xfrm>
            <a:off x="10927080" y="2880359"/>
            <a:ext cx="274320" cy="274320"/>
          </a:xfrm>
          <a:prstGeom prst="ellipse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520439"/>
            <a:ext cx="45720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8E8E93"/>
                </a:solidFill>
                <a:latin typeface="SF Pro Display"/>
              </a:rPr>
              <a:t>MONDAY, APRIL 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4864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09:30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931920"/>
            <a:ext cx="329184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Display"/>
              </a:rPr>
              <a:t>Heavy rain — stayed indoors</a:t>
            </a:r>
          </a:p>
        </p:txBody>
      </p:sp>
      <p:sp>
        <p:nvSpPr>
          <p:cNvPr id="19" name="Oval 18"/>
          <p:cNvSpPr/>
          <p:nvPr/>
        </p:nvSpPr>
        <p:spPr>
          <a:xfrm>
            <a:off x="10927080" y="3977639"/>
            <a:ext cx="274320" cy="2743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3931920"/>
            <a:ext cx="36576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📷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34840"/>
            <a:ext cx="54864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/>
              </a:rPr>
              <a:t>20:11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434840"/>
            <a:ext cx="329184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Display"/>
              </a:rPr>
              <a:t>Market prices update</a:t>
            </a:r>
          </a:p>
        </p:txBody>
      </p:sp>
      <p:sp>
        <p:nvSpPr>
          <p:cNvPr id="23" name="Oval 22"/>
          <p:cNvSpPr/>
          <p:nvPr/>
        </p:nvSpPr>
        <p:spPr>
          <a:xfrm>
            <a:off x="10927080" y="4480559"/>
            <a:ext cx="274320" cy="274320"/>
          </a:xfrm>
          <a:prstGeom prst="ellipse">
            <a:avLst/>
          </a:prstGeom>
          <a:solidFill>
            <a:srgbClr val="30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6 / 12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A052D4"/>
                </a:solidFill>
                <a:latin typeface="SF Pro Text"/>
              </a:rPr>
              <a:t>LESSON 7.3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Weather system — enum + SF Symbol + tint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280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65960"/>
            <a:ext cx="548640" cy="5486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28016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1">
                <a:solidFill>
                  <a:srgbClr val="1C1C1E"/>
                </a:solidFill>
                <a:latin typeface="SF Pro Display"/>
              </a:rPr>
              <a:t>Sunny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280160" cy="2286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/>
              </a:rPr>
              <a:t>sun.max.fill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783080"/>
            <a:ext cx="1280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1965960"/>
            <a:ext cx="548640" cy="54864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560320"/>
            <a:ext cx="128016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1">
                <a:solidFill>
                  <a:srgbClr val="1C1C1E"/>
                </a:solidFill>
                <a:latin typeface="SF Pro Display"/>
              </a:rPr>
              <a:t>Rainy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743200"/>
            <a:ext cx="1280160" cy="2286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/>
              </a:rPr>
              <a:t>cloud.rain.fill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783080"/>
            <a:ext cx="1280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E8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86200" y="1965960"/>
            <a:ext cx="548640" cy="548640"/>
          </a:xfrm>
          <a:prstGeom prst="ellipse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2560320"/>
            <a:ext cx="128016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1">
                <a:solidFill>
                  <a:srgbClr val="1C1C1E"/>
                </a:solidFill>
                <a:latin typeface="SF Pro Display"/>
              </a:rPr>
              <a:t>Cloudy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2743200"/>
            <a:ext cx="1280160" cy="2286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/>
              </a:rPr>
              <a:t>cloud.fill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1783080"/>
            <a:ext cx="1280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0" y="1965960"/>
            <a:ext cx="548640" cy="548640"/>
          </a:xfrm>
          <a:prstGeom prst="ellipse">
            <a:avLst/>
          </a:prstGeom>
          <a:solidFill>
            <a:srgbClr val="30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2560320"/>
            <a:ext cx="128016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1">
                <a:solidFill>
                  <a:srgbClr val="1C1C1E"/>
                </a:solidFill>
                <a:latin typeface="SF Pro Display"/>
              </a:rPr>
              <a:t>Windy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2743200"/>
            <a:ext cx="1280160" cy="2286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/>
              </a:rPr>
              <a:t>wind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40"/>
            <a:ext cx="6858000" cy="301752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6858000" cy="3017520"/>
          </a:xfrm>
          <a:prstGeom prst="rect">
            <a:avLst/>
          </a:prstGeom>
          <a:noFill/>
        </p:spPr>
        <p:txBody>
          <a:bodyPr wrap="square" lIns="140000" rIns="80000" tIns="100000">
            <a:spAutoFit/>
          </a:bodyPr>
          <a:lstStyle/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enum Weather: String, CaseIterable, Identifiable {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case sunny, rainy, cloudy, windy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var id: String { rawValue }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var symbolName: String {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    switch self {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    case .sunny:  return "sun.max.fill"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    case .rainy:  return "cloud.rain.fill"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    case .cloudy: return "cloud.fill"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    case .windy:  return "wind"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    }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}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    var tint: Color { /* yellow / blue / gray / teal */ }</a:t>
            </a:r>
          </a:p>
          <a:p>
            <a:pPr algn="l"/>
            <a:r>
              <a:rPr sz="1200">
                <a:solidFill>
                  <a:srgbClr val="F2F2F7"/>
                </a:solidFill>
                <a:latin typeface="Menlo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291840"/>
            <a:ext cx="3840480" cy="301752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383280"/>
            <a:ext cx="365760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FF9500"/>
                </a:solidFill>
                <a:latin typeface="SF Pro Text"/>
              </a:rPr>
              <a:t>WHY rawValue IN CORE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749039"/>
            <a:ext cx="3657600" cy="2468880"/>
          </a:xfrm>
          <a:prstGeom prst="rect">
            <a:avLst/>
          </a:prstGeom>
          <a:noFill/>
        </p:spPr>
        <p:txBody>
          <a:bodyPr wrap="square" lIns="80000" rIns="60000" tIns="4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1C1C1E"/>
                </a:solidFill>
                <a:latin typeface="SF Pro Text"/>
              </a:rPr>
              <a:t>•  @NSManaged can't hold a Swift enum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C1C1E"/>
                </a:solidFill>
                <a:latin typeface="SF Pro Text"/>
              </a:rPr>
              <a:t>•  String round-trips cleanly through SQLite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C1C1E"/>
                </a:solidFill>
                <a:latin typeface="SF Pro Text"/>
              </a:rPr>
              <a:t>•  entry.weatherTag is the one place the string → enum mapping happens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C1C1E"/>
                </a:solidFill>
                <a:latin typeface="SF Pro Text"/>
              </a:rPr>
              <a:t>•  New case? One file to edit — no literals scattered across the codebase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7 / 12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FF9500"/>
                </a:solidFill>
                <a:latin typeface="SF Pro Text"/>
              </a:rPr>
              <a:t>LESSON 7.4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Photo picker — UIKit bridge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165094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05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650949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300" b="1">
                <a:solidFill>
                  <a:srgbClr val="A052D4"/>
                </a:solidFill>
                <a:latin typeface="SF Pro Display"/>
              </a:rPr>
              <a:t>Add photo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474720"/>
            <a:ext cx="1504645" cy="10058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000" b="0">
                <a:solidFill>
                  <a:srgbClr val="1C1C1E"/>
                </a:solidFill>
                <a:latin typeface="SF Pro Text"/>
              </a:rPr>
              <a:t>SwiftUI .sheet(isPresented:)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45893" y="3502152"/>
            <a:ext cx="164592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9629" y="2651760"/>
            <a:ext cx="165094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9629" y="2880360"/>
            <a:ext cx="1650949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300" b="1">
                <a:solidFill>
                  <a:srgbClr val="FF9500"/>
                </a:solidFill>
                <a:latin typeface="SF Pro Display"/>
              </a:rPr>
              <a:t>PhotoPicker (sheet)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2781" y="3474720"/>
            <a:ext cx="1504645" cy="10058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000" b="0">
                <a:solidFill>
                  <a:srgbClr val="1C1C1E"/>
                </a:solidFill>
                <a:latin typeface="SF Pro Text"/>
              </a:rPr>
              <a:t>UIViewControllerRepresentable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79722" y="3502152"/>
            <a:ext cx="164592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3458" y="2651760"/>
            <a:ext cx="165094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3458" y="2880360"/>
            <a:ext cx="1650949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300" b="1">
                <a:solidFill>
                  <a:srgbClr val="FF9500"/>
                </a:solidFill>
                <a:latin typeface="SF Pro Display"/>
              </a:rPr>
              <a:t>UIImagePickerController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6610" y="3474720"/>
            <a:ext cx="1504645" cy="10058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000" b="0">
                <a:solidFill>
                  <a:srgbClr val="1C1C1E"/>
                </a:solidFill>
                <a:latin typeface="SF Pro Text"/>
              </a:rPr>
              <a:t>makeUIViewController(context:)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13551" y="3502152"/>
            <a:ext cx="164592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7287" y="2651760"/>
            <a:ext cx="165094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7287" y="2880360"/>
            <a:ext cx="1650949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300" b="1">
                <a:solidFill>
                  <a:srgbClr val="0A84FF"/>
                </a:solidFill>
                <a:latin typeface="SF Pro Display"/>
              </a:rPr>
              <a:t>didFinishPicking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0439" y="3474720"/>
            <a:ext cx="1504645" cy="10058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000" b="0">
                <a:solidFill>
                  <a:srgbClr val="1C1C1E"/>
                </a:solidFill>
                <a:latin typeface="SF Pro Text"/>
              </a:rPr>
              <a:t>Coordinator delegate method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47380" y="3502152"/>
            <a:ext cx="164592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21116" y="2651760"/>
            <a:ext cx="165094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1116" y="2880360"/>
            <a:ext cx="1650949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300" b="1">
                <a:solidFill>
                  <a:srgbClr val="0A84FF"/>
                </a:solidFill>
                <a:latin typeface="SF Pro Display"/>
              </a:rPr>
              <a:t>UIImage → JPEG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4268" y="3474720"/>
            <a:ext cx="1504645" cy="10058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000" b="0">
                <a:solidFill>
                  <a:srgbClr val="1C1C1E"/>
                </a:solidFill>
                <a:latin typeface="SF Pro Text"/>
              </a:rPr>
              <a:t>jpegData(compressionQuality: 0.8)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81210" y="3502152"/>
            <a:ext cx="164592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54946" y="2651760"/>
            <a:ext cx="165094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4946" y="2880360"/>
            <a:ext cx="1650949" cy="5486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300" b="1">
                <a:solidFill>
                  <a:srgbClr val="34C759"/>
                </a:solidFill>
                <a:latin typeface="SF Pro Display"/>
              </a:rPr>
              <a:t>entry.photos append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8098" y="3474720"/>
            <a:ext cx="1504645" cy="10058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000" b="0">
                <a:solidFill>
                  <a:srgbClr val="1C1C1E"/>
                </a:solidFill>
                <a:latin typeface="SF Pro Text"/>
              </a:rPr>
              <a:t>[Data] as NSArray + save()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300" b="1">
                <a:solidFill>
                  <a:srgbClr val="8E8E93"/>
                </a:solidFill>
                <a:latin typeface="SF Pro Text"/>
              </a:rPr>
              <a:t>Same bridge pattern works for any UIKit controller — camera, document picker, share sheet.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828800"/>
            <a:ext cx="10789920" cy="64008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1920240"/>
            <a:ext cx="1042416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FF9500"/>
                </a:solidFill>
                <a:latin typeface="SF Pro Text"/>
              </a:rPr>
              <a:t>PhotosPicker is iOS 16+ — on iOS 13 we wrap UIImagePickerController. Three methods: makeUIViewController, updateUIViewController, makeCoordinator.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8 / 12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Search + weather filter — one ViewModel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4389120"/>
          </a:xfrm>
          <a:prstGeom prst="rect">
            <a:avLst/>
          </a:prstGeom>
          <a:noFill/>
        </p:spPr>
        <p:txBody>
          <a:bodyPr wrap="square" lIns="80000" rIns="60000" tIns="4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Reuse the Week 6 SearchBar (custom TextField, iOS 13+)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Horizontal chip row: 'All' + 4 weather chips under the search bar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Tap the same chip twice → toggles back to 'All' (nil)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Single filter(_:) on the VM — composes text + weather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localizedCaseInsensitiveContains works in Khmer and Latin scripts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Swift-side filter on fetched results — instant, no SQLite per keystroke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91640"/>
            <a:ext cx="49377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03720" y="1965960"/>
            <a:ext cx="4480560" cy="411480"/>
          </a:xfrm>
          <a:prstGeom prst="roundRect">
            <a:avLst>
              <a:gd name="adj" fmla="val 50000"/>
            </a:avLst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029968"/>
            <a:ext cx="429768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🔍  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560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5000" bIns="15000"/>
          <a:lstStyle/>
          <a:p>
            <a:pPr algn="ctr"/>
            <a:r>
              <a:rPr sz="1000" b="1">
                <a:solidFill>
                  <a:srgbClr val="1C1C1E"/>
                </a:solidFill>
                <a:latin typeface="SF Pro Text"/>
              </a:rPr>
              <a:t>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560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5000" bIns="15000"/>
          <a:lstStyle/>
          <a:p>
            <a:pPr algn="ctr"/>
            <a:r>
              <a:rPr sz="1000" b="1">
                <a:solidFill>
                  <a:srgbClr val="FFFFFF"/>
                </a:solidFill>
                <a:latin typeface="SF Pro Text"/>
              </a:rPr>
              <a:t>Sunny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560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5000" bIns="15000"/>
          <a:lstStyle/>
          <a:p>
            <a:pPr algn="ctr"/>
            <a:r>
              <a:rPr sz="1000" b="1">
                <a:solidFill>
                  <a:srgbClr val="1C1C1E"/>
                </a:solidFill>
                <a:latin typeface="SF Pro Text"/>
              </a:rPr>
              <a:t>Rainy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2560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5000" bIns="15000"/>
          <a:lstStyle/>
          <a:p>
            <a:pPr algn="ctr"/>
            <a:r>
              <a:rPr sz="1000" b="1">
                <a:solidFill>
                  <a:srgbClr val="1C1C1E"/>
                </a:solidFill>
                <a:latin typeface="SF Pro Text"/>
              </a:rPr>
              <a:t>Cloudy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61320" y="2560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5000" bIns="15000"/>
          <a:lstStyle/>
          <a:p>
            <a:pPr algn="ctr"/>
            <a:r>
              <a:rPr sz="1000" b="1">
                <a:solidFill>
                  <a:srgbClr val="1C1C1E"/>
                </a:solidFill>
                <a:latin typeface="SF Pro Text"/>
              </a:rPr>
              <a:t>Windy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246120"/>
            <a:ext cx="36576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Display"/>
              </a:rPr>
              <a:t>Morning fog over the rice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291839"/>
            <a:ext cx="274320" cy="27432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6576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Display"/>
              </a:rPr>
              <a:t>Rice harvest — day 2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0" y="3794759"/>
            <a:ext cx="274320" cy="27432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251959"/>
            <a:ext cx="36576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Display"/>
              </a:rPr>
              <a:t>Rice prices spiked at market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0" y="4297679"/>
            <a:ext cx="274320" cy="27432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4846319"/>
            <a:ext cx="420624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3 results · query: 'rice' · weather: Sunny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9 / 12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From '+' tap to re-rendered 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05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1907987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500" b="1">
                <a:solidFill>
                  <a:srgbClr val="A052D4"/>
                </a:solidFill>
                <a:latin typeface="SF Pro Display"/>
              </a:rPr>
              <a:t>User taps 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725107" cy="11887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Toolbar + button on JournalTabView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12075" y="3456432"/>
            <a:ext cx="283464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827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3827" y="2788920"/>
            <a:ext cx="1907987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500" b="1">
                <a:solidFill>
                  <a:srgbClr val="0A84FF"/>
                </a:solidFill>
                <a:latin typeface="SF Pro Display"/>
              </a:rPr>
              <a:t>AddJournalEntryView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5267" y="3337560"/>
            <a:ext cx="1725107" cy="11887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Form — title, weather, content, photo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0102" y="3456432"/>
            <a:ext cx="283464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1854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1854" y="2788920"/>
            <a:ext cx="1907987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500" b="1">
                <a:solidFill>
                  <a:srgbClr val="0A84FF"/>
                </a:solidFill>
                <a:latin typeface="SF Pro Display"/>
              </a:rPr>
              <a:t>JournalEntry(context:)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3294" y="3337560"/>
            <a:ext cx="1725107" cy="11887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New NSManagedObject attached to context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68129" y="3456432"/>
            <a:ext cx="283464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9881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9881" y="2788920"/>
            <a:ext cx="1907987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500" b="1">
                <a:solidFill>
                  <a:srgbClr val="34C759"/>
                </a:solidFill>
                <a:latin typeface="SF Pro Display"/>
              </a:rPr>
              <a:t>context.save()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321" y="3337560"/>
            <a:ext cx="1725107" cy="11887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Commits to SQLite store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96156" y="3456432"/>
            <a:ext cx="283464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97908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97908" y="2788920"/>
            <a:ext cx="1907987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500" b="1">
                <a:solidFill>
                  <a:srgbClr val="34C759"/>
                </a:solidFill>
                <a:latin typeface="SF Pro Display"/>
              </a:rPr>
              <a:t>@FetchRequest re-renders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9348" y="3337560"/>
            <a:ext cx="1725107" cy="11887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Timeline auto-updates — no manual 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ctr"/>
            <a:r>
              <a:rPr sz="1300" b="1">
                <a:solidFill>
                  <a:srgbClr val="8E8E93"/>
                </a:solidFill>
                <a:latin typeface="SF Pro Text"/>
              </a:rPr>
              <a:t>One save() at step 4 → every view bound to @FetchRequest&lt;JournalEntry&gt; re-renders automatically.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10 / 12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FF9500"/>
                </a:solidFill>
                <a:latin typeface="SF Pro Text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Offline-first — reframed for a journal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3035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D03030"/>
                </a:solidFill>
                <a:latin typeface="SF Pro Text"/>
              </a:rPr>
              <a:t>❌ NETWORK-FIRST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34C759"/>
                </a:solidFill>
                <a:latin typeface="SF Pro Text"/>
              </a:rPr>
              <a:t>✅ OFFLINE-FIRST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37160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Text"/>
              </a:rPr>
              <a:t>First launch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05740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176272"/>
            <a:ext cx="384048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Blocked until cloud sign-in completes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5740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E8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76272"/>
            <a:ext cx="484632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Opens empty, ready for the first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137160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Text"/>
              </a:rPr>
              <a:t>Weather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306324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3182112"/>
            <a:ext cx="384048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Fetches live forecast from an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6324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E8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182112"/>
            <a:ext cx="484632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User picks — it's the felt weather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137160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Text"/>
              </a:rPr>
              <a:t>Photos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406908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4187952"/>
            <a:ext cx="384048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Upload to cloud, store URL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6908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E8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87952"/>
            <a:ext cx="484632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JPEG Data lives inside the Core Data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20640"/>
            <a:ext cx="137160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Text"/>
              </a:rPr>
              <a:t>Privacy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507492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5193792"/>
            <a:ext cx="384048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Every entry leaks to a 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07492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E8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193792"/>
            <a:ext cx="484632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Entries never touch the 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989320"/>
            <a:ext cx="10789920" cy="50292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035040"/>
            <a:ext cx="10424160" cy="41148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1">
                <a:solidFill>
                  <a:srgbClr val="FF9500"/>
                </a:solidFill>
                <a:latin typeface="SF Pro Text"/>
              </a:rPr>
              <a:t>Rule of thumb: a journal's weather is the *felt* weather, not the meteorological truth — user-picked beats API-fetched.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11 / 12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4864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20000" bIns="20000"/>
          <a:lstStyle/>
          <a:p>
            <a:pPr algn="ctr"/>
            <a:r>
              <a:rPr sz="1100" b="1">
                <a:solidFill>
                  <a:srgbClr val="A052D4"/>
                </a:solidFill>
                <a:latin typeface="SF Pro Text"/>
              </a:rPr>
              <a:t>WEEK 7 · WRAP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SF Pro Display"/>
              </a:rPr>
              <a:t>You built a digital notebook.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F Pro Text"/>
              </a:rPr>
              <a:t>JournalEntry · Timeline list · Weather picker · UIKit bridge · Custom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512064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34C759"/>
                </a:solidFill>
                <a:latin typeface="SF Pro Text"/>
              </a:rPr>
              <a:t>WHAT YOU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JournalEntry Core Data entity with 7 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87368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JournalViewModel — search + weather filter + day grouping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71416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JournalTabView — timeline list grouped by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55464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Weather enum + WeatherPickerView (4 options)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9512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PhotoPicker — UIViewControllerRepresentable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AddJournalEntryView &amp; EditJournalEntryView sheets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512064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QUESTIONS TO DRIVE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Why store Weather as a String instead of the raw enum?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87368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What breaks if we forget Codegen = Manual/None?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71416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Why JPEG-encode photos before saving?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55464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Why filter in Swift instead of via NSPredicate?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39512"/>
            <a:ext cx="521208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What single change would make this network-first?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5120640" cy="36576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NEXT WEEK →  Water Tracker (Week 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7 · Daily Journal · SmartFarmerAssistant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rIns="60000" tIns="4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12 / 12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