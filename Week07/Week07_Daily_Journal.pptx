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to Week 7. This week we ship the Daily Journal — an Apple Notes-style digital notebook that lives inside the Smart Farmer Assistant. By the end, students will have a JournalEntry Core Data entity, a reverse-chronological timeline, a weather-picker UI, a UIKit-bridged photo picker, and a custom search + filter bar. Everything works offline — no weather API, no cloud sync. UI suggestion: open with the finished Journal tab on screen — show the day-grouped timeline, tap a row to see the weather badge and photo gallery — so learners see the target before we write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five lessons at a high level. The payoff is Lesson 7.4 (the UIKit bridge) — it's a pattern students will reuse every time SwiftUI can't do something natively on iOS 13. Stress that we pick iOS 13+ APIs all the way: no .searchable, no PhotosPicker, no NavigationStack. UI suggestion: objectives on the left, numbered purple lesson chips on the right — build in the chips one-by-one with a fade.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layering students saw in Finance, CalendarReminders, and PestDisease. The new box this week is 'Service' — JournalPhotoStore — because UIImage and Data are not the same thing, and we want that translation isolated from views. Notice the Resource layer is intentionally empty: journal entries come from the user, not from a bundled file. UI suggestion: five stacked cards with a colored accent bar on the left. Animation: fade in top-to-bottom, 120ms delay between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folder tree top to bottom. Emphasise that every week we open a new folder alongside Finance/, CalendarReminders/, and PestDisease/ — not a new project. Shared Core Data model, shared CoreDataManager, shared MainTabView. Point out that the Resources folder is empty — this is the first module where we don't ship seed data. UI suggestion: bullets on the left describing WHY each folder exists, the actual tree rendered as a dark code block on the right. Animation: slide-from-right for the code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each attribute. The four core ones (date, content, weather, photos) are required by the spec; title is optional and falls back to the first line of content (same as Apple Notes); location is a bonus field we kept from an earlier draft. Show the Data Model Inspector live: point to Codegen → Manual/None, and to the Transformer → NSSecureUnarchiveFromData on the photos attribute. These two settings are the #1 cause of fetch-time crashes for learners. UI suggestion: attribute cards left, code right, orange warning card bottom-right with both configuration gotchas. Animation: slide-from-left for cards, slide-from-right for the code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#1 learner mistake is ascending: true — it puts the oldest entry on top. A journal must read newest-first. Walk the grouping step: Dictionary(grouping:) keyed by startOfDay buckets every entry into a date. Then sort the buckets descending. The view just renders List { ForEach(groups) { Section { ForEach(entries) } } }. UI suggestion: bullets left, iPhone-shape mock right with two day sections and four rows; color dots represent the weather tint. Animation: fade in bullets; slide-from-top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takeaways. First, the enum owns both the SF Symbol and the tint — so the picker and the timeline read from the same source of truth. Second, Core Data stores the rawValue String because @NSManaged can't persist a Swift enum. Third, the adapter — entry.weatherTag — is the only place the conversion happens, so you never hand-roll the literal 'sunny' anywhere else. Adding a fifth case (e.g. .stormy) is literally one line in the enum plus one line in each switch. UI suggestion: four colored weather chips across the top, enum code block left, amber why-card right. Animation: pop each weather chip in sequence; then fade in the code and the why-card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key lesson of Week 7 — the UIKit → SwiftUI bridge. Walk the six stages left to right. Emphasise two details: (1) the Coordinator class exists because SwiftUI structs are value types and can't conform to @objc delegate protocols; (2) we JPEG-encode at quality 0.8 before storing — a single camera photo at raw UIImage bytes is ~24MB; at JPEG 0.8 it's ~3MB, visually identical. Same bridge pattern reappears for the camera, the document picker, and share sheets. UI suggestion: 6 boxes left-to-right with arrows between them; amber why-card on top with the three lifecycle methods. Animation: zoom + fade for the flow; slide-from-top for each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ViewModel holds TWO pieces of state — searchText and weatherFilter — and a single filter(_:) combines them. Keep the combination logic in one function so you don't iterate the entries twice. Why nil-biased filtering? Because 'All' isn't a weather — it's the absence of a filter. Using Weather? instead of a five-case enum keeps both the UI and the tests simpler. UI suggestion: bullets left, iPhone mock right showing the search pill, a horizontal chip row with 'Sunny' selected, and three filtered result rows. Animation: fade in bullets; pop the chip row; fade in rows top-to-bottom.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left-to-right. The key insight is the jump from step 4 to step 5: a single context.save() triggers every @FetchRequest in the app. No manual refresh, no NotificationCenter post — Core Data does the work. This is the same pattern from Finance, CalendarReminders, and PestDisease, but the payload here is a full entry plus a photo blob. UI suggestion: five color-coded cards in a row with arrows between them; caption at the bottom summarises the auto-re-render behaviour. Animation: slide-from-left for each box with a 100ms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read every row — pick the Weather row. It's the most counter-intuitive: students assume a Journal 'should' pull live weather from an API. Explain why that's wrong — the user is remembering what THEY experienced, not what a satellite recorded. Live-demo airplane mode: the journal keeps working with zero latency. UI suggestion: four rows of red-vs-green cards; callout footer carries the rule of thumb. Animation: fade in rows top-to-bottom; pop the rule-of-thumb card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Recap what the class shipped. Use the questions on the right to drive the Q&amp;A — don't lecture, invite answers. The single most important takeaway: the UIKit bridge pattern from Lesson 7.4 is the same shape you'll use for the camera, the document picker, and every share sheet you ever build — SwiftUI + UIKit is a dance students will do for years. Tease Week 8 (Water Tracker) briefly — it's a stats/charting module that reuses the same Core Data plumbing. UI suggestion: purple hero band up top, two cards below — 'What you shipped' and 'Questions'. Animation: fade in the cards after the hero band; reveal the questions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548640"/>
            <a:ext cx="1463040" cy="1463040"/>
          </a:xfrm>
          <a:prstGeom prst="ellipse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47120" y="3108960"/>
            <a:ext cx="822960" cy="822960"/>
          </a:xfrm>
          <a:prstGeom prst="ellipse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4864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0000" tIns="20000" rIns="40000" bIns="20000" rtlCol="0" anchor="ctr"/>
          <a:lstStyle/>
          <a:p>
            <a:pPr algn="ctr"/>
            <a:r>
              <a:rPr sz="1100" b="1">
                <a:solidFill>
                  <a:srgbClr val="A052D4"/>
                </a:solidFill>
                <a:latin typeface="SF Pro Text"/>
              </a:rPr>
              <a:t>iOS · SwiftUI · Week 7</a:t>
            </a:r>
            <a:endParaRPr sz="11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13716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F Pro Display"/>
              </a:rPr>
              <a:t>Daily Journal</a:t>
            </a:r>
            <a:endParaRPr sz="52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0972800" cy="9144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F Pro Display"/>
              </a:rPr>
              <a:t>Your Digital Notebook</a:t>
            </a:r>
            <a:endParaRPr sz="44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SF Pro Text"/>
              </a:rPr>
              <a:t>SwiftUI  ·  Core Data  ·  Photos  ·  Weather</a:t>
            </a:r>
            <a:endParaRPr sz="2200" b="0">
              <a:solidFill>
                <a:srgbClr val="FFFFFF"/>
              </a:solidFill>
              <a:latin typeface="SF Pro Tex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09160"/>
            <a:ext cx="5486400" cy="41148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1">
                <a:solidFill>
                  <a:srgbClr val="8E8E93"/>
                </a:solidFill>
                <a:latin typeface="SF Pro Text"/>
              </a:rPr>
              <a:t>AUDIENCE</a:t>
            </a:r>
            <a:endParaRPr sz="1100" b="1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486400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2000" b="1">
                <a:solidFill>
                  <a:srgbClr val="1C1C1E"/>
                </a:solidFill>
                <a:latin typeface="SF Pro Display"/>
              </a:rPr>
              <a:t>Beginner iOS Developers</a:t>
            </a:r>
            <a:endParaRPr sz="2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8680" y="5440680"/>
            <a:ext cx="6400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8E8E93"/>
                </a:solidFill>
                <a:latin typeface="SF Pro Text"/>
              </a:rPr>
              <a:t>JournalEntry · Timeline list · Weather picker · UIKit bridge · Custom search</a:t>
            </a:r>
            <a:endParaRPr sz="13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32320" y="4709160"/>
            <a:ext cx="4389120" cy="41148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100" b="1">
                <a:solidFill>
                  <a:srgbClr val="8E8E93"/>
                </a:solidFill>
                <a:latin typeface="SF Pro Text"/>
              </a:rPr>
              <a:t>PROJECT 4 — SMART FARMER ASSISTANT</a:t>
            </a:r>
            <a:endParaRPr sz="1100" b="1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0" y="4983480"/>
            <a:ext cx="4389120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2000" b="1">
                <a:solidFill>
                  <a:srgbClr val="1C1C1E"/>
                </a:solidFill>
                <a:latin typeface="SF Pro Display"/>
              </a:rPr>
              <a:t>Journal Module</a:t>
            </a:r>
            <a:endParaRPr sz="2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04000" y="5440680"/>
            <a:ext cx="4917440" cy="47879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300" b="0">
                <a:solidFill>
                  <a:srgbClr val="8E8E93"/>
                </a:solidFill>
                <a:latin typeface="SF Pro Text"/>
              </a:rPr>
              <a:t>iOS 13+ — ObservableObject · NavigationView · UIImagePickerController</a:t>
            </a:r>
            <a:endParaRPr sz="13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1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A052D4"/>
                </a:solidFill>
                <a:latin typeface="SF Pro Text"/>
              </a:rPr>
              <a:t>AGENDA</a:t>
            </a:r>
            <a:endParaRPr sz="12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What you'll build this week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A052D4"/>
                </a:solidFill>
                <a:latin typeface="SF Pro Text"/>
              </a:rPr>
              <a:t>LEARNING OBJECTIVES</a:t>
            </a:r>
            <a:endParaRPr sz="12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5577840" cy="4114800"/>
          </a:xfrm>
          <a:prstGeom prst="rect">
            <a:avLst/>
          </a:prstGeom>
          <a:noFill/>
        </p:spPr>
        <p:txBody>
          <a:bodyPr wrap="square" lIns="80000" tIns="40000" rIns="6000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1C1C1E"/>
                </a:solidFill>
                <a:latin typeface="SF Pro Text"/>
              </a:rPr>
              <a:t>•  Model a JournalEntry entity in Core Data (date, content, weather, photos)</a:t>
            </a:r>
            <a:endParaRPr sz="17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700">
                <a:solidFill>
                  <a:srgbClr val="1C1C1E"/>
                </a:solidFill>
                <a:latin typeface="SF Pro Text"/>
              </a:rPr>
              <a:t>•  Build a reverse-chronological timeline UI grouped by day</a:t>
            </a:r>
            <a:endParaRPr sz="17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700">
                <a:solidFill>
                  <a:srgbClr val="1C1C1E"/>
                </a:solidFill>
                <a:latin typeface="SF Pro Text"/>
              </a:rPr>
              <a:t>•  Add a 4-option weather picker with SF Symbols</a:t>
            </a:r>
            <a:endParaRPr sz="17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700">
                <a:solidFill>
                  <a:srgbClr val="1C1C1E"/>
                </a:solidFill>
                <a:latin typeface="SF Pro Text"/>
              </a:rPr>
              <a:t>•  Bridge UIImagePickerController via UIViewControllerRepresentable</a:t>
            </a:r>
            <a:endParaRPr sz="17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700">
                <a:solidFill>
                  <a:srgbClr val="1C1C1E"/>
                </a:solidFill>
                <a:latin typeface="SF Pro Text"/>
              </a:rPr>
              <a:t>•  Combine a custom SearchBar with a weather filter chip row (no .searchable)</a:t>
            </a:r>
            <a:endParaRPr sz="170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29400" y="1874520"/>
            <a:ext cx="457200" cy="457200"/>
          </a:xfrm>
          <a:prstGeom prst="ellipse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F Pro Display"/>
              </a:rPr>
              <a:t>7.1</a:t>
            </a:r>
            <a:endParaRPr sz="13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69480" y="1920240"/>
            <a:ext cx="4114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1C1C1E"/>
                </a:solidFill>
                <a:latin typeface="SF Pro Display"/>
              </a:rPr>
              <a:t>JournalEntry Core Data Entity</a:t>
            </a:r>
            <a:endParaRPr sz="16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92240" y="2606039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2743199"/>
            <a:ext cx="457200" cy="457200"/>
          </a:xfrm>
          <a:prstGeom prst="ellipse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F Pro Display"/>
              </a:rPr>
              <a:t>7.2</a:t>
            </a:r>
            <a:endParaRPr sz="13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80" y="2788919"/>
            <a:ext cx="4114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1C1C1E"/>
                </a:solidFill>
                <a:latin typeface="SF Pro Display"/>
              </a:rPr>
              <a:t>Timeline list (newest first)</a:t>
            </a:r>
            <a:endParaRPr sz="16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92240" y="347472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29400" y="3611880"/>
            <a:ext cx="457200" cy="457200"/>
          </a:xfrm>
          <a:prstGeom prst="ellipse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F Pro Display"/>
              </a:rPr>
              <a:t>7.3</a:t>
            </a:r>
            <a:endParaRPr sz="13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269480" y="3657600"/>
            <a:ext cx="4114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1C1C1E"/>
                </a:solidFill>
                <a:latin typeface="SF Pro Display"/>
              </a:rPr>
              <a:t>Weather selection UI</a:t>
            </a:r>
            <a:endParaRPr sz="16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92240" y="43434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4480560"/>
            <a:ext cx="457200" cy="457200"/>
          </a:xfrm>
          <a:prstGeom prst="ellipse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F Pro Display"/>
              </a:rPr>
              <a:t>7.4</a:t>
            </a:r>
            <a:endParaRPr sz="13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69480" y="4526280"/>
            <a:ext cx="4114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1C1C1E"/>
                </a:solidFill>
                <a:latin typeface="SF Pro Display"/>
              </a:rPr>
              <a:t>Photo picker — UIKit bridge</a:t>
            </a:r>
            <a:endParaRPr sz="16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92240" y="5212079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29400" y="5349239"/>
            <a:ext cx="457200" cy="457200"/>
          </a:xfrm>
          <a:prstGeom prst="ellipse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F Pro Display"/>
              </a:rPr>
              <a:t>7.5</a:t>
            </a:r>
            <a:endParaRPr sz="13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69480" y="5394959"/>
            <a:ext cx="41148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1C1C1E"/>
                </a:solidFill>
                <a:latin typeface="SF Pro Display"/>
              </a:rPr>
              <a:t>Custom search + weather filter</a:t>
            </a:r>
            <a:endParaRPr sz="16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2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ARCHITECTURE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MVVM — clean SwiftUI layers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164592" cy="77724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47088"/>
            <a:ext cx="20116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0A84FF"/>
                </a:solidFill>
                <a:latin typeface="SF Pro Display"/>
              </a:rPr>
              <a:t>View</a:t>
            </a:r>
            <a:endParaRPr sz="1600" b="1">
              <a:solidFill>
                <a:srgbClr val="0A84FF"/>
              </a:solidFill>
              <a:latin typeface="SF Pro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108960" y="1920240"/>
            <a:ext cx="82296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JournalTabView · JournalRowView · JournalDetailView · Add/Edit sheets · PhotoPicker · WeatherPickerView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" y="265176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651760"/>
            <a:ext cx="164592" cy="77724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61488"/>
            <a:ext cx="20116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A052D4"/>
                </a:solidFill>
                <a:latin typeface="SF Pro Display"/>
              </a:rPr>
              <a:t>ViewModel</a:t>
            </a:r>
            <a:endParaRPr sz="1600" b="1">
              <a:solidFill>
                <a:srgbClr val="A052D4"/>
              </a:solidFill>
              <a:latin typeface="SF Pro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108960" y="2834640"/>
            <a:ext cx="82296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JournalViewModel — @Published searchText + weatherFilter + filter(_:)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85800" y="356616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66160"/>
            <a:ext cx="164592" cy="777240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75887"/>
            <a:ext cx="20116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FF9500"/>
                </a:solidFill>
                <a:latin typeface="SF Pro Display"/>
              </a:rPr>
              <a:t>Service</a:t>
            </a:r>
            <a:endParaRPr sz="1600" b="1">
              <a:solidFill>
                <a:srgbClr val="FF9500"/>
              </a:solidFill>
              <a:latin typeface="SF Pro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08960" y="3749039"/>
            <a:ext cx="82296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JournalPhotoStore — UIImage ↔ JPEG Data helpers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5800" y="448056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480560"/>
            <a:ext cx="164592" cy="777240"/>
          </a:xfrm>
          <a:prstGeom prst="rect">
            <a:avLst/>
          </a:prstGeom>
          <a:solidFill>
            <a:srgbClr val="55B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590288"/>
            <a:ext cx="20116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55B55C"/>
                </a:solidFill>
                <a:latin typeface="SF Pro Display"/>
              </a:rPr>
              <a:t>Model</a:t>
            </a:r>
            <a:endParaRPr sz="1600" b="1">
              <a:solidFill>
                <a:srgbClr val="55B55C"/>
              </a:solidFill>
              <a:latin typeface="SF Pro Display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08960" y="4663440"/>
            <a:ext cx="82296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JournalEntry (NSManagedObject) + Weather (enum)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85800" y="5394960"/>
            <a:ext cx="107899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394960"/>
            <a:ext cx="164592" cy="777240"/>
          </a:xfrm>
          <a:prstGeom prst="rect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504688"/>
            <a:ext cx="20116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600" b="1">
                <a:solidFill>
                  <a:srgbClr val="8E8E93"/>
                </a:solidFill>
                <a:latin typeface="SF Pro Display"/>
              </a:rPr>
              <a:t>Resource</a:t>
            </a:r>
            <a:endParaRPr sz="1600" b="1">
              <a:solidFill>
                <a:srgbClr val="8E8E93"/>
              </a:solidFill>
              <a:latin typeface="SF Pro Display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108960" y="5577840"/>
            <a:ext cx="822960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(empty — entries are user-authored, no seed JSON)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3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CODE LAYOUT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Journal module — folder by folder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029200" cy="4114800"/>
          </a:xfrm>
          <a:prstGeom prst="rect">
            <a:avLst/>
          </a:prstGeom>
          <a:noFill/>
        </p:spPr>
        <p:txBody>
          <a:bodyPr wrap="square" lIns="80000" tIns="40000" rIns="600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1C1C1E"/>
                </a:solidFill>
                <a:latin typeface="SF Pro Text"/>
              </a:rPr>
              <a:t>•  Mirrors Finance/, CalendarReminders/, PestDisease/ — same shape across modules</a:t>
            </a:r>
            <a:endParaRPr sz="16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C1C1E"/>
                </a:solidFill>
                <a:latin typeface="SF Pro Text"/>
              </a:rPr>
              <a:t>•  Models/ holds the NSManagedObject class + the Weather enum</a:t>
            </a:r>
            <a:endParaRPr sz="16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C1C1E"/>
                </a:solidFill>
                <a:latin typeface="SF Pro Text"/>
              </a:rPr>
              <a:t>•  Services/ isolates the UIImage ↔ Data conversion</a:t>
            </a:r>
            <a:endParaRPr sz="16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C1C1E"/>
                </a:solidFill>
                <a:latin typeface="SF Pro Text"/>
              </a:rPr>
              <a:t>•  ViewModels/ owns search + weather filter + day grouping</a:t>
            </a:r>
            <a:endParaRPr sz="16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C1C1E"/>
                </a:solidFill>
                <a:latin typeface="SF Pro Text"/>
              </a:rPr>
              <a:t>•  SearchBar and ExpandableSection are reused from PestDisease — no duplicates</a:t>
            </a:r>
            <a:endParaRPr sz="160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5669280" cy="4754880"/>
          </a:xfrm>
          <a:prstGeom prst="roundRect">
            <a:avLst>
              <a:gd name="adj" fmla="val 6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691640"/>
            <a:ext cx="5669280" cy="4754880"/>
          </a:xfrm>
          <a:prstGeom prst="rect">
            <a:avLst/>
          </a:prstGeom>
          <a:noFill/>
        </p:spPr>
        <p:txBody>
          <a:bodyPr wrap="square" lIns="140000" tIns="100000" rIns="80000">
            <a:spAutoFit/>
          </a:bodyPr>
          <a:lstStyle/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SmartFarmerAssistantFinish/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└── Journal/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├── Models/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JournalEntry+CoreDataClass.swift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JournalEntry+CoreDataProperties.swift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└── Weather.swift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├── ViewModels/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└── JournalViewModel.swift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├── Services/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└── JournalPhotoStore.swift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├── Views/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JournalTabView.swift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JournalRowView.swift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JournalDetailView.swift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AddJournalEntryView.swift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EditJournalEntryView.swift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WeatherPickerView.swift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├── PhotoPicker.swift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│   └── PhotoGalleryView.swift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└── Resources/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100">
                <a:solidFill>
                  <a:srgbClr val="F2F2F7"/>
                </a:solidFill>
                <a:latin typeface="Menlo" panose="020B0609030804020204"/>
              </a:rPr>
              <a:t>        └── (empty)</a:t>
            </a:r>
            <a:endParaRPr sz="1100">
              <a:solidFill>
                <a:srgbClr val="F2F2F7"/>
              </a:solidFill>
              <a:latin typeface="Menlo" panose="020B0609030804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4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LESSON 7.1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Core Data — JournalEntry Entity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4864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ATTRIBUTES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id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160" y="2121408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UUID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0" y="2121408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Stable identifier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85800" y="2624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88336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date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23160" y="2688336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Date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57600" y="2688336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Timeline sort key + day grouping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" y="3191256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55264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title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23160" y="3255264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String?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57600" y="3255264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Optional — first line of content otherwise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3758184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822192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content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23160" y="3822192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String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657600" y="3822192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Body text (edited in TextEditor)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85800" y="4325112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89120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weather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423160" y="4389120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String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657600" y="4389120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Raw value of the Weather enum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85800" y="4892040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956048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location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423160" y="4956048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String?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657600" y="4956048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Optional bonus field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85800" y="545896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522976"/>
            <a:ext cx="15544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Menlo" panose="020B0609030804020204"/>
              </a:rPr>
              <a:t>photos</a:t>
            </a:r>
            <a:endParaRPr sz="1200" b="1">
              <a:solidFill>
                <a:srgbClr val="0A84FF"/>
              </a:solidFill>
              <a:latin typeface="Menlo" panose="020B0609030804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423160" y="5522976"/>
            <a:ext cx="11887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Transformable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657600" y="5522976"/>
            <a:ext cx="242316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1C1C1E"/>
                </a:solidFill>
                <a:latin typeface="SF Pro Text"/>
              </a:rPr>
              <a:t>[Data] — JPEGs via NSSecureUnarchiveFromData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629400" y="1920240"/>
            <a:ext cx="4983480" cy="3200400"/>
          </a:xfrm>
          <a:prstGeom prst="roundRect">
            <a:avLst>
              <a:gd name="adj" fmla="val 6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1920240"/>
            <a:ext cx="4983480" cy="3200400"/>
          </a:xfrm>
          <a:prstGeom prst="rect">
            <a:avLst/>
          </a:prstGeom>
          <a:noFill/>
        </p:spPr>
        <p:txBody>
          <a:bodyPr wrap="square" lIns="140000" tIns="100000" rIns="80000">
            <a:spAutoFit/>
          </a:bodyPr>
          <a:lstStyle/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// Journal/Models/JournalEntry+CoreDataProperties.swift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extension JournalEntry {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id: UUID?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date: Date?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title: String?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content: String?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weather: String?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location: String?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@NSManaged public var photos: NSObject?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extension JournalEntry: Identifiable {}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629400" y="5257800"/>
            <a:ext cx="4983480" cy="118872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5349240"/>
            <a:ext cx="45720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FF9500"/>
                </a:solidFill>
                <a:latin typeface="SF Pro Display"/>
              </a:rPr>
              <a:t>⚠️  Codegen = Manual/None  ·  Transformer = NSSecureUnarchiveFromData</a:t>
            </a:r>
            <a:endParaRPr sz="1200" b="1">
              <a:solidFill>
                <a:srgbClr val="FF9500"/>
              </a:solidFill>
              <a:latin typeface="SF Pro Display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858000" y="5669280"/>
            <a:ext cx="4572000" cy="7772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1C1C1E"/>
                </a:solidFill>
                <a:latin typeface="SF Pro Text"/>
              </a:rPr>
              <a:t>Set both in the Data Model Inspector — otherwise Xcode auto-generates the class (duplicate-symbol error) or the photos attribute fails to decode at fetch time.</a:t>
            </a:r>
            <a:endParaRPr sz="11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5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A052D4"/>
                </a:solidFill>
                <a:latin typeface="SF Pro Text"/>
              </a:rPr>
              <a:t>LESSON 7.2</a:t>
            </a:r>
            <a:endParaRPr sz="12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Timeline UI — newest first, grouped by day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029200" cy="4389120"/>
          </a:xfrm>
          <a:prstGeom prst="rect">
            <a:avLst/>
          </a:prstGeom>
          <a:noFill/>
        </p:spPr>
        <p:txBody>
          <a:bodyPr wrap="square" lIns="80000" tIns="40000" rIns="600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@FetchRequest(sort: date, ascending: false)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Dictionary(grouping:by:) keyed by Calendar.startOfDay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Each day → its own List Section with a formatted header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Row: time · title · snippet · weather icon · photo count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PlainListStyle for Apple Notes feel (no inset gaps)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.onDelete deletes from viewContext; fetch re-runs automatically</a:t>
            </a:r>
            <a:endParaRPr sz="150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75120" y="1691640"/>
            <a:ext cx="49377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5720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8E8E93"/>
                </a:solidFill>
                <a:latin typeface="SF Pro Display"/>
              </a:rPr>
              <a:t>TUESDAY, APRIL 23</a:t>
            </a:r>
            <a:endParaRPr sz="1200" b="1">
              <a:solidFill>
                <a:srgbClr val="8E8E93"/>
              </a:solidFill>
              <a:latin typeface="SF Pro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949440" y="2331720"/>
            <a:ext cx="5486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08:14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43800" y="2331720"/>
            <a:ext cx="32918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Morning fog over the rice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927080" y="2377439"/>
            <a:ext cx="274320" cy="27432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2331720"/>
            <a:ext cx="36576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📷 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9440" y="2834639"/>
            <a:ext cx="5486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17:02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43800" y="2834639"/>
            <a:ext cx="32918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Harvest prep — met the team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0927080" y="2880359"/>
            <a:ext cx="274320" cy="274320"/>
          </a:xfrm>
          <a:prstGeom prst="ellipse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39"/>
            <a:ext cx="45720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8E8E93"/>
                </a:solidFill>
                <a:latin typeface="SF Pro Display"/>
              </a:rPr>
              <a:t>MONDAY, APRIL 22</a:t>
            </a:r>
            <a:endParaRPr sz="1200" b="1">
              <a:solidFill>
                <a:srgbClr val="8E8E93"/>
              </a:solidFill>
              <a:latin typeface="SF Pro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49440" y="3931920"/>
            <a:ext cx="5486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09:30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43800" y="3931920"/>
            <a:ext cx="32918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Heavy rain — stayed indoors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0927080" y="3977639"/>
            <a:ext cx="274320" cy="274320"/>
          </a:xfrm>
          <a:prstGeom prst="ellipse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0" y="3931920"/>
            <a:ext cx="36576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📷 1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49440" y="4434840"/>
            <a:ext cx="5486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100" b="0">
                <a:solidFill>
                  <a:srgbClr val="8E8E93"/>
                </a:solidFill>
                <a:latin typeface="Menlo" panose="020B0609030804020204"/>
              </a:rPr>
              <a:t>20:11</a:t>
            </a:r>
            <a:endParaRPr sz="11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543800" y="4434840"/>
            <a:ext cx="329184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Market prices update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10927080" y="4480559"/>
            <a:ext cx="274320" cy="274320"/>
          </a:xfrm>
          <a:prstGeom prst="ellipse">
            <a:avLst/>
          </a:prstGeom>
          <a:solidFill>
            <a:srgbClr val="30B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6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A052D4"/>
                </a:solidFill>
                <a:latin typeface="SF Pro Text"/>
              </a:rPr>
              <a:t>LESSON 7.3</a:t>
            </a:r>
            <a:endParaRPr sz="12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Weather system — enum + SF Symbol + tint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280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C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65960"/>
            <a:ext cx="548640" cy="54864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128016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1">
                <a:solidFill>
                  <a:srgbClr val="1C1C1E"/>
                </a:solidFill>
                <a:latin typeface="SF Pro Display"/>
              </a:rPr>
              <a:t>Sunny</a:t>
            </a:r>
            <a:endParaRPr sz="12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280160" cy="2286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900" b="0">
                <a:solidFill>
                  <a:srgbClr val="8E8E93"/>
                </a:solidFill>
                <a:latin typeface="Menlo" panose="020B0609030804020204"/>
              </a:rPr>
              <a:t>sun.max.fill</a:t>
            </a:r>
            <a:endParaRPr sz="9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03120" y="1783080"/>
            <a:ext cx="1280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965960"/>
            <a:ext cx="548640" cy="548640"/>
          </a:xfrm>
          <a:prstGeom prst="ellipse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2560320"/>
            <a:ext cx="128016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1">
                <a:solidFill>
                  <a:srgbClr val="1C1C1E"/>
                </a:solidFill>
                <a:latin typeface="SF Pro Display"/>
              </a:rPr>
              <a:t>Rainy</a:t>
            </a:r>
            <a:endParaRPr sz="12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03120" y="2743200"/>
            <a:ext cx="1280160" cy="2286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900" b="0">
                <a:solidFill>
                  <a:srgbClr val="8E8E93"/>
                </a:solidFill>
                <a:latin typeface="Menlo" panose="020B0609030804020204"/>
              </a:rPr>
              <a:t>cloud.rain.fill</a:t>
            </a:r>
            <a:endParaRPr sz="9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20439" y="1783080"/>
            <a:ext cx="1280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8E8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86200" y="1965960"/>
            <a:ext cx="548640" cy="548640"/>
          </a:xfrm>
          <a:prstGeom prst="ellipse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39" y="2560320"/>
            <a:ext cx="128016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1">
                <a:solidFill>
                  <a:srgbClr val="1C1C1E"/>
                </a:solidFill>
                <a:latin typeface="SF Pro Display"/>
              </a:rPr>
              <a:t>Cloudy</a:t>
            </a:r>
            <a:endParaRPr sz="12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20439" y="2743200"/>
            <a:ext cx="1280160" cy="2286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900" b="0">
                <a:solidFill>
                  <a:srgbClr val="8E8E93"/>
                </a:solidFill>
                <a:latin typeface="Menlo" panose="020B0609030804020204"/>
              </a:rPr>
              <a:t>cloud.fill</a:t>
            </a:r>
            <a:endParaRPr sz="9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937759" y="1783080"/>
            <a:ext cx="12801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30B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3520" y="1965960"/>
            <a:ext cx="548640" cy="548640"/>
          </a:xfrm>
          <a:prstGeom prst="ellipse">
            <a:avLst/>
          </a:prstGeom>
          <a:solidFill>
            <a:srgbClr val="30B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560320"/>
            <a:ext cx="128016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1">
                <a:solidFill>
                  <a:srgbClr val="1C1C1E"/>
                </a:solidFill>
                <a:latin typeface="SF Pro Display"/>
              </a:rPr>
              <a:t>Windy</a:t>
            </a:r>
            <a:endParaRPr sz="12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937759" y="2743200"/>
            <a:ext cx="1280160" cy="2286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900" b="0">
                <a:solidFill>
                  <a:srgbClr val="8E8E93"/>
                </a:solidFill>
                <a:latin typeface="Menlo" panose="020B0609030804020204"/>
              </a:rPr>
              <a:t>wind</a:t>
            </a:r>
            <a:endParaRPr sz="900" b="0">
              <a:solidFill>
                <a:srgbClr val="8E8E93"/>
              </a:solidFill>
              <a:latin typeface="Menlo" panose="020B0609030804020204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85800" y="3291840"/>
            <a:ext cx="6858000" cy="3017520"/>
          </a:xfrm>
          <a:prstGeom prst="roundRect">
            <a:avLst>
              <a:gd name="adj" fmla="val 6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291840"/>
            <a:ext cx="6858000" cy="3017520"/>
          </a:xfrm>
          <a:prstGeom prst="rect">
            <a:avLst/>
          </a:prstGeom>
          <a:noFill/>
        </p:spPr>
        <p:txBody>
          <a:bodyPr wrap="square" lIns="140000" tIns="100000" rIns="80000">
            <a:spAutoFit/>
          </a:bodyPr>
          <a:lstStyle/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enum Weather: String, CaseIterable, Identifiable {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case sunny, rainy, cloudy, windy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var id: String { rawValue 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var symbolName: String {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switch self {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case .sunny:  return "sun.max.fill"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case .rainy:  return "cloud.rain.fill"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case .cloudy: return "cloud.fill"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case .windy:  return "wind"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    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    var tint: Color { /* yellow / blue / gray / teal */ 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  <a:p>
            <a:pPr algn="l"/>
            <a:r>
              <a:rPr sz="1200">
                <a:solidFill>
                  <a:srgbClr val="F2F2F7"/>
                </a:solidFill>
                <a:latin typeface="Menlo" panose="020B0609030804020204"/>
              </a:rPr>
              <a:t>}</a:t>
            </a:r>
            <a:endParaRPr sz="1200">
              <a:solidFill>
                <a:srgbClr val="F2F2F7"/>
              </a:solidFill>
              <a:latin typeface="Menlo" panose="020B0609030804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772400" y="3291840"/>
            <a:ext cx="3840480" cy="301752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383280"/>
            <a:ext cx="36576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FF9500"/>
                </a:solidFill>
                <a:latin typeface="SF Pro Text"/>
              </a:rPr>
              <a:t>WHY rawValue IN CORE DATA</a:t>
            </a:r>
            <a:endParaRPr sz="1200" b="1">
              <a:solidFill>
                <a:srgbClr val="FF9500"/>
              </a:solidFill>
              <a:latin typeface="SF Pro Tex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55279" y="3749039"/>
            <a:ext cx="3657600" cy="2468880"/>
          </a:xfrm>
          <a:prstGeom prst="rect">
            <a:avLst/>
          </a:prstGeom>
          <a:noFill/>
        </p:spPr>
        <p:txBody>
          <a:bodyPr wrap="square" lIns="80000" tIns="40000" rIns="600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1C1C1E"/>
                </a:solidFill>
                <a:latin typeface="SF Pro Text"/>
              </a:rPr>
              <a:t>•  @NSManaged can't hold a Swift enum</a:t>
            </a:r>
            <a:endParaRPr sz="11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C1C1E"/>
                </a:solidFill>
                <a:latin typeface="SF Pro Text"/>
              </a:rPr>
              <a:t>•  String round-trips cleanly through SQLite</a:t>
            </a:r>
            <a:endParaRPr sz="11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C1C1E"/>
                </a:solidFill>
                <a:latin typeface="SF Pro Text"/>
              </a:rPr>
              <a:t>•  entry.weatherTag is the one place the string → enum mapping happens</a:t>
            </a:r>
            <a:endParaRPr sz="11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100">
                <a:solidFill>
                  <a:srgbClr val="1C1C1E"/>
                </a:solidFill>
                <a:latin typeface="SF Pro Text"/>
              </a:rPr>
              <a:t>•  New case? One file to edit — no literals scattered across the codebase</a:t>
            </a:r>
            <a:endParaRPr sz="110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7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FF9500"/>
                </a:solidFill>
                <a:latin typeface="SF Pro Text"/>
              </a:rPr>
              <a:t>LESSON 7.4</a:t>
            </a:r>
            <a:endParaRPr sz="1200" b="1">
              <a:solidFill>
                <a:srgbClr val="FF9500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Photo picker — UIKit bridge flow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052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A052D4"/>
                </a:solidFill>
                <a:latin typeface="SF Pro Display"/>
              </a:rPr>
              <a:t>Add photo button</a:t>
            </a:r>
            <a:endParaRPr sz="1300" b="1">
              <a:solidFill>
                <a:srgbClr val="A052D4"/>
              </a:solidFill>
              <a:latin typeface="SF Pro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SwiftUI .sheet(isPresented:)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345893" y="3502152"/>
            <a:ext cx="164592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629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9629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FF9500"/>
                </a:solidFill>
                <a:latin typeface="SF Pro Display"/>
              </a:rPr>
              <a:t>PhotoPicker (sheet)</a:t>
            </a:r>
            <a:endParaRPr sz="1300" b="1">
              <a:solidFill>
                <a:srgbClr val="FF9500"/>
              </a:solidFill>
              <a:latin typeface="SF Pro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92781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UIViewControllerRepresentable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4179722" y="3502152"/>
            <a:ext cx="164592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3458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3458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FF9500"/>
                </a:solidFill>
                <a:latin typeface="SF Pro Display"/>
              </a:rPr>
              <a:t>UIImagePickerController</a:t>
            </a:r>
            <a:endParaRPr sz="1300" b="1">
              <a:solidFill>
                <a:srgbClr val="FF9500"/>
              </a:solidFill>
              <a:latin typeface="SF Pro Display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26610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makeUIViewController(context:)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6013551" y="3502152"/>
            <a:ext cx="164592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7287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7287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0A84FF"/>
                </a:solidFill>
                <a:latin typeface="SF Pro Display"/>
              </a:rPr>
              <a:t>didFinishPicking</a:t>
            </a:r>
            <a:endParaRPr sz="1300" b="1">
              <a:solidFill>
                <a:srgbClr val="0A84FF"/>
              </a:solidFill>
              <a:latin typeface="SF Pro Display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60439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Coordinator delegate method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7847380" y="3502152"/>
            <a:ext cx="164592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21116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1116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0A84FF"/>
                </a:solidFill>
                <a:latin typeface="SF Pro Display"/>
              </a:rPr>
              <a:t>UIImage → JPEG Data</a:t>
            </a:r>
            <a:endParaRPr sz="1300" b="1">
              <a:solidFill>
                <a:srgbClr val="0A84FF"/>
              </a:solidFill>
              <a:latin typeface="SF Pro Display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94268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jpegData(compressionQuality: 0.8)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5" name="Right Arrow 24"/>
          <p:cNvSpPr/>
          <p:nvPr/>
        </p:nvSpPr>
        <p:spPr>
          <a:xfrm>
            <a:off x="9681210" y="3502152"/>
            <a:ext cx="164592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54946" y="2651760"/>
            <a:ext cx="1650949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54946" y="2880360"/>
            <a:ext cx="1650949" cy="5486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34C759"/>
                </a:solidFill>
                <a:latin typeface="SF Pro Display"/>
              </a:rPr>
              <a:t>entry.photos append</a:t>
            </a:r>
            <a:endParaRPr sz="1300" b="1">
              <a:solidFill>
                <a:srgbClr val="34C759"/>
              </a:solidFill>
              <a:latin typeface="SF Pro Display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928098" y="3474720"/>
            <a:ext cx="1504645" cy="10058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000" b="0">
                <a:solidFill>
                  <a:srgbClr val="1C1C1E"/>
                </a:solidFill>
                <a:latin typeface="SF Pro Text"/>
              </a:rPr>
              <a:t>[Data] as NSArray + save()</a:t>
            </a:r>
            <a:endParaRPr sz="10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5800" y="5120640"/>
            <a:ext cx="1078992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8E8E93"/>
                </a:solidFill>
                <a:latin typeface="SF Pro Text"/>
              </a:rPr>
              <a:t>Same bridge pattern works for any UIKit controller — camera, document picker, share sheet.</a:t>
            </a:r>
            <a:endParaRPr sz="1300" b="1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85800" y="182880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1920240"/>
            <a:ext cx="1042416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FF9500"/>
                </a:solidFill>
                <a:latin typeface="SF Pro Text"/>
              </a:rPr>
              <a:t>PhotosPicker is iOS 16+ — on iOS 13 we wrap UIImagePickerController. Three methods: makeUIViewController, updateUIViewController, makeCoordinator.</a:t>
            </a:r>
            <a:endParaRPr sz="1200" b="1">
              <a:solidFill>
                <a:srgbClr val="FF9500"/>
              </a:solidFill>
              <a:latin typeface="SF Pro Text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8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LESSON 7.5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Search + weather filter — one ViewModel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029200" cy="4389120"/>
          </a:xfrm>
          <a:prstGeom prst="rect">
            <a:avLst/>
          </a:prstGeom>
          <a:noFill/>
        </p:spPr>
        <p:txBody>
          <a:bodyPr wrap="square" lIns="80000" tIns="40000" rIns="600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Reuse the Week 6 SearchBar (custom TextField, iOS 13+)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Horizontal chip row: 'All' + 4 weather chips under the search bar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Tap the same chip twice → toggles back to 'All' (nil)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Single filter(_:) on the VM — composes text + weather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localizedCaseInsensitiveContains works in Khmer and Latin scripts</a:t>
            </a:r>
            <a:endParaRPr sz="1500">
              <a:solidFill>
                <a:srgbClr val="1C1C1E"/>
              </a:solidFill>
              <a:latin typeface="SF Pro Text"/>
            </a:endParaRP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1C1C1E"/>
                </a:solidFill>
                <a:latin typeface="SF Pro Text"/>
              </a:rPr>
              <a:t>•  Swift-side filter on fetched results — instant, no SQLite per keystroke</a:t>
            </a:r>
            <a:endParaRPr sz="150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75120" y="1691640"/>
            <a:ext cx="49377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03720" y="1965960"/>
            <a:ext cx="4480560" cy="411480"/>
          </a:xfrm>
          <a:prstGeom prst="roundRect">
            <a:avLst>
              <a:gd name="adj" fmla="val 50000"/>
            </a:avLst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029968"/>
            <a:ext cx="429768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🔍  rice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903720" y="2560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0000" tIns="15000" rIns="30000" bIns="15000" rtlCol="0" anchor="ctr"/>
          <a:lstStyle/>
          <a:p>
            <a:pPr algn="ctr"/>
            <a:r>
              <a:rPr sz="1000" b="1">
                <a:solidFill>
                  <a:srgbClr val="1C1C1E"/>
                </a:solidFill>
                <a:latin typeface="SF Pro Text"/>
              </a:rPr>
              <a:t>All</a:t>
            </a:r>
            <a:endParaRPr sz="10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818120" y="2560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0000" tIns="15000" rIns="30000" bIns="15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F Pro Text"/>
              </a:rPr>
              <a:t>Sunny</a:t>
            </a:r>
            <a:endParaRPr sz="1000" b="1">
              <a:solidFill>
                <a:srgbClr val="FFFFFF"/>
              </a:solidFill>
              <a:latin typeface="SF Pro Tex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732520" y="2560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0000" tIns="15000" rIns="30000" bIns="15000" rtlCol="0" anchor="ctr"/>
          <a:lstStyle/>
          <a:p>
            <a:pPr algn="ctr"/>
            <a:r>
              <a:rPr sz="1000" b="1">
                <a:solidFill>
                  <a:srgbClr val="1C1C1E"/>
                </a:solidFill>
                <a:latin typeface="SF Pro Text"/>
              </a:rPr>
              <a:t>Rainy</a:t>
            </a:r>
            <a:endParaRPr sz="10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646920" y="2560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0000" tIns="15000" rIns="30000" bIns="15000" rtlCol="0" anchor="ctr"/>
          <a:lstStyle/>
          <a:p>
            <a:pPr algn="ctr"/>
            <a:r>
              <a:rPr sz="1000" b="1">
                <a:solidFill>
                  <a:srgbClr val="1C1C1E"/>
                </a:solidFill>
                <a:latin typeface="SF Pro Text"/>
              </a:rPr>
              <a:t>Cloudy</a:t>
            </a:r>
            <a:endParaRPr sz="10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561320" y="2560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0000" tIns="15000" rIns="30000" bIns="15000" rtlCol="0" anchor="ctr"/>
          <a:lstStyle/>
          <a:p>
            <a:pPr algn="ctr"/>
            <a:r>
              <a:rPr sz="1000" b="1">
                <a:solidFill>
                  <a:srgbClr val="1C1C1E"/>
                </a:solidFill>
                <a:latin typeface="SF Pro Text"/>
              </a:rPr>
              <a:t>Windy</a:t>
            </a:r>
            <a:endParaRPr sz="10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40880" y="3246120"/>
            <a:ext cx="36576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Morning fog over the rice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0972800" y="3291839"/>
            <a:ext cx="274320" cy="27432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6576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Rice harvest — day 2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10972800" y="3794759"/>
            <a:ext cx="274320" cy="27432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251959"/>
            <a:ext cx="36576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Display"/>
              </a:rPr>
              <a:t>Rice prices spiked at market</a:t>
            </a:r>
            <a:endParaRPr sz="13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10972800" y="4297679"/>
            <a:ext cx="274320" cy="27432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846319"/>
            <a:ext cx="420624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3 results · query: 'rice' · weather: Sunny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9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DATA FLOW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From '+' tap to re-rendered timeline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560320"/>
            <a:ext cx="190798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052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88920"/>
            <a:ext cx="1907987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500" b="1">
                <a:solidFill>
                  <a:srgbClr val="A052D4"/>
                </a:solidFill>
                <a:latin typeface="SF Pro Display"/>
              </a:rPr>
              <a:t>User taps +</a:t>
            </a:r>
            <a:endParaRPr sz="1500" b="1">
              <a:solidFill>
                <a:srgbClr val="A052D4"/>
              </a:solidFill>
              <a:latin typeface="SF Pro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1725107" cy="11887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0">
                <a:solidFill>
                  <a:srgbClr val="1C1C1E"/>
                </a:solidFill>
                <a:latin typeface="SF Pro Text"/>
              </a:rPr>
              <a:t>Toolbar + button on JournalTabView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2612075" y="3456432"/>
            <a:ext cx="283464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13827" y="2560320"/>
            <a:ext cx="190798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3827" y="2788920"/>
            <a:ext cx="1907987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500" b="1">
                <a:solidFill>
                  <a:srgbClr val="0A84FF"/>
                </a:solidFill>
                <a:latin typeface="SF Pro Display"/>
              </a:rPr>
              <a:t>AddJournalEntryView</a:t>
            </a:r>
            <a:endParaRPr sz="1500" b="1">
              <a:solidFill>
                <a:srgbClr val="0A84FF"/>
              </a:solidFill>
              <a:latin typeface="SF Pro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05267" y="3337560"/>
            <a:ext cx="1725107" cy="11887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0">
                <a:solidFill>
                  <a:srgbClr val="1C1C1E"/>
                </a:solidFill>
                <a:latin typeface="SF Pro Text"/>
              </a:rPr>
              <a:t>Form — title, weather, content, photo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4840102" y="3456432"/>
            <a:ext cx="283464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41854" y="2560320"/>
            <a:ext cx="190798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A8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1854" y="2788920"/>
            <a:ext cx="1907987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500" b="1">
                <a:solidFill>
                  <a:srgbClr val="0A84FF"/>
                </a:solidFill>
                <a:latin typeface="SF Pro Display"/>
              </a:rPr>
              <a:t>JournalEntry(context:)</a:t>
            </a:r>
            <a:endParaRPr sz="1500" b="1">
              <a:solidFill>
                <a:srgbClr val="0A84FF"/>
              </a:solidFill>
              <a:latin typeface="SF Pro Display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33294" y="3337560"/>
            <a:ext cx="1725107" cy="11887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0">
                <a:solidFill>
                  <a:srgbClr val="1C1C1E"/>
                </a:solidFill>
                <a:latin typeface="SF Pro Text"/>
              </a:rPr>
              <a:t>New NSManagedObject attached to context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7068129" y="3456432"/>
            <a:ext cx="283464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9881" y="2560320"/>
            <a:ext cx="190798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881" y="2788920"/>
            <a:ext cx="1907987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500" b="1">
                <a:solidFill>
                  <a:srgbClr val="34C759"/>
                </a:solidFill>
                <a:latin typeface="SF Pro Display"/>
              </a:rPr>
              <a:t>context.save()</a:t>
            </a:r>
            <a:endParaRPr sz="1500" b="1">
              <a:solidFill>
                <a:srgbClr val="34C759"/>
              </a:solidFill>
              <a:latin typeface="SF Pro Display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61321" y="3337560"/>
            <a:ext cx="1725107" cy="11887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0">
                <a:solidFill>
                  <a:srgbClr val="1C1C1E"/>
                </a:solidFill>
                <a:latin typeface="SF Pro Text"/>
              </a:rPr>
              <a:t>Commits to SQLite store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9296156" y="3456432"/>
            <a:ext cx="283464" cy="219456"/>
          </a:xfrm>
          <a:prstGeom prst="rightArrow">
            <a:avLst/>
          </a:prstGeom>
          <a:solidFill>
            <a:srgbClr val="8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97908" y="2560320"/>
            <a:ext cx="190798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97908" y="2788920"/>
            <a:ext cx="1907987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500" b="1">
                <a:solidFill>
                  <a:srgbClr val="34C759"/>
                </a:solidFill>
                <a:latin typeface="SF Pro Display"/>
              </a:rPr>
              <a:t>@FetchRequest re-renders</a:t>
            </a:r>
            <a:endParaRPr sz="1500" b="1">
              <a:solidFill>
                <a:srgbClr val="34C759"/>
              </a:solidFill>
              <a:latin typeface="SF Pro Display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689348" y="3337560"/>
            <a:ext cx="1725107" cy="11887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200" b="0">
                <a:solidFill>
                  <a:srgbClr val="1C1C1E"/>
                </a:solidFill>
                <a:latin typeface="SF Pro Text"/>
              </a:rPr>
              <a:t>Timeline auto-updates — no manual refresh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ctr"/>
            <a:r>
              <a:rPr sz="1300" b="1">
                <a:solidFill>
                  <a:srgbClr val="8E8E93"/>
                </a:solidFill>
                <a:latin typeface="SF Pro Text"/>
              </a:rPr>
              <a:t>One save() at step 4 → every view bound to @FetchRequest&lt;JournalEntry&gt; re-renders automatically.</a:t>
            </a:r>
            <a:endParaRPr sz="1300" b="1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10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3152" cy="822960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32004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FF9500"/>
                </a:solidFill>
                <a:latin typeface="SF Pro Text"/>
              </a:rPr>
              <a:t>CONCEPT</a:t>
            </a:r>
            <a:endParaRPr sz="1200" b="1">
              <a:solidFill>
                <a:srgbClr val="FF9500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972800" cy="6858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000" b="1">
                <a:solidFill>
                  <a:srgbClr val="1C1C1E"/>
                </a:solidFill>
                <a:latin typeface="SF Pro Display"/>
              </a:rPr>
              <a:t>Offline-first — reframed for a journal</a:t>
            </a:r>
            <a:endParaRPr sz="3000" b="1">
              <a:solidFill>
                <a:srgbClr val="1C1C1E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D03030"/>
                </a:solidFill>
                <a:latin typeface="SF Pro Text"/>
              </a:rPr>
              <a:t>❌ NETWORK-FIRST</a:t>
            </a:r>
            <a:endParaRPr sz="1200" b="1">
              <a:solidFill>
                <a:srgbClr val="D03030"/>
              </a:solidFill>
              <a:latin typeface="SF Pro Tex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30352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34C759"/>
                </a:solidFill>
                <a:latin typeface="SF Pro Text"/>
              </a:rPr>
              <a:t>✅ OFFLINE-FIRST</a:t>
            </a:r>
            <a:endParaRPr sz="1200" b="1">
              <a:solidFill>
                <a:srgbClr val="34C759"/>
              </a:solidFill>
              <a:latin typeface="SF Pro Tex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13716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Text"/>
              </a:rPr>
              <a:t>First launch</a:t>
            </a:r>
            <a:endParaRPr sz="13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148840" y="205740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176272"/>
            <a:ext cx="384048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Blocked until cloud sign-in completes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057400"/>
            <a:ext cx="5120640" cy="822960"/>
          </a:xfrm>
          <a:prstGeom prst="roundRect">
            <a:avLst>
              <a:gd name="adj" fmla="val 6000"/>
            </a:avLst>
          </a:prstGeom>
          <a:solidFill>
            <a:srgbClr val="E8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76272"/>
            <a:ext cx="484632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Opens empty, ready for the first entry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13716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Text"/>
              </a:rPr>
              <a:t>Weather</a:t>
            </a:r>
            <a:endParaRPr sz="13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48840" y="306324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3182112"/>
            <a:ext cx="384048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Fetches live forecast from an API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0" y="3063240"/>
            <a:ext cx="5120640" cy="822960"/>
          </a:xfrm>
          <a:prstGeom prst="roundRect">
            <a:avLst>
              <a:gd name="adj" fmla="val 6000"/>
            </a:avLst>
          </a:prstGeom>
          <a:solidFill>
            <a:srgbClr val="E8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182112"/>
            <a:ext cx="484632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User picks — it's the felt weather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13716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Text"/>
              </a:rPr>
              <a:t>Photos</a:t>
            </a:r>
            <a:endParaRPr sz="13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148840" y="406908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4187952"/>
            <a:ext cx="384048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Upload to cloud, store URL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400800" y="4069080"/>
            <a:ext cx="5120640" cy="822960"/>
          </a:xfrm>
          <a:prstGeom prst="roundRect">
            <a:avLst>
              <a:gd name="adj" fmla="val 6000"/>
            </a:avLst>
          </a:prstGeom>
          <a:solidFill>
            <a:srgbClr val="E8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87952"/>
            <a:ext cx="484632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JPEG Data lives inside the Core Data store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5800" y="5120640"/>
            <a:ext cx="137160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1C1C1E"/>
                </a:solidFill>
                <a:latin typeface="SF Pro Text"/>
              </a:rPr>
              <a:t>Privacy</a:t>
            </a:r>
            <a:endParaRPr sz="1300" b="1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148840" y="5074920"/>
            <a:ext cx="4114800" cy="822960"/>
          </a:xfrm>
          <a:prstGeom prst="roundRect">
            <a:avLst>
              <a:gd name="adj" fmla="val 6000"/>
            </a:avLst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5193792"/>
            <a:ext cx="384048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Every entry leaks to a server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00800" y="5074920"/>
            <a:ext cx="5120640" cy="822960"/>
          </a:xfrm>
          <a:prstGeom prst="roundRect">
            <a:avLst>
              <a:gd name="adj" fmla="val 6000"/>
            </a:avLst>
          </a:prstGeom>
          <a:solidFill>
            <a:srgbClr val="E8F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93792"/>
            <a:ext cx="484632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0">
                <a:solidFill>
                  <a:srgbClr val="1C1C1E"/>
                </a:solidFill>
                <a:latin typeface="SF Pro Text"/>
              </a:rPr>
              <a:t>Entries never touch the network</a:t>
            </a:r>
            <a:endParaRPr sz="12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85800" y="5989320"/>
            <a:ext cx="10789920" cy="502920"/>
          </a:xfrm>
          <a:prstGeom prst="roundRect">
            <a:avLst>
              <a:gd name="adj" fmla="val 6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6035040"/>
            <a:ext cx="10424160" cy="41148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1">
                <a:solidFill>
                  <a:srgbClr val="FF9500"/>
                </a:solidFill>
                <a:latin typeface="SF Pro Text"/>
              </a:rPr>
              <a:t>Rule of thumb: a journal's weather is the *felt* weather, not the meteorological truth — user-picked beats API-fetched.</a:t>
            </a:r>
            <a:endParaRPr sz="1300" b="1">
              <a:solidFill>
                <a:srgbClr val="FF9500"/>
              </a:solidFill>
              <a:latin typeface="SF Pro Tex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11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A05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548640"/>
            <a:ext cx="16459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0000" tIns="20000" rIns="40000" bIns="20000" rtlCol="0" anchor="ctr"/>
          <a:lstStyle/>
          <a:p>
            <a:pPr algn="ctr"/>
            <a:r>
              <a:rPr sz="1100" b="1">
                <a:solidFill>
                  <a:srgbClr val="A052D4"/>
                </a:solidFill>
                <a:latin typeface="SF Pro Text"/>
              </a:rPr>
              <a:t>WEEK 7 · WRAP</a:t>
            </a:r>
            <a:endParaRPr sz="1100" b="1">
              <a:solidFill>
                <a:srgbClr val="A052D4"/>
              </a:solidFill>
              <a:latin typeface="SF Pro T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SF Pro Display"/>
              </a:rPr>
              <a:t>You built a digital notebook.</a:t>
            </a:r>
            <a:endParaRPr sz="3800" b="1">
              <a:solidFill>
                <a:srgbClr val="FFFFFF"/>
              </a:solidFill>
              <a:latin typeface="SF Pro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F Pro Text"/>
              </a:rPr>
              <a:t>JournalEntry · Timeline list · Weather picker · UIKit bridge · Custom search</a:t>
            </a:r>
            <a:endParaRPr sz="1800" b="0">
              <a:solidFill>
                <a:srgbClr val="FFFFFF"/>
              </a:solidFill>
              <a:latin typeface="SF Pro Tex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512064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34C759"/>
                </a:solidFill>
                <a:latin typeface="SF Pro Text"/>
              </a:rPr>
              <a:t>WHAT YOU SHIPPED</a:t>
            </a:r>
            <a:endParaRPr sz="1200" b="1">
              <a:solidFill>
                <a:srgbClr val="34C759"/>
              </a:solidFill>
              <a:latin typeface="SF Pro Tex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JournalEntry Core Data entity with 7 attributes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4087368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JournalViewModel — search + weather filter + day grouping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4471416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JournalTabView — timeline list grouped by day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7240" y="4855464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Weather enum + WeatherPickerView (4 options)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5239512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PhotoPicker — UIViewControllerRepresentable bridge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•  AddJournalEntryView &amp; EditJournalEntryView sheets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72200" y="320040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12064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QUESTIONS TO DRIVE DISCUSSION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3703320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?  Why store Weather as a String instead of the raw enum?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0" y="4087368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?  What breaks if we forget Codegen = Manual/None?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0" y="4471416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?  Why JPEG-encode photos before saving?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4855464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?  Why filter in Swift instead of via NSPredicate?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0" y="5239512"/>
            <a:ext cx="521208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300" b="0">
                <a:solidFill>
                  <a:srgbClr val="1C1C1E"/>
                </a:solidFill>
                <a:latin typeface="SF Pro Text"/>
              </a:rPr>
              <a:t>?  What single change would make this network-first?</a:t>
            </a:r>
            <a:endParaRPr sz="1300" b="0">
              <a:solidFill>
                <a:srgbClr val="1C1C1E"/>
              </a:solidFill>
              <a:latin typeface="SF Pro Tex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0" y="5760720"/>
            <a:ext cx="5120640" cy="36576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200" b="1">
                <a:solidFill>
                  <a:srgbClr val="0A84FF"/>
                </a:solidFill>
                <a:latin typeface="SF Pro Text"/>
              </a:rPr>
              <a:t>NEXT WEEK →  Water Tracker (Week 8)</a:t>
            </a:r>
            <a:endParaRPr sz="1200" b="1">
              <a:solidFill>
                <a:srgbClr val="0A84FF"/>
              </a:solidFill>
              <a:latin typeface="SF Pro Tex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l"/>
            <a:r>
              <a:rPr sz="1000" b="0">
                <a:solidFill>
                  <a:srgbClr val="8E8E93"/>
                </a:solidFill>
                <a:latin typeface="SF Pro Text"/>
              </a:rPr>
              <a:t>Week 7 · Daily Journal · SmartFarmerAssistant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601200" y="6492240"/>
            <a:ext cx="2103120" cy="274320"/>
          </a:xfrm>
          <a:prstGeom prst="rect">
            <a:avLst/>
          </a:prstGeom>
          <a:noFill/>
        </p:spPr>
        <p:txBody>
          <a:bodyPr wrap="square" lIns="60000" tIns="40000" rIns="60000" bIns="40000" anchor="t">
            <a:spAutoFit/>
          </a:bodyPr>
          <a:lstStyle/>
          <a:p>
            <a:pPr algn="r"/>
            <a:r>
              <a:rPr sz="1000" b="0">
                <a:solidFill>
                  <a:srgbClr val="8E8E93"/>
                </a:solidFill>
                <a:latin typeface="SF Pro Text"/>
              </a:rPr>
              <a:t>12 / 12</a:t>
            </a:r>
            <a:endParaRPr sz="1000" b="0">
              <a:solidFill>
                <a:srgbClr val="8E8E93"/>
              </a:solidFill>
              <a:latin typeface="SF Pro Text"/>
            </a:endParaRP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7907</Words>
  <Application>WPS Docs</Application>
  <PresentationFormat>On-screen Show (4:3)</PresentationFormat>
  <Paragraphs>454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8" baseType="lpstr">
      <vt:lpstr>Arial</vt:lpstr>
      <vt:lpstr>SimSun</vt:lpstr>
      <vt:lpstr>Wingdings</vt:lpstr>
      <vt:lpstr>Arial</vt:lpstr>
      <vt:lpstr>SF Pro Text</vt:lpstr>
      <vt:lpstr>SF Pro Display</vt:lpstr>
      <vt:lpstr>Menlo</vt:lpstr>
      <vt:lpstr>Calibri</vt:lpstr>
      <vt:lpstr>Helvetica Neue</vt:lpstr>
      <vt:lpstr>Microsoft YaHei</vt:lpstr>
      <vt:lpstr>汉仪旗黑</vt:lpstr>
      <vt:lpstr>Arial Unicode MS</vt:lpstr>
      <vt:lpstr>宋体-简</vt:lpstr>
      <vt:lpstr>Noto Sans KR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nem path</cp:lastModifiedBy>
  <cp:revision>3</cp:revision>
  <dcterms:created xsi:type="dcterms:W3CDTF">2026-05-05T07:46:30Z</dcterms:created>
  <dcterms:modified xsi:type="dcterms:W3CDTF">2026-05-05T07:46:30Z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4C2FD68AC2DB9A90D69FF969951A1258_42</vt:lpwstr>
  </property>
  <property fmtid="{D5CDD505-2E9C-101B-9397-08002B2CF9AE}" pid="3" name="KSOProductBuildVer">
    <vt:lpwstr>1033-12.1.25867.25867</vt:lpwstr>
  </property>
</Properties>
</file>